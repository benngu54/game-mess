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Tổng số điều tra, xử lý</c:v>
                </c:pt>
              </c:strCache>
            </c:strRef>
          </c:tx>
          <c:spPr>
            <a:solidFill>
              <a:srgbClr val="8993A4"/>
            </a:solidFill>
          </c:spPr>
          <c:cat>
            <c:strRef>
              <c:f>Sheet1!$A$2:$A$4</c:f>
              <c:strCache>
                <c:ptCount val="3"/>
                <c:pt idx="0">
                  <c:v>Vụ án</c:v>
                </c:pt>
                <c:pt idx="1">
                  <c:v>Đối tượng</c:v>
                </c:pt>
                <c:pt idx="2">
                  <c:v>Nạn nhân</c:v>
                </c:pt>
              </c:strCache>
            </c:strRef>
          </c:cat>
          <c:val>
            <c:numRef>
              <c:f>Sheet1!$B$2:$B$4</c:f>
              <c:numCache>
                <c:formatCode>General</c:formatCode>
                <c:ptCount val="3"/>
                <c:pt idx="0">
                  <c:v>163</c:v>
                </c:pt>
                <c:pt idx="1">
                  <c:v>455</c:v>
                </c:pt>
                <c:pt idx="2">
                  <c:v>500</c:v>
                </c:pt>
              </c:numCache>
            </c:numRef>
          </c:val>
        </c:ser>
        <c:ser>
          <c:idx val="1"/>
          <c:order val="1"/>
          <c:tx>
            <c:strRef>
              <c:f>Sheet1!$C$1</c:f>
              <c:strCache>
                <c:ptCount val="1"/>
                <c:pt idx="0">
                  <c:v>Trong đó: khởi tố mới</c:v>
                </c:pt>
              </c:strCache>
            </c:strRef>
          </c:tx>
          <c:spPr>
            <a:solidFill>
              <a:srgbClr val="C83B45"/>
            </a:solidFill>
          </c:spPr>
          <c:cat>
            <c:strRef>
              <c:f>Sheet1!$A$2:$A$4</c:f>
              <c:strCache>
                <c:ptCount val="3"/>
                <c:pt idx="0">
                  <c:v>Vụ án</c:v>
                </c:pt>
                <c:pt idx="1">
                  <c:v>Đối tượng</c:v>
                </c:pt>
                <c:pt idx="2">
                  <c:v>Nạn nhân</c:v>
                </c:pt>
              </c:strCache>
            </c:strRef>
          </c:cat>
          <c:val>
            <c:numRef>
              <c:f>Sheet1!$C$2:$C$4</c:f>
              <c:numCache>
                <c:formatCode>General</c:formatCode>
                <c:ptCount val="3"/>
                <c:pt idx="0">
                  <c:v>91</c:v>
                </c:pt>
                <c:pt idx="1">
                  <c:v>237</c:v>
                </c:pt>
                <c:pt idx="2">
                  <c:v>336</c:v>
                </c:pt>
              </c:numCache>
            </c:numRef>
          </c:val>
        </c:ser>
        <c:dLbls>
          <c:txPr>
            <a:bodyPr/>
            <a:lstStyle/>
            <a:p>
              <a:pPr>
                <a:defRPr sz="1200" b="1">
                  <a:solidFill>
                    <a:srgbClr val="F4F0E8"/>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3A4152"/>
            </a:solidFill>
          </a:ln>
        </c:spPr>
        <c:txPr>
          <a:bodyPr/>
          <a:lstStyle/>
          <a:p>
            <a:pPr>
              <a:defRPr sz="1200">
                <a:solidFill>
                  <a:srgbClr val="F4F0E8"/>
                </a:solidFill>
              </a:defRPr>
            </a:pPr>
          </a:p>
        </c:txPr>
        <c:crossAx val="-2113994440"/>
        <c:crosses val="autoZero"/>
        <c:auto val="1"/>
        <c:lblAlgn val="ctr"/>
        <c:lblOffset val="100"/>
        <c:noMultiLvlLbl val="0"/>
      </c:catAx>
      <c:valAx>
        <c:axId val="-2113994440"/>
        <c:scaling>
          <c:max val="580.0"/>
        </c:scaling>
        <c:delete/>
        <c:axPos val="l"/>
        <c:majorTickMark val="out"/>
        <c:minorTickMark val="none"/>
        <c:tickLblPos val="nextTo"/>
        <c:crossAx val="-2068027336"/>
        <c:crosses val="autoZero"/>
      </c:valAx>
    </c:plotArea>
    <c:legend>
      <c:legendPos val="b"/>
      <c:overlay val="0"/>
      <c:txPr>
        <a:bodyPr/>
        <a:lstStyle/>
        <a:p>
          <a:pPr>
            <a:defRPr>
              <a:solidFill>
                <a:srgbClr val="F4F0E8"/>
              </a:solidFill>
            </a:defRPr>
          </a:pPr>
        </a:p>
      </c:txPr>
    </c:legend>
    <c:dispBlanksAs val="gap"/>
  </c:chart>
  <c:txPr>
    <a:bodyPr/>
    <a:lstStyle/>
    <a:p>
      <a:pPr>
        <a:defRPr sz="1100">
          <a:solidFill>
            <a:srgbClr val="8993A4"/>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Xin chào thầy cô và các bạn. Bức ảnh phía sau là Hà Nội về đêm — rực rỡ, chuyển động không ngừng. Nhưng trong chính nhịp sống ấy vẫn có những cái bẫy ít ai nhìn thấy. Hôm nay nhóm mình trình bày về nạn buôn người ở Hà Nội: nó đang diễn ra thế nào, vì sao xảy ra, gây hậu quả gì, và quan trọng nhất — chúng ta có thể làm gì.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Hãy tưởng tượng tối nay bạn nhận được tin nhắn này. Lương 15 đến 20 triệu, việc nhẹ, bao ăn ở, không cần kinh nghiệm. Nghe rất hấp dẫn, đúng không? Mình muốn mỗi bạn tự trả lời thầm trong đầu: mình có nhắn lại không? Đây là tình huống do nhóm tự xây dựng, không phải vụ việc có thật — nhưng nó được mô phỏng theo đúng những dấu hiệu mà cơ quan chức năng đã cảnh báo. Cuối bài, chúng ta sẽ quay lại tin nhắn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Vậy buôn người là gì? Theo Nghị định thư Palermo của Liên Hợp Quốc và Luật Phòng, chống mua bán người năm 2024, có thể hiểu qua ba yếu tố. Thứ nhất là hành vi — tuyển mộ, vận chuyển, chứa chấp một người. Thứ hai là thủ đoạn — lừa dối, đe dọa, lợi dụng hoàn cảnh khó khăn. Thứ ba là mục đích — bóc lột. Riêng với trẻ em, chỉ cần hành vi và mục đích bóc lột là đủ. Ở Việt Nam, mua bán người dưới 16 tuổi còn bị xử lý theo một điều luật riêng với hình phạt nặng hơn. Và cần phân biệt: đi làm xa tự nguyện, có hợp đồng, tự giữ giấy tờ, được nghỉ việc khi muốn thì không phải là buôn người.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Vì sao Hà Nội cần đặc biệt quan tâm? Không phải vì Hà Nội 'nhiều nhất' — nhóm chưa tìm thấy dữ liệu nào chứng minh điều đó. Lý do là mức độ tiếp xúc với nguy cơ: đây là trung tâm việc làm, học tập, là đầu mối giao thông với nhà ga, bến xe, sân bay; người trẻ ở đây dùng mạng xã hội rất nhiều; và nhiều bạn mới lên thành phố, chưa có kinh nghiệm, chưa có người thân bên cạnh để hỏi ý kiến.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Về số liệu: nhóm đã tìm thống kê riêng của Hà Nội nhưng chưa thấy số liệu công khai đầy đủ của Công an thành phố cho 2024–2025, nên dùng số liệu toàn quốc của Bộ Công an làm bối cảnh. Năm 2024, cả nước điều tra, xử lý 163 vụ, 455 đối tượng và xác định 500 nạn nhân; trong đó khởi tố mới 91 vụ với 336 nạn nhân. Biểu đồ so sánh tổng số với số khởi tố mới. Quý I/2025, khoảng 65% nạn nhân là nữ và hơn 44% dưới 16 tuổi. Nhưng nam giới cũng không an toàn: riêng quý III/2024 đã có hơn 100 nạn nhân là nam. Lưu ý, các con số này đến từ những đợt báo cáo khác nhau nên không cộng dồn với nhau.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Kẻ xấu thường không bắt cóc ngay mà bắt đầu bằng một lời mời. Năm thủ đoạn trên slide đều đã được Bộ Công an và báo chí chính thống ghi nhận: việc nhẹ lương cao; tuyển dụng trực tuyến mập mờ; lợi dụng tình cảm, hẹn hò qua mạng; đưa đi làm xa hoặc xuất cảnh trái phép — đã có những vụ dụ người sang Campuchia làm cho các cơ sở lừa đảo trực tuyến; và cuối cùng là khống chế, giữ giấy tờ, đòi tiền chuộc.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Với học sinh chúng ta, cánh cửa nguy hiểm nhất là chiếc điện thoại. Đây là đoạn chat mô phỏng — nội dung hoàn toàn giả định. Bên phải là sáu dấu hiệu cảnh báo chung giúp các bạn tự nhận diện: lương cao bất thường, không hợp đồng, bắt giữ bí mật, đòi ảnh căn cước hay tiền cọc, tài khoản mới lập rồi kéo sang Telegram, và hứa bao vé xe đưa đi xa. Chỉ cần thấy một dấu hiệu, hãy dừng lại và hỏi người lớn.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Vì sao vẫn có người rơi vào bẫy? Không có một nguyên nhân duy nhất. Áp lực kinh tế, thiếu kỹ năng tự bảo vệ, công nghệ giúp kẻ xấu dễ tạo lòng tin, và việc phát hiện, báo tin còn khó khăn — các yếu tố này cộng hưởng với nhau. Kẻ phạm tội nhắm đúng vào những khoảng trống đó. Điều mình muốn nhấn mạnh: lỗi thuộc về kẻ phạm tội, không phải nạn nhân.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Hậu quả không chỉ là những gì nhìn thấy được. Nạn nhân có thể bị tổn hại sức khỏe, sang chấn tâm lý, mất tự do và tương lai. Gia đình sống trong lo âu, có khi gánh cả nợ nần, tiền chuộc. Xã hội mất an toàn và mất niềm tin. Vì vậy khi một người trở về, điều họ cần là được lắng nghe và hỗ trợ, không phải bị phán xét.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Quay lại một tình huống giả định cụ thể: một bạn 18 tuổi được người quen trên mạng mời làm ở tỉnh khác, lương 25 triệu, không hợp đồng, phải giữ bí mật và đi ngay tối nay. Dấu hiệu nguy hiểm đã quá rõ. Lựa chọn an toàn là từ chối hoặc hoãn lại, không gửi giấy tờ, không lên xe. Người có thể giúp là bố mẹ, thầy cô, công an phường, hoặc gọi 111. Và cách phòng tránh lâu dài là luôn kiểm tra công ty, đọc kỹ hợp đồng, báo gia đình nơi làm việc.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Giải pháp cần bốn lớp bảo vệ cùng hoạt động. Bản thân mỗi người kiểm chứng thông tin và bảo mật giấy tờ. Gia đình lắng nghe, không chê trách. Nhà trường và cộng đồng lồng ghép giáo dục pháp luật, kỹ năng số và để ý những dấu hiệu lạ. Cơ quan chức năng kiểm soát dịch vụ việc làm, xử lý nghiêm các đường dây và hỗ trợ nạn nhân. Khi một lớp yếu đi, các lớp còn lại sẽ giúp phát hiện kịp thời.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Nếu nghi ngờ, hãy nhớ năm bước: dừng lại, chia sẻ, lưu bằng chứng nếu an toàn, báo cơ quan chức năng, và luôn ưu tiên an toàn của bản thân. Hai số cần nhớ: 111 là Tổng đài quốc gia về phòng, chống mua bán người, miễn phí, hoạt động 24/7, khai trương tháng 9/2025 theo Nghị định 162; còn 113 là số cảnh sát khẩn cấp khi đang gặp nguy hiểm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giây) Về pháp luật: ngày 28/11/2024, Quốc hội thông qua Luật Phòng, chống mua bán người số 53, có hiệu lực từ 01/7/2025, thay thế luật năm 2011; Nghị định 162/2025 hướng dẫn thi hành. Điểm cốt lõi là lấy nạn nhân làm trung tâm và mở rộng những người được bảo vệ. Người phạm tội bị xử lý hình sự theo Điều 150 và 151 Bộ luật Hình sự. Đầu năm 2026, Thủ tướng ban hành Quyết định 33 về chương trình phòng, chống mua bán người giai đoạn 2026–2030, và Hà Nội cũng đã có kế hoạch triển khai trên địa bàn.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giây) Quay lại tin nhắn ở đầu bài: bây giờ, bạn sẽ trả lời thế nào? Thông điệp của nhóm rất đơn giản: không ai là món hàng. Ba việc chúng ta có thể làm ngay từ hôm nay: kiểm chứng mọi lời mời việc làm, kể với người lớn khi thấy bất thường, và lưu số 111 rồi chia sẻ bài học này với bạn bè. Ngày 30/7 hằng năm là Ngày toàn dân phòng, chống mua bán người — nhưng tỉnh táo thì cần mỗi ngày. Cảm ơn thầy cô và các bạn đã lắng nghe.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cần trình bày chi tiết) Đây là danh sách nguồn tham khảo về văn bản pháp luật, số liệu và hình ảnh. Thông tin chi tiết từng ảnh và giấy phép nằm trong file Nguon_anh.txt. Nhóm sẵn sàng trả lời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chart" Target="../charts/char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A night rider in Hanoi" descr="5507a99062b90ade.jpg"/>
          <p:cNvPicPr>
            <a:picLocks noChangeAspect="1"/>
          </p:cNvPicPr>
          <p:nvPr/>
        </p:nvPicPr>
        <p:blipFill>
          <a:blip r:embed="rId2"/>
          <a:stretch>
            <a:fillRect/>
          </a:stretch>
        </p:blipFill>
        <p:spPr>
          <a:xfrm>
            <a:off x="0" y="0"/>
            <a:ext cx="12191695" cy="6858000"/>
          </a:xfrm>
          <a:prstGeom prst="rect">
            <a:avLst/>
          </a:prstGeom>
        </p:spPr>
      </p:pic>
      <p:sp>
        <p:nvSpPr>
          <p:cNvPr id="3" name="!!kicker"/>
          <p:cNvSpPr txBox="1"/>
          <p:nvPr/>
        </p:nvSpPr>
        <p:spPr>
          <a:xfrm>
            <a:off x="548640" y="502920"/>
            <a:ext cx="7315200" cy="274320"/>
          </a:xfrm>
          <a:prstGeom prst="rect">
            <a:avLst/>
          </a:prstGeom>
          <a:noFill/>
        </p:spPr>
        <p:txBody>
          <a:bodyPr wrap="square" anchor="t" lIns="0" rIns="0" tIns="0" bIns="0">
            <a:spAutoFit/>
          </a:bodyPr>
          <a:lstStyle/>
          <a:p>
            <a:pPr algn="l"/>
            <a:r>
              <a:rPr sz="1100" b="1" i="0" spc="400">
                <a:solidFill>
                  <a:srgbClr val="C6A56B"/>
                </a:solidFill>
                <a:latin typeface="Arial"/>
              </a:rPr>
              <a:t>SHADOWS OF THE CITY  ·  PHÓNG SỰ ẢNH</a:t>
            </a:r>
          </a:p>
        </p:txBody>
      </p:sp>
      <p:sp>
        <p:nvSpPr>
          <p:cNvPr id="4" name="!!title"/>
          <p:cNvSpPr txBox="1"/>
          <p:nvPr/>
        </p:nvSpPr>
        <p:spPr>
          <a:xfrm>
            <a:off x="548640" y="1783080"/>
            <a:ext cx="8686800" cy="2194560"/>
          </a:xfrm>
          <a:prstGeom prst="rect">
            <a:avLst/>
          </a:prstGeom>
          <a:noFill/>
        </p:spPr>
        <p:txBody>
          <a:bodyPr wrap="square" anchor="t" lIns="0" rIns="0" tIns="0" bIns="0">
            <a:spAutoFit/>
          </a:bodyPr>
          <a:lstStyle/>
          <a:p>
            <a:pPr algn="l">
              <a:lnSpc>
                <a:spcPct val="100000"/>
              </a:lnSpc>
            </a:pPr>
            <a:r>
              <a:rPr sz="6600" b="0" i="0">
                <a:solidFill>
                  <a:srgbClr val="F4F0E8"/>
                </a:solidFill>
                <a:latin typeface="Be Vietnam Pro ExtraBold"/>
              </a:rPr>
              <a:t>NẠN BUÔN NGƯỜI</a:t>
            </a:r>
          </a:p>
          <a:p>
            <a:pPr algn="l">
              <a:lnSpc>
                <a:spcPct val="100000"/>
              </a:lnSpc>
            </a:pPr>
            <a:r>
              <a:rPr sz="6600" b="0" i="0">
                <a:solidFill>
                  <a:srgbClr val="C83B45"/>
                </a:solidFill>
                <a:latin typeface="Be Vietnam Pro ExtraBold"/>
              </a:rPr>
              <a:t>Ở HÀ NỘI</a:t>
            </a:r>
          </a:p>
        </p:txBody>
      </p:sp>
      <p:sp>
        <p:nvSpPr>
          <p:cNvPr id="5" name="TextBox 4"/>
          <p:cNvSpPr txBox="1"/>
          <p:nvPr/>
        </p:nvSpPr>
        <p:spPr>
          <a:xfrm>
            <a:off x="548640" y="3931920"/>
            <a:ext cx="8229600" cy="457200"/>
          </a:xfrm>
          <a:prstGeom prst="rect">
            <a:avLst/>
          </a:prstGeom>
          <a:noFill/>
        </p:spPr>
        <p:txBody>
          <a:bodyPr wrap="square" anchor="t" lIns="0" rIns="0" tIns="0" bIns="0">
            <a:spAutoFit/>
          </a:bodyPr>
          <a:lstStyle/>
          <a:p>
            <a:pPr algn="l"/>
            <a:r>
              <a:rPr sz="2000" b="0" i="0">
                <a:solidFill>
                  <a:srgbClr val="F4F0E8"/>
                </a:solidFill>
                <a:latin typeface="Be Vietnam Pro"/>
              </a:rPr>
              <a:t>Thực trạng  –  Nguyên nhân  –  Hậu quả  –  Giải pháp</a:t>
            </a:r>
          </a:p>
        </p:txBody>
      </p:sp>
      <p:sp>
        <p:nvSpPr>
          <p:cNvPr id="6" name="TextBox 5"/>
          <p:cNvSpPr txBox="1"/>
          <p:nvPr/>
        </p:nvSpPr>
        <p:spPr>
          <a:xfrm>
            <a:off x="548640" y="5074920"/>
            <a:ext cx="6858000" cy="868680"/>
          </a:xfrm>
          <a:prstGeom prst="rect">
            <a:avLst/>
          </a:prstGeom>
          <a:noFill/>
        </p:spPr>
        <p:txBody>
          <a:bodyPr wrap="square" anchor="t" lIns="0" rIns="0" tIns="0" bIns="0">
            <a:spAutoFit/>
          </a:bodyPr>
          <a:lstStyle/>
          <a:p>
            <a:pPr algn="l">
              <a:spcAft>
                <a:spcPts val="600"/>
              </a:spcAft>
            </a:pPr>
            <a:r>
              <a:rPr sz="1400" b="0" i="0">
                <a:solidFill>
                  <a:srgbClr val="8993A4"/>
                </a:solidFill>
                <a:latin typeface="Arial"/>
              </a:rPr>
              <a:t>Học sinh thực hiện:  ……………………………………………</a:t>
            </a:r>
          </a:p>
          <a:p>
            <a:pPr algn="l">
              <a:spcAft>
                <a:spcPts val="600"/>
              </a:spcAft>
            </a:pPr>
            <a:r>
              <a:rPr sz="1400" b="0" i="0">
                <a:solidFill>
                  <a:srgbClr val="8993A4"/>
                </a:solidFill>
                <a:latin typeface="Arial"/>
              </a:rPr>
              <a:t>Lớp:  ……………          Môn học:  ……………………………</a:t>
            </a:r>
          </a:p>
        </p:txBody>
      </p:sp>
      <p:sp>
        <p:nvSpPr>
          <p:cNvPr id="7" name="Ghi công ảnh"/>
          <p:cNvSpPr txBox="1"/>
          <p:nvPr/>
        </p:nvSpPr>
        <p:spPr>
          <a:xfrm>
            <a:off x="6675120" y="6419088"/>
            <a:ext cx="3931920" cy="274320"/>
          </a:xfrm>
          <a:prstGeom prst="rect">
            <a:avLst/>
          </a:prstGeom>
          <a:noFill/>
        </p:spPr>
        <p:txBody>
          <a:bodyPr wrap="square" anchor="t" lIns="0" rIns="0" tIns="0" bIns="0">
            <a:spAutoFit/>
          </a:bodyPr>
          <a:lstStyle/>
          <a:p>
            <a:pPr algn="r"/>
            <a:r>
              <a:rPr sz="1000" b="0" i="0">
                <a:solidFill>
                  <a:srgbClr val="8993A4"/>
                </a:solidFill>
                <a:latin typeface="Arial"/>
              </a:rPr>
              <a:t>Ảnh nền: Tristan Schmurr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10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00"/>
                                        <p:tgtEl>
                                          <p:spTgt spid="4"/>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Texting" descr="983f8b19a77cb92a.jpg"/>
          <p:cNvPicPr>
            <a:picLocks noChangeAspect="1"/>
          </p:cNvPicPr>
          <p:nvPr/>
        </p:nvPicPr>
        <p:blipFill>
          <a:blip r:embed="rId2"/>
          <a:stretch>
            <a:fillRect/>
          </a:stretch>
        </p:blipFill>
        <p:spPr>
          <a:xfrm>
            <a:off x="0" y="0"/>
            <a:ext cx="6400800" cy="6858000"/>
          </a:xfrm>
          <a:prstGeom prst="rect">
            <a:avLst/>
          </a:prstGeom>
        </p:spPr>
      </p:pic>
      <p:sp>
        <p:nvSpPr>
          <p:cNvPr id="3" name="!!kicker"/>
          <p:cNvSpPr txBox="1"/>
          <p:nvPr/>
        </p:nvSpPr>
        <p:spPr>
          <a:xfrm>
            <a:off x="69494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02</a:t>
            </a:r>
            <a:r>
              <a:rPr sz="1100" b="1" i="0" spc="300">
                <a:solidFill>
                  <a:srgbClr val="8993A4"/>
                </a:solidFill>
                <a:latin typeface="Arial"/>
              </a:rPr>
              <a:t>  —  MỞ ĐẦU</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02 / 15</a:t>
            </a:r>
          </a:p>
        </p:txBody>
      </p:sp>
      <p:sp>
        <p:nvSpPr>
          <p:cNvPr id="5" name="TextBox 4"/>
          <p:cNvSpPr txBox="1"/>
          <p:nvPr/>
        </p:nvSpPr>
        <p:spPr>
          <a:xfrm>
            <a:off x="6949440" y="1051560"/>
            <a:ext cx="4572000" cy="274320"/>
          </a:xfrm>
          <a:prstGeom prst="rect">
            <a:avLst/>
          </a:prstGeom>
          <a:noFill/>
        </p:spPr>
        <p:txBody>
          <a:bodyPr wrap="square" anchor="t" lIns="0" rIns="0" tIns="0" bIns="0">
            <a:spAutoFit/>
          </a:bodyPr>
          <a:lstStyle/>
          <a:p>
            <a:pPr algn="l"/>
            <a:r>
              <a:rPr sz="1200" b="1" i="0" spc="200">
                <a:solidFill>
                  <a:srgbClr val="C83B45"/>
                </a:solidFill>
                <a:latin typeface="Arial"/>
              </a:rPr>
              <a:t>TÌNH HUỐNG GIẢ ĐỊNH</a:t>
            </a:r>
          </a:p>
        </p:txBody>
      </p:sp>
      <p:grpSp>
        <p:nvGrpSpPr>
          <p:cNvPr id="6" name="Tin nhắn giả định"/>
          <p:cNvGrpSpPr/>
          <p:nvPr/>
        </p:nvGrpSpPr>
        <p:grpSpPr>
          <a:xfrm>
            <a:off x="6949440" y="1463040"/>
            <a:ext cx="4709160" cy="1965959"/>
            <a:chOff x="6949440" y="1463040"/>
            <a:chExt cx="4709160" cy="1965959"/>
          </a:xfrm>
        </p:grpSpPr>
        <p:sp>
          <p:nvSpPr>
            <p:cNvPr id="7" name="Rounded Rectangle 6"/>
            <p:cNvSpPr/>
            <p:nvPr/>
          </p:nvSpPr>
          <p:spPr>
            <a:xfrm>
              <a:off x="6949440" y="1463040"/>
              <a:ext cx="4709160" cy="1783080"/>
            </a:xfrm>
            <a:prstGeom prst="roundRect">
              <a:avLst>
                <a:gd name="adj" fmla="val 8000"/>
              </a:avLst>
            </a:prstGeom>
            <a:solidFill>
              <a:srgbClr val="15171D"/>
            </a:solidFill>
            <a:ln w="9525">
              <a:solidFill>
                <a:srgbClr val="8993A4"/>
              </a:solidFill>
            </a:ln>
          </p:spPr>
          <p:txBody>
            <a:bodyPr rtlCol="0" anchor="ctr"/>
            <a:lstStyle/>
            <a:p>
              <a:pPr algn="ctr"/>
            </a:p>
          </p:txBody>
        </p:sp>
        <p:sp>
          <p:nvSpPr>
            <p:cNvPr id="8" name="TextBox 7"/>
            <p:cNvSpPr txBox="1"/>
            <p:nvPr/>
          </p:nvSpPr>
          <p:spPr>
            <a:xfrm>
              <a:off x="7178040" y="1600200"/>
              <a:ext cx="4297680" cy="274320"/>
            </a:xfrm>
            <a:prstGeom prst="rect">
              <a:avLst/>
            </a:prstGeom>
            <a:noFill/>
          </p:spPr>
          <p:txBody>
            <a:bodyPr wrap="square" anchor="t" lIns="0" rIns="0" tIns="0" bIns="0">
              <a:spAutoFit/>
            </a:bodyPr>
            <a:lstStyle/>
            <a:p>
              <a:pPr algn="l"/>
              <a:r>
                <a:rPr sz="1000" b="0" i="0">
                  <a:solidFill>
                    <a:srgbClr val="8993A4"/>
                  </a:solidFill>
                  <a:latin typeface="Arial"/>
                </a:rPr>
                <a:t>Tin nhắn từ tài khoản lạ  ·  22:47</a:t>
              </a:r>
            </a:p>
          </p:txBody>
        </p:sp>
        <p:sp>
          <p:nvSpPr>
            <p:cNvPr id="9" name="TextBox 8"/>
            <p:cNvSpPr txBox="1"/>
            <p:nvPr/>
          </p:nvSpPr>
          <p:spPr>
            <a:xfrm>
              <a:off x="7178040" y="1874519"/>
              <a:ext cx="4297680" cy="1554480"/>
            </a:xfrm>
            <a:prstGeom prst="rect">
              <a:avLst/>
            </a:prstGeom>
            <a:noFill/>
          </p:spPr>
          <p:txBody>
            <a:bodyPr wrap="square" anchor="t" lIns="0" rIns="0" tIns="0" bIns="0">
              <a:spAutoFit/>
            </a:bodyPr>
            <a:lstStyle/>
            <a:p>
              <a:pPr algn="l">
                <a:lnSpc>
                  <a:spcPct val="110000"/>
                </a:lnSpc>
              </a:pPr>
              <a:r>
                <a:rPr sz="1500" b="0" i="0">
                  <a:solidFill>
                    <a:srgbClr val="F4F0E8"/>
                  </a:solidFill>
                  <a:latin typeface="Arial"/>
                </a:rPr>
                <a:t>“Chào em! Bên anh đang tuyển gấp nhân viên, việc nhẹ, lương 15–20 triệu/tháng, bao ăn ở. Không cần kinh nghiệm, không cần hợp đồng. Đi ngay tuần này, nhớ đừng kể với ai nhé!”</a:t>
              </a:r>
            </a:p>
          </p:txBody>
        </p:sp>
      </p:grpSp>
      <p:sp>
        <p:nvSpPr>
          <p:cNvPr id="10" name="Câu hỏi lớn"/>
          <p:cNvSpPr txBox="1"/>
          <p:nvPr/>
        </p:nvSpPr>
        <p:spPr>
          <a:xfrm>
            <a:off x="6949440" y="3794760"/>
            <a:ext cx="4709160" cy="1280160"/>
          </a:xfrm>
          <a:prstGeom prst="rect">
            <a:avLst/>
          </a:prstGeom>
          <a:noFill/>
        </p:spPr>
        <p:txBody>
          <a:bodyPr wrap="square" anchor="t" lIns="0" rIns="0" tIns="0" bIns="0">
            <a:spAutoFit/>
          </a:bodyPr>
          <a:lstStyle/>
          <a:p>
            <a:pPr algn="l">
              <a:lnSpc>
                <a:spcPct val="105000"/>
              </a:lnSpc>
            </a:pPr>
            <a:r>
              <a:rPr sz="3200" b="0" i="0">
                <a:solidFill>
                  <a:srgbClr val="F4F0E8"/>
                </a:solidFill>
                <a:latin typeface="Be Vietnam Pro ExtraBold"/>
              </a:rPr>
              <a:t>Bạn sẽ trả lời tin nhắn này chứ?</a:t>
            </a:r>
          </a:p>
        </p:txBody>
      </p:sp>
      <p:sp>
        <p:nvSpPr>
          <p:cNvPr id="11" name="TextBox 10"/>
          <p:cNvSpPr txBox="1"/>
          <p:nvPr/>
        </p:nvSpPr>
        <p:spPr>
          <a:xfrm>
            <a:off x="6949440" y="5212080"/>
            <a:ext cx="4709160" cy="731520"/>
          </a:xfrm>
          <a:prstGeom prst="rect">
            <a:avLst/>
          </a:prstGeom>
          <a:noFill/>
        </p:spPr>
        <p:txBody>
          <a:bodyPr wrap="square" anchor="t" lIns="0" rIns="0" tIns="0" bIns="0">
            <a:spAutoFit/>
          </a:bodyPr>
          <a:lstStyle/>
          <a:p>
            <a:pPr algn="l">
              <a:lnSpc>
                <a:spcPct val="110000"/>
              </a:lnSpc>
            </a:pPr>
            <a:r>
              <a:rPr sz="1500" b="0" i="0">
                <a:solidFill>
                  <a:srgbClr val="8993A4"/>
                </a:solidFill>
                <a:latin typeface="Arial"/>
              </a:rPr>
              <a:t>Hãy giữ câu trả lời của mình — cuối bài, chúng ta sẽ quay lại tin nhắn này.</a:t>
            </a:r>
          </a:p>
        </p:txBody>
      </p:sp>
      <p:sp>
        <p:nvSpPr>
          <p:cNvPr id="12" name="TextBox 11"/>
          <p:cNvSpPr txBox="1"/>
          <p:nvPr/>
        </p:nvSpPr>
        <p:spPr>
          <a:xfrm>
            <a:off x="6949440" y="6172200"/>
            <a:ext cx="3931920" cy="411480"/>
          </a:xfrm>
          <a:prstGeom prst="rect">
            <a:avLst/>
          </a:prstGeom>
          <a:noFill/>
        </p:spPr>
        <p:txBody>
          <a:bodyPr wrap="square" anchor="t" lIns="0" rIns="0" tIns="0" bIns="0">
            <a:spAutoFit/>
          </a:bodyPr>
          <a:lstStyle/>
          <a:p>
            <a:pPr algn="l"/>
            <a:r>
              <a:rPr sz="1000" b="0" i="1">
                <a:solidFill>
                  <a:srgbClr val="8993A4"/>
                </a:solidFill>
                <a:latin typeface="Arial"/>
              </a:rPr>
              <a:t>* Tình huống minh họa do nhóm thực hiện xây dựng, không phải vụ việc có thật.</a:t>
            </a:r>
          </a:p>
        </p:txBody>
      </p:sp>
      <p:sp>
        <p:nvSpPr>
          <p:cNvPr id="13" name="Ghi công ảnh"/>
          <p:cNvSpPr txBox="1"/>
          <p:nvPr/>
        </p:nvSpPr>
        <p:spPr>
          <a:xfrm>
            <a:off x="411480" y="6419088"/>
            <a:ext cx="5669280" cy="274320"/>
          </a:xfrm>
          <a:prstGeom prst="rect">
            <a:avLst/>
          </a:prstGeom>
          <a:noFill/>
        </p:spPr>
        <p:txBody>
          <a:bodyPr wrap="square" anchor="t" lIns="0" rIns="0" tIns="0" bIns="0">
            <a:spAutoFit/>
          </a:bodyPr>
          <a:lstStyle/>
          <a:p>
            <a:pPr algn="l"/>
            <a:r>
              <a:rPr sz="1000" b="0" i="0">
                <a:solidFill>
                  <a:srgbClr val="8993A4"/>
                </a:solidFill>
                <a:latin typeface="Arial"/>
              </a:rPr>
              <a:t>Ảnh minh họa: Brandon Giesbrecht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0" grpId="0" animBg="1"/>
      <p:bldP spid="11"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Silhouette" descr="1d8a17c5368ba73c.jpg"/>
          <p:cNvPicPr>
            <a:picLocks noChangeAspect="1"/>
          </p:cNvPicPr>
          <p:nvPr/>
        </p:nvPicPr>
        <p:blipFill>
          <a:blip r:embed="rId2"/>
          <a:stretch>
            <a:fillRect/>
          </a:stretch>
        </p:blipFill>
        <p:spPr>
          <a:xfrm>
            <a:off x="0" y="0"/>
            <a:ext cx="3840480" cy="6858000"/>
          </a:xfrm>
          <a:prstGeom prst="rect">
            <a:avLst/>
          </a:prstGeom>
        </p:spPr>
      </p:pic>
      <p:sp>
        <p:nvSpPr>
          <p:cNvPr id="3" name="!!kicker"/>
          <p:cNvSpPr txBox="1"/>
          <p:nvPr/>
        </p:nvSpPr>
        <p:spPr>
          <a:xfrm>
            <a:off x="438912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03</a:t>
            </a:r>
            <a:r>
              <a:rPr sz="1100" b="1" i="0" spc="300">
                <a:solidFill>
                  <a:srgbClr val="8993A4"/>
                </a:solidFill>
                <a:latin typeface="Arial"/>
              </a:rPr>
              <a:t>  —  KHÁI NIỆM</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03 / 15</a:t>
            </a:r>
          </a:p>
        </p:txBody>
      </p:sp>
      <p:sp>
        <p:nvSpPr>
          <p:cNvPr id="5" name="!!title"/>
          <p:cNvSpPr txBox="1"/>
          <p:nvPr/>
        </p:nvSpPr>
        <p:spPr>
          <a:xfrm>
            <a:off x="4389120" y="777240"/>
            <a:ext cx="7223760" cy="731520"/>
          </a:xfrm>
          <a:prstGeom prst="rect">
            <a:avLst/>
          </a:prstGeom>
          <a:noFill/>
        </p:spPr>
        <p:txBody>
          <a:bodyPr wrap="square" anchor="t" lIns="0" rIns="0" tIns="0" bIns="0">
            <a:spAutoFit/>
          </a:bodyPr>
          <a:lstStyle/>
          <a:p>
            <a:pPr algn="l">
              <a:lnSpc>
                <a:spcPct val="105000"/>
              </a:lnSpc>
            </a:pPr>
            <a:r>
              <a:rPr sz="3800" b="0" i="0">
                <a:solidFill>
                  <a:srgbClr val="F4F0E8"/>
                </a:solidFill>
                <a:latin typeface="Be Vietnam Pro ExtraBold"/>
              </a:rPr>
              <a:t>Buôn người là gì?</a:t>
            </a:r>
          </a:p>
        </p:txBody>
      </p:sp>
      <p:sp>
        <p:nvSpPr>
          <p:cNvPr id="6" name="TextBox 5"/>
          <p:cNvSpPr txBox="1"/>
          <p:nvPr/>
        </p:nvSpPr>
        <p:spPr>
          <a:xfrm>
            <a:off x="4389120" y="1600200"/>
            <a:ext cx="7269480" cy="914400"/>
          </a:xfrm>
          <a:prstGeom prst="rect">
            <a:avLst/>
          </a:prstGeom>
          <a:noFill/>
        </p:spPr>
        <p:txBody>
          <a:bodyPr wrap="square" anchor="t" lIns="0" rIns="0" tIns="0" bIns="0">
            <a:spAutoFit/>
          </a:bodyPr>
          <a:lstStyle/>
          <a:p>
            <a:pPr algn="l">
              <a:lnSpc>
                <a:spcPct val="115000"/>
              </a:lnSpc>
            </a:pPr>
            <a:r>
              <a:rPr sz="1600" b="0" i="0">
                <a:solidFill>
                  <a:srgbClr val="F4F0E8"/>
                </a:solidFill>
                <a:latin typeface="Arial"/>
              </a:rPr>
              <a:t>Là việc </a:t>
            </a:r>
            <a:r>
              <a:rPr sz="1600" b="1" i="0">
                <a:solidFill>
                  <a:srgbClr val="F4F0E8"/>
                </a:solidFill>
                <a:latin typeface="Arial"/>
              </a:rPr>
              <a:t>tuyển mộ, vận chuyển, chuyển giao, chứa chấp hoặc tiếp nhận</a:t>
            </a:r>
            <a:r>
              <a:rPr sz="1600" b="0" i="0">
                <a:solidFill>
                  <a:srgbClr val="F4F0E8"/>
                </a:solidFill>
                <a:latin typeface="Arial"/>
              </a:rPr>
              <a:t> một người bằng thủ đoạn lừa dối, ép buộc hay lợi dụng hoàn cảnh khó khăn của họ — </a:t>
            </a:r>
            <a:r>
              <a:rPr sz="1600" b="1" i="0">
                <a:solidFill>
                  <a:srgbClr val="C6A56B"/>
                </a:solidFill>
                <a:latin typeface="Arial"/>
              </a:rPr>
              <a:t>nhằm mục đích bóc lột.</a:t>
            </a:r>
          </a:p>
        </p:txBody>
      </p:sp>
      <p:grpSp>
        <p:nvGrpSpPr>
          <p:cNvPr id="7" name="Yếu tố 1"/>
          <p:cNvGrpSpPr/>
          <p:nvPr/>
        </p:nvGrpSpPr>
        <p:grpSpPr>
          <a:xfrm>
            <a:off x="4389120" y="2697480"/>
            <a:ext cx="2240280" cy="2286000"/>
            <a:chOff x="4389120" y="2697480"/>
            <a:chExt cx="2240280" cy="2286000"/>
          </a:xfrm>
        </p:grpSpPr>
        <p:sp>
          <p:nvSpPr>
            <p:cNvPr id="8" name="Rectangle 7"/>
            <p:cNvSpPr/>
            <p:nvPr/>
          </p:nvSpPr>
          <p:spPr>
            <a:xfrm>
              <a:off x="4389120" y="2697480"/>
              <a:ext cx="2240280" cy="2286000"/>
            </a:xfrm>
            <a:prstGeom prst="rect">
              <a:avLst/>
            </a:prstGeom>
            <a:solidFill>
              <a:srgbClr val="15171D"/>
            </a:solidFill>
            <a:ln>
              <a:noFill/>
            </a:ln>
          </p:spPr>
          <p:txBody>
            <a:bodyPr rtlCol="0" anchor="ctr"/>
            <a:lstStyle/>
            <a:p>
              <a:pPr algn="ctr"/>
            </a:p>
          </p:txBody>
        </p:sp>
        <p:sp>
          <p:nvSpPr>
            <p:cNvPr id="9" name="TextBox 8"/>
            <p:cNvSpPr txBox="1"/>
            <p:nvPr/>
          </p:nvSpPr>
          <p:spPr>
            <a:xfrm>
              <a:off x="4572000" y="2834640"/>
              <a:ext cx="1920240" cy="274320"/>
            </a:xfrm>
            <a:prstGeom prst="rect">
              <a:avLst/>
            </a:prstGeom>
            <a:noFill/>
          </p:spPr>
          <p:txBody>
            <a:bodyPr wrap="square" anchor="t" lIns="0" rIns="0" tIns="0" bIns="0">
              <a:spAutoFit/>
            </a:bodyPr>
            <a:lstStyle/>
            <a:p>
              <a:pPr algn="l"/>
              <a:r>
                <a:rPr sz="1100" b="1" i="0" spc="150">
                  <a:solidFill>
                    <a:srgbClr val="C83B45"/>
                  </a:solidFill>
                  <a:latin typeface="Arial"/>
                </a:rPr>
                <a:t>1 · HÀNH VI</a:t>
              </a:r>
            </a:p>
          </p:txBody>
        </p:sp>
        <p:sp>
          <p:nvSpPr>
            <p:cNvPr id="10" name="TextBox 9"/>
            <p:cNvSpPr txBox="1"/>
            <p:nvPr/>
          </p:nvSpPr>
          <p:spPr>
            <a:xfrm>
              <a:off x="4572000" y="3127248"/>
              <a:ext cx="1920240" cy="411480"/>
            </a:xfrm>
            <a:prstGeom prst="rect">
              <a:avLst/>
            </a:prstGeom>
            <a:noFill/>
          </p:spPr>
          <p:txBody>
            <a:bodyPr wrap="square" anchor="t" lIns="0" rIns="0" tIns="0" bIns="0">
              <a:spAutoFit/>
            </a:bodyPr>
            <a:lstStyle/>
            <a:p>
              <a:pPr algn="l"/>
              <a:r>
                <a:rPr sz="1700" b="1" i="0">
                  <a:solidFill>
                    <a:srgbClr val="F4F0E8"/>
                  </a:solidFill>
                  <a:latin typeface="Be Vietnam Pro"/>
                </a:rPr>
                <a:t>Làm gì?</a:t>
              </a:r>
            </a:p>
          </p:txBody>
        </p:sp>
        <p:sp>
          <p:nvSpPr>
            <p:cNvPr id="11" name="TextBox 10"/>
            <p:cNvSpPr txBox="1"/>
            <p:nvPr/>
          </p:nvSpPr>
          <p:spPr>
            <a:xfrm>
              <a:off x="4572000" y="3566160"/>
              <a:ext cx="1920240" cy="1371600"/>
            </a:xfrm>
            <a:prstGeom prst="rect">
              <a:avLst/>
            </a:prstGeom>
            <a:noFill/>
          </p:spPr>
          <p:txBody>
            <a:bodyPr wrap="square" anchor="t" lIns="0" rIns="0" tIns="0" bIns="0">
              <a:spAutoFit/>
            </a:bodyPr>
            <a:lstStyle/>
            <a:p>
              <a:pPr algn="l">
                <a:lnSpc>
                  <a:spcPct val="110000"/>
                </a:lnSpc>
              </a:pPr>
              <a:r>
                <a:rPr sz="1400" b="0" i="0">
                  <a:solidFill>
                    <a:srgbClr val="D9D4CA"/>
                  </a:solidFill>
                  <a:latin typeface="Arial"/>
                </a:rPr>
                <a:t>Tuyển mộ, vận chuyển, chuyển giao, chứa chấp, tiếp nhận người</a:t>
              </a:r>
            </a:p>
          </p:txBody>
        </p:sp>
      </p:grpSp>
      <p:grpSp>
        <p:nvGrpSpPr>
          <p:cNvPr id="12" name="Yếu tố 2"/>
          <p:cNvGrpSpPr/>
          <p:nvPr/>
        </p:nvGrpSpPr>
        <p:grpSpPr>
          <a:xfrm>
            <a:off x="6629400" y="2697480"/>
            <a:ext cx="2514600" cy="2286000"/>
            <a:chOff x="6629400" y="2697480"/>
            <a:chExt cx="2514600" cy="2286000"/>
          </a:xfrm>
        </p:grpSpPr>
        <p:sp>
          <p:nvSpPr>
            <p:cNvPr id="13" name="Rectangle 12"/>
            <p:cNvSpPr/>
            <p:nvPr/>
          </p:nvSpPr>
          <p:spPr>
            <a:xfrm>
              <a:off x="6903720" y="2697480"/>
              <a:ext cx="2240280" cy="2286000"/>
            </a:xfrm>
            <a:prstGeom prst="rect">
              <a:avLst/>
            </a:prstGeom>
            <a:solidFill>
              <a:srgbClr val="15171D"/>
            </a:solidFill>
            <a:ln>
              <a:noFill/>
            </a:ln>
          </p:spPr>
          <p:txBody>
            <a:bodyPr rtlCol="0" anchor="ctr"/>
            <a:lstStyle/>
            <a:p>
              <a:pPr algn="ctr"/>
            </a:p>
          </p:txBody>
        </p:sp>
        <p:sp>
          <p:nvSpPr>
            <p:cNvPr id="14" name="TextBox 13"/>
            <p:cNvSpPr txBox="1"/>
            <p:nvPr/>
          </p:nvSpPr>
          <p:spPr>
            <a:xfrm>
              <a:off x="7086600" y="2834640"/>
              <a:ext cx="1920240" cy="274320"/>
            </a:xfrm>
            <a:prstGeom prst="rect">
              <a:avLst/>
            </a:prstGeom>
            <a:noFill/>
          </p:spPr>
          <p:txBody>
            <a:bodyPr wrap="square" anchor="t" lIns="0" rIns="0" tIns="0" bIns="0">
              <a:spAutoFit/>
            </a:bodyPr>
            <a:lstStyle/>
            <a:p>
              <a:pPr algn="l"/>
              <a:r>
                <a:rPr sz="1100" b="1" i="0" spc="150">
                  <a:solidFill>
                    <a:srgbClr val="C83B45"/>
                  </a:solidFill>
                  <a:latin typeface="Arial"/>
                </a:rPr>
                <a:t>2 · THỦ ĐOẠN</a:t>
              </a:r>
            </a:p>
          </p:txBody>
        </p:sp>
        <p:sp>
          <p:nvSpPr>
            <p:cNvPr id="15" name="TextBox 14"/>
            <p:cNvSpPr txBox="1"/>
            <p:nvPr/>
          </p:nvSpPr>
          <p:spPr>
            <a:xfrm>
              <a:off x="7086600" y="3127248"/>
              <a:ext cx="1920240" cy="411480"/>
            </a:xfrm>
            <a:prstGeom prst="rect">
              <a:avLst/>
            </a:prstGeom>
            <a:noFill/>
          </p:spPr>
          <p:txBody>
            <a:bodyPr wrap="square" anchor="t" lIns="0" rIns="0" tIns="0" bIns="0">
              <a:spAutoFit/>
            </a:bodyPr>
            <a:lstStyle/>
            <a:p>
              <a:pPr algn="l"/>
              <a:r>
                <a:rPr sz="1700" b="1" i="0">
                  <a:solidFill>
                    <a:srgbClr val="F4F0E8"/>
                  </a:solidFill>
                  <a:latin typeface="Be Vietnam Pro"/>
                </a:rPr>
                <a:t>Bằng cách nào?</a:t>
              </a:r>
            </a:p>
          </p:txBody>
        </p:sp>
        <p:sp>
          <p:nvSpPr>
            <p:cNvPr id="16" name="TextBox 15"/>
            <p:cNvSpPr txBox="1"/>
            <p:nvPr/>
          </p:nvSpPr>
          <p:spPr>
            <a:xfrm>
              <a:off x="7086600" y="3566160"/>
              <a:ext cx="1920240" cy="1371600"/>
            </a:xfrm>
            <a:prstGeom prst="rect">
              <a:avLst/>
            </a:prstGeom>
            <a:noFill/>
          </p:spPr>
          <p:txBody>
            <a:bodyPr wrap="square" anchor="t" lIns="0" rIns="0" tIns="0" bIns="0">
              <a:spAutoFit/>
            </a:bodyPr>
            <a:lstStyle/>
            <a:p>
              <a:pPr algn="l">
                <a:lnSpc>
                  <a:spcPct val="110000"/>
                </a:lnSpc>
              </a:pPr>
              <a:r>
                <a:rPr sz="1400" b="0" i="0">
                  <a:solidFill>
                    <a:srgbClr val="D9D4CA"/>
                  </a:solidFill>
                  <a:latin typeface="Arial"/>
                </a:rPr>
                <a:t>Lừa dối, đe dọa, dùng vũ lực, lợi dụng sự phụ thuộc hoặc hoàn cảnh khó khăn</a:t>
              </a:r>
            </a:p>
          </p:txBody>
        </p:sp>
        <p:sp>
          <p:nvSpPr>
            <p:cNvPr id="17" name="TextBox 16"/>
            <p:cNvSpPr txBox="1"/>
            <p:nvPr/>
          </p:nvSpPr>
          <p:spPr>
            <a:xfrm>
              <a:off x="6629400" y="3566160"/>
              <a:ext cx="274320" cy="457200"/>
            </a:xfrm>
            <a:prstGeom prst="rect">
              <a:avLst/>
            </a:prstGeom>
            <a:noFill/>
          </p:spPr>
          <p:txBody>
            <a:bodyPr wrap="square" anchor="t" lIns="0" rIns="0" tIns="0" bIns="0">
              <a:spAutoFit/>
            </a:bodyPr>
            <a:lstStyle/>
            <a:p>
              <a:pPr algn="ctr"/>
              <a:r>
                <a:rPr sz="2600" b="0" i="0">
                  <a:solidFill>
                    <a:srgbClr val="C6A56B"/>
                  </a:solidFill>
                  <a:latin typeface="Be Vietnam Pro ExtraBold"/>
                </a:rPr>
                <a:t>+</a:t>
              </a:r>
            </a:p>
          </p:txBody>
        </p:sp>
      </p:grpSp>
      <p:grpSp>
        <p:nvGrpSpPr>
          <p:cNvPr id="18" name="Yếu tố 3"/>
          <p:cNvGrpSpPr/>
          <p:nvPr/>
        </p:nvGrpSpPr>
        <p:grpSpPr>
          <a:xfrm>
            <a:off x="9144000" y="2697480"/>
            <a:ext cx="2514600" cy="2286000"/>
            <a:chOff x="9144000" y="2697480"/>
            <a:chExt cx="2514600" cy="2286000"/>
          </a:xfrm>
        </p:grpSpPr>
        <p:sp>
          <p:nvSpPr>
            <p:cNvPr id="19" name="Rectangle 18"/>
            <p:cNvSpPr/>
            <p:nvPr/>
          </p:nvSpPr>
          <p:spPr>
            <a:xfrm>
              <a:off x="9418320" y="2697480"/>
              <a:ext cx="2240280" cy="2286000"/>
            </a:xfrm>
            <a:prstGeom prst="rect">
              <a:avLst/>
            </a:prstGeom>
            <a:solidFill>
              <a:srgbClr val="2A1519"/>
            </a:solidFill>
            <a:ln>
              <a:noFill/>
            </a:ln>
          </p:spPr>
          <p:txBody>
            <a:bodyPr rtlCol="0" anchor="ctr"/>
            <a:lstStyle/>
            <a:p>
              <a:pPr algn="ctr"/>
            </a:p>
          </p:txBody>
        </p:sp>
        <p:sp>
          <p:nvSpPr>
            <p:cNvPr id="20" name="TextBox 19"/>
            <p:cNvSpPr txBox="1"/>
            <p:nvPr/>
          </p:nvSpPr>
          <p:spPr>
            <a:xfrm>
              <a:off x="9601200" y="2834640"/>
              <a:ext cx="1920240" cy="274320"/>
            </a:xfrm>
            <a:prstGeom prst="rect">
              <a:avLst/>
            </a:prstGeom>
            <a:noFill/>
          </p:spPr>
          <p:txBody>
            <a:bodyPr wrap="square" anchor="t" lIns="0" rIns="0" tIns="0" bIns="0">
              <a:spAutoFit/>
            </a:bodyPr>
            <a:lstStyle/>
            <a:p>
              <a:pPr algn="l"/>
              <a:r>
                <a:rPr sz="1100" b="1" i="0" spc="150">
                  <a:solidFill>
                    <a:srgbClr val="C83B45"/>
                  </a:solidFill>
                  <a:latin typeface="Arial"/>
                </a:rPr>
                <a:t>3 · MỤC ĐÍCH</a:t>
              </a:r>
            </a:p>
          </p:txBody>
        </p:sp>
        <p:sp>
          <p:nvSpPr>
            <p:cNvPr id="21" name="TextBox 20"/>
            <p:cNvSpPr txBox="1"/>
            <p:nvPr/>
          </p:nvSpPr>
          <p:spPr>
            <a:xfrm>
              <a:off x="9601200" y="3127248"/>
              <a:ext cx="1920240" cy="411480"/>
            </a:xfrm>
            <a:prstGeom prst="rect">
              <a:avLst/>
            </a:prstGeom>
            <a:noFill/>
          </p:spPr>
          <p:txBody>
            <a:bodyPr wrap="square" anchor="t" lIns="0" rIns="0" tIns="0" bIns="0">
              <a:spAutoFit/>
            </a:bodyPr>
            <a:lstStyle/>
            <a:p>
              <a:pPr algn="l"/>
              <a:r>
                <a:rPr sz="1700" b="1" i="0">
                  <a:solidFill>
                    <a:srgbClr val="F4F0E8"/>
                  </a:solidFill>
                  <a:latin typeface="Be Vietnam Pro"/>
                </a:rPr>
                <a:t>Để làm gì?</a:t>
              </a:r>
            </a:p>
          </p:txBody>
        </p:sp>
        <p:sp>
          <p:nvSpPr>
            <p:cNvPr id="22" name="TextBox 21"/>
            <p:cNvSpPr txBox="1"/>
            <p:nvPr/>
          </p:nvSpPr>
          <p:spPr>
            <a:xfrm>
              <a:off x="9601200" y="3566160"/>
              <a:ext cx="1920240" cy="1371600"/>
            </a:xfrm>
            <a:prstGeom prst="rect">
              <a:avLst/>
            </a:prstGeom>
            <a:noFill/>
          </p:spPr>
          <p:txBody>
            <a:bodyPr wrap="square" anchor="t" lIns="0" rIns="0" tIns="0" bIns="0">
              <a:spAutoFit/>
            </a:bodyPr>
            <a:lstStyle/>
            <a:p>
              <a:pPr algn="l">
                <a:lnSpc>
                  <a:spcPct val="110000"/>
                </a:lnSpc>
              </a:pPr>
              <a:r>
                <a:rPr sz="1400" b="0" i="0">
                  <a:solidFill>
                    <a:srgbClr val="D9D4CA"/>
                  </a:solidFill>
                  <a:latin typeface="Arial"/>
                </a:rPr>
                <a:t>Bóc lột tình dục, cưỡng bức lao động, lấy bộ phận cơ thể hoặc mục đích vô nhân đạo khác</a:t>
              </a:r>
            </a:p>
          </p:txBody>
        </p:sp>
        <p:sp>
          <p:nvSpPr>
            <p:cNvPr id="23" name="TextBox 22"/>
            <p:cNvSpPr txBox="1"/>
            <p:nvPr/>
          </p:nvSpPr>
          <p:spPr>
            <a:xfrm>
              <a:off x="9144000" y="3566160"/>
              <a:ext cx="274320" cy="457200"/>
            </a:xfrm>
            <a:prstGeom prst="rect">
              <a:avLst/>
            </a:prstGeom>
            <a:noFill/>
          </p:spPr>
          <p:txBody>
            <a:bodyPr wrap="square" anchor="t" lIns="0" rIns="0" tIns="0" bIns="0">
              <a:spAutoFit/>
            </a:bodyPr>
            <a:lstStyle/>
            <a:p>
              <a:pPr algn="ctr"/>
              <a:r>
                <a:rPr sz="2600" b="0" i="0">
                  <a:solidFill>
                    <a:srgbClr val="C6A56B"/>
                  </a:solidFill>
                  <a:latin typeface="Be Vietnam Pro ExtraBold"/>
                </a:rPr>
                <a:t>+</a:t>
              </a:r>
            </a:p>
          </p:txBody>
        </p:sp>
      </p:grpSp>
      <p:sp>
        <p:nvSpPr>
          <p:cNvPr id="24" name="TextBox 23"/>
          <p:cNvSpPr txBox="1"/>
          <p:nvPr/>
        </p:nvSpPr>
        <p:spPr>
          <a:xfrm>
            <a:off x="4389120" y="5120640"/>
            <a:ext cx="7269480" cy="411480"/>
          </a:xfrm>
          <a:prstGeom prst="rect">
            <a:avLst/>
          </a:prstGeom>
          <a:noFill/>
        </p:spPr>
        <p:txBody>
          <a:bodyPr wrap="square" anchor="t" lIns="0" rIns="0" tIns="0" bIns="0">
            <a:spAutoFit/>
          </a:bodyPr>
          <a:lstStyle/>
          <a:p>
            <a:pPr algn="l"/>
            <a:r>
              <a:rPr sz="1400" b="0" i="0">
                <a:solidFill>
                  <a:srgbClr val="C6A56B"/>
                </a:solidFill>
                <a:latin typeface="Arial"/>
              </a:rPr>
              <a:t>Với trẻ em (dưới 18 tuổi theo chuẩn của LHQ): chỉ cần có hành vi + mục đích bóc lột là đủ.</a:t>
            </a:r>
          </a:p>
        </p:txBody>
      </p:sp>
      <p:sp>
        <p:nvSpPr>
          <p:cNvPr id="25" name="TextBox 24"/>
          <p:cNvSpPr txBox="1"/>
          <p:nvPr/>
        </p:nvSpPr>
        <p:spPr>
          <a:xfrm>
            <a:off x="4389120" y="5559552"/>
            <a:ext cx="7269480" cy="685800"/>
          </a:xfrm>
          <a:prstGeom prst="rect">
            <a:avLst/>
          </a:prstGeom>
          <a:noFill/>
        </p:spPr>
        <p:txBody>
          <a:bodyPr wrap="square" anchor="t" lIns="0" rIns="0" tIns="0" bIns="0">
            <a:spAutoFit/>
          </a:bodyPr>
          <a:lstStyle/>
          <a:p>
            <a:pPr algn="l">
              <a:lnSpc>
                <a:spcPct val="110000"/>
              </a:lnSpc>
            </a:pPr>
            <a:r>
              <a:rPr sz="1200" b="1" i="0" spc="100">
                <a:solidFill>
                  <a:srgbClr val="8993A4"/>
                </a:solidFill>
                <a:latin typeface="Arial"/>
              </a:rPr>
              <a:t>KHÔNG PHẢI BUÔN NGƯỜI:  </a:t>
            </a:r>
            <a:r>
              <a:rPr sz="1400" b="0" i="0">
                <a:solidFill>
                  <a:srgbClr val="F4F0E8"/>
                </a:solidFill>
                <a:latin typeface="Arial"/>
              </a:rPr>
              <a:t>đi làm xa tự nguyện, có hợp đồng rõ ràng, tự giữ giấy tờ tùy thân, được tự do nghỉ việc và liên lạc với gia đình.</a:t>
            </a:r>
          </a:p>
        </p:txBody>
      </p:sp>
      <p:sp>
        <p:nvSpPr>
          <p:cNvPr id="26" name="TextBox 25"/>
          <p:cNvSpPr txBox="1"/>
          <p:nvPr/>
        </p:nvSpPr>
        <p:spPr>
          <a:xfrm>
            <a:off x="4389120" y="6419088"/>
            <a:ext cx="6309360" cy="274320"/>
          </a:xfrm>
          <a:prstGeom prst="rect">
            <a:avLst/>
          </a:prstGeom>
          <a:noFill/>
        </p:spPr>
        <p:txBody>
          <a:bodyPr wrap="square" anchor="t" lIns="0" rIns="0" tIns="0" bIns="0">
            <a:spAutoFit/>
          </a:bodyPr>
          <a:lstStyle/>
          <a:p>
            <a:pPr algn="l"/>
            <a:r>
              <a:rPr sz="1000" b="0" i="0">
                <a:solidFill>
                  <a:srgbClr val="8993A4"/>
                </a:solidFill>
                <a:latin typeface="Arial"/>
              </a:rPr>
              <a:t>Nguồn: Nghị định thư Palermo (LHQ, 2000), Điều 3; Luật Phòng, chống mua bán người 2024.</a:t>
            </a:r>
          </a:p>
        </p:txBody>
      </p:sp>
      <p:sp>
        <p:nvSpPr>
          <p:cNvPr id="27" name="Ghi công ảnh"/>
          <p:cNvSpPr txBox="1"/>
          <p:nvPr/>
        </p:nvSpPr>
        <p:spPr>
          <a:xfrm>
            <a:off x="274320" y="6419088"/>
            <a:ext cx="3383280" cy="274320"/>
          </a:xfrm>
          <a:prstGeom prst="rect">
            <a:avLst/>
          </a:prstGeom>
          <a:noFill/>
        </p:spPr>
        <p:txBody>
          <a:bodyPr wrap="square" anchor="t" lIns="0" rIns="0" tIns="0" bIns="0">
            <a:spAutoFit/>
          </a:bodyPr>
          <a:lstStyle/>
          <a:p>
            <a:pPr algn="l"/>
            <a:r>
              <a:rPr sz="1000" b="0" i="0">
                <a:solidFill>
                  <a:srgbClr val="8993A4"/>
                </a:solidFill>
                <a:latin typeface="Arial"/>
              </a:rPr>
              <a:t>Ảnh minh họa: Ethan McCandless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600"/>
                                        <p:tgtEl>
                                          <p:spTgt spid="12"/>
                                        </p:tgtEl>
                                      </p:cBhvr>
                                    </p:animEffect>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6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600"/>
                                        <p:tgtEl>
                                          <p:spTgt spid="24"/>
                                        </p:tgtEl>
                                      </p:cBhvr>
                                    </p:animEffect>
                                  </p:childTnLst>
                                </p:cTn>
                              </p:par>
                            </p:childTnLst>
                          </p:cTn>
                        </p:par>
                      </p:childTnLst>
                    </p:cTn>
                  </p:par>
                  <p:par>
                    <p:cTn id="39" fill="hold">
                      <p:stCondLst>
                        <p:cond delay="indefinite"/>
                      </p:stCondLst>
                      <p:childTnLst>
                        <p:par>
                          <p:cTn id="40"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6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24" grpId="0" animBg="1"/>
      <p:bldP spid="25"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grpSp>
        <p:nvGrpSpPr>
          <p:cNvPr id="2" name="Ảnh Hà Nội"/>
          <p:cNvGrpSpPr/>
          <p:nvPr/>
        </p:nvGrpSpPr>
        <p:grpSpPr>
          <a:xfrm>
            <a:off x="0" y="0"/>
            <a:ext cx="6766560" cy="6858000"/>
            <a:chOff x="0" y="0"/>
            <a:chExt cx="6766560" cy="6858000"/>
          </a:xfrm>
        </p:grpSpPr>
        <p:pic>
          <p:nvPicPr>
            <p:cNvPr id="3" name="Ảnh – @HaNoi" descr="862983007c81c0df.jpg"/>
            <p:cNvPicPr>
              <a:picLocks noChangeAspect="1"/>
            </p:cNvPicPr>
            <p:nvPr/>
          </p:nvPicPr>
          <p:blipFill>
            <a:blip r:embed="rId2"/>
            <a:stretch>
              <a:fillRect/>
            </a:stretch>
          </p:blipFill>
          <p:spPr>
            <a:xfrm>
              <a:off x="0" y="0"/>
              <a:ext cx="6766560" cy="3291840"/>
            </a:xfrm>
            <a:prstGeom prst="rect">
              <a:avLst/>
            </a:prstGeom>
          </p:spPr>
        </p:pic>
        <p:pic>
          <p:nvPicPr>
            <p:cNvPr id="4" name="Ảnh – Ga Long Bien, Urban Discovery Tour, Hanoi" descr="e25396eca86469fa.jpg"/>
            <p:cNvPicPr>
              <a:picLocks noChangeAspect="1"/>
            </p:cNvPicPr>
            <p:nvPr/>
          </p:nvPicPr>
          <p:blipFill>
            <a:blip r:embed="rId3"/>
            <a:stretch>
              <a:fillRect/>
            </a:stretch>
          </p:blipFill>
          <p:spPr>
            <a:xfrm>
              <a:off x="0" y="3383280"/>
              <a:ext cx="3337560" cy="3474720"/>
            </a:xfrm>
            <a:prstGeom prst="rect">
              <a:avLst/>
            </a:prstGeom>
          </p:spPr>
        </p:pic>
        <p:pic>
          <p:nvPicPr>
            <p:cNvPr id="5" name="Ảnh – Hanoi" descr="7423b6459cb1d8ab.jpg"/>
            <p:cNvPicPr>
              <a:picLocks noChangeAspect="1"/>
            </p:cNvPicPr>
            <p:nvPr/>
          </p:nvPicPr>
          <p:blipFill>
            <a:blip r:embed="rId4"/>
            <a:stretch>
              <a:fillRect/>
            </a:stretch>
          </p:blipFill>
          <p:spPr>
            <a:xfrm>
              <a:off x="3429000" y="3383280"/>
              <a:ext cx="3337560" cy="3474720"/>
            </a:xfrm>
            <a:prstGeom prst="rect">
              <a:avLst/>
            </a:prstGeom>
          </p:spPr>
        </p:pic>
        <p:sp>
          <p:nvSpPr>
            <p:cNvPr id="6" name="TextBox 5"/>
            <p:cNvSpPr txBox="1"/>
            <p:nvPr/>
          </p:nvSpPr>
          <p:spPr>
            <a:xfrm>
              <a:off x="320040" y="2834640"/>
              <a:ext cx="3017520" cy="274320"/>
            </a:xfrm>
            <a:prstGeom prst="rect">
              <a:avLst/>
            </a:prstGeom>
            <a:noFill/>
          </p:spPr>
          <p:txBody>
            <a:bodyPr wrap="square" anchor="t" lIns="0" rIns="0" tIns="0" bIns="0">
              <a:spAutoFit/>
            </a:bodyPr>
            <a:lstStyle/>
            <a:p>
              <a:pPr algn="l"/>
              <a:r>
                <a:rPr sz="1100" b="1" i="0">
                  <a:solidFill>
                    <a:srgbClr val="F4F0E8"/>
                  </a:solidFill>
                  <a:latin typeface="Arial"/>
                </a:rPr>
                <a:t>Toàn cảnh Hà Nội lúc chiều tối</a:t>
              </a:r>
            </a:p>
          </p:txBody>
        </p:sp>
        <p:sp>
          <p:nvSpPr>
            <p:cNvPr id="7" name="TextBox 6"/>
            <p:cNvSpPr txBox="1"/>
            <p:nvPr/>
          </p:nvSpPr>
          <p:spPr>
            <a:xfrm>
              <a:off x="320040" y="6355080"/>
              <a:ext cx="3017520" cy="274320"/>
            </a:xfrm>
            <a:prstGeom prst="rect">
              <a:avLst/>
            </a:prstGeom>
            <a:noFill/>
          </p:spPr>
          <p:txBody>
            <a:bodyPr wrap="square" anchor="t" lIns="0" rIns="0" tIns="0" bIns="0">
              <a:spAutoFit/>
            </a:bodyPr>
            <a:lstStyle/>
            <a:p>
              <a:pPr algn="l"/>
              <a:r>
                <a:rPr sz="1100" b="1" i="0">
                  <a:solidFill>
                    <a:srgbClr val="F4F0E8"/>
                  </a:solidFill>
                  <a:latin typeface="Arial"/>
                </a:rPr>
                <a:t>Ga Long Biên</a:t>
              </a:r>
            </a:p>
          </p:txBody>
        </p:sp>
        <p:sp>
          <p:nvSpPr>
            <p:cNvPr id="8" name="TextBox 7"/>
            <p:cNvSpPr txBox="1"/>
            <p:nvPr/>
          </p:nvSpPr>
          <p:spPr>
            <a:xfrm>
              <a:off x="3749039" y="6355080"/>
              <a:ext cx="3017520" cy="274320"/>
            </a:xfrm>
            <a:prstGeom prst="rect">
              <a:avLst/>
            </a:prstGeom>
            <a:noFill/>
          </p:spPr>
          <p:txBody>
            <a:bodyPr wrap="square" anchor="t" lIns="0" rIns="0" tIns="0" bIns="0">
              <a:spAutoFit/>
            </a:bodyPr>
            <a:lstStyle/>
            <a:p>
              <a:pPr algn="l"/>
              <a:r>
                <a:rPr sz="1100" b="1" i="0">
                  <a:solidFill>
                    <a:srgbClr val="F4F0E8"/>
                  </a:solidFill>
                  <a:latin typeface="Arial"/>
                </a:rPr>
                <a:t>Phố cổ, quanh hồ Hoàn Kiếm</a:t>
              </a:r>
            </a:p>
          </p:txBody>
        </p:sp>
      </p:grpSp>
      <p:sp>
        <p:nvSpPr>
          <p:cNvPr id="9" name="!!kicker"/>
          <p:cNvSpPr txBox="1"/>
          <p:nvPr/>
        </p:nvSpPr>
        <p:spPr>
          <a:xfrm>
            <a:off x="726948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04</a:t>
            </a:r>
            <a:r>
              <a:rPr sz="1100" b="1" i="0" spc="300">
                <a:solidFill>
                  <a:srgbClr val="8993A4"/>
                </a:solidFill>
                <a:latin typeface="Arial"/>
              </a:rPr>
              <a:t>  —  BỐI CẢNH</a:t>
            </a:r>
          </a:p>
        </p:txBody>
      </p:sp>
      <p:sp>
        <p:nvSpPr>
          <p:cNvPr id="10"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04 / 15</a:t>
            </a:r>
          </a:p>
        </p:txBody>
      </p:sp>
      <p:sp>
        <p:nvSpPr>
          <p:cNvPr id="11" name="!!title"/>
          <p:cNvSpPr txBox="1"/>
          <p:nvPr/>
        </p:nvSpPr>
        <p:spPr>
          <a:xfrm>
            <a:off x="7269480" y="777240"/>
            <a:ext cx="4434840" cy="1188720"/>
          </a:xfrm>
          <a:prstGeom prst="rect">
            <a:avLst/>
          </a:prstGeom>
          <a:noFill/>
        </p:spPr>
        <p:txBody>
          <a:bodyPr wrap="square" anchor="t" lIns="0" rIns="0" tIns="0" bIns="0">
            <a:spAutoFit/>
          </a:bodyPr>
          <a:lstStyle/>
          <a:p>
            <a:pPr algn="l">
              <a:lnSpc>
                <a:spcPct val="105000"/>
              </a:lnSpc>
            </a:pPr>
            <a:r>
              <a:rPr sz="3200" b="0" i="0">
                <a:solidFill>
                  <a:srgbClr val="F4F0E8"/>
                </a:solidFill>
                <a:latin typeface="Be Vietnam Pro ExtraBold"/>
              </a:rPr>
              <a:t>Vì sao Hà Nội cần quan tâm?</a:t>
            </a:r>
          </a:p>
        </p:txBody>
      </p:sp>
      <p:grpSp>
        <p:nvGrpSpPr>
          <p:cNvPr id="12" name="Yếu tố Hà Nội 1"/>
          <p:cNvGrpSpPr/>
          <p:nvPr/>
        </p:nvGrpSpPr>
        <p:grpSpPr>
          <a:xfrm>
            <a:off x="7269480" y="2103120"/>
            <a:ext cx="4434840" cy="777240"/>
            <a:chOff x="7269480" y="2103120"/>
            <a:chExt cx="4434840" cy="777240"/>
          </a:xfrm>
        </p:grpSpPr>
        <p:sp>
          <p:nvSpPr>
            <p:cNvPr id="13" name="TextBox 12"/>
            <p:cNvSpPr txBox="1"/>
            <p:nvPr/>
          </p:nvSpPr>
          <p:spPr>
            <a:xfrm>
              <a:off x="7269480" y="2103120"/>
              <a:ext cx="548640" cy="365760"/>
            </a:xfrm>
            <a:prstGeom prst="rect">
              <a:avLst/>
            </a:prstGeom>
            <a:noFill/>
          </p:spPr>
          <p:txBody>
            <a:bodyPr wrap="square" anchor="t" lIns="0" rIns="0" tIns="0" bIns="0">
              <a:spAutoFit/>
            </a:bodyPr>
            <a:lstStyle/>
            <a:p>
              <a:pPr algn="l"/>
              <a:r>
                <a:rPr sz="1800" b="0" i="0">
                  <a:solidFill>
                    <a:srgbClr val="C83B45"/>
                  </a:solidFill>
                  <a:latin typeface="Be Vietnam Pro ExtraBold"/>
                </a:rPr>
                <a:t>01</a:t>
              </a:r>
            </a:p>
          </p:txBody>
        </p:sp>
        <p:sp>
          <p:nvSpPr>
            <p:cNvPr id="14" name="TextBox 13"/>
            <p:cNvSpPr txBox="1"/>
            <p:nvPr/>
          </p:nvSpPr>
          <p:spPr>
            <a:xfrm>
              <a:off x="7863840" y="2103120"/>
              <a:ext cx="3840480" cy="777240"/>
            </a:xfrm>
            <a:prstGeom prst="rect">
              <a:avLst/>
            </a:prstGeom>
            <a:noFill/>
          </p:spPr>
          <p:txBody>
            <a:bodyPr wrap="square" anchor="t" lIns="0" rIns="0" tIns="0" bIns="0">
              <a:spAutoFit/>
            </a:bodyPr>
            <a:lstStyle/>
            <a:p>
              <a:pPr algn="l">
                <a:lnSpc>
                  <a:spcPct val="105000"/>
                </a:lnSpc>
              </a:pPr>
              <a:r>
                <a:rPr sz="1500" b="1" i="0">
                  <a:solidFill>
                    <a:srgbClr val="F4F0E8"/>
                  </a:solidFill>
                  <a:latin typeface="Be Vietnam Pro"/>
                </a:rPr>
                <a:t>Trung tâm việc làm, học tập</a:t>
              </a:r>
            </a:p>
            <a:p>
              <a:pPr algn="l">
                <a:lnSpc>
                  <a:spcPct val="105000"/>
                </a:lnSpc>
              </a:pPr>
              <a:r>
                <a:rPr sz="1400" b="0" i="0">
                  <a:solidFill>
                    <a:srgbClr val="8993A4"/>
                  </a:solidFill>
                  <a:latin typeface="Arial"/>
                </a:rPr>
                <a:t>Thu hút rất nhiều người trẻ từ nơi khác đến tìm cơ hội.</a:t>
              </a:r>
            </a:p>
          </p:txBody>
        </p:sp>
      </p:grpSp>
      <p:grpSp>
        <p:nvGrpSpPr>
          <p:cNvPr id="15" name="Yếu tố Hà Nội 2"/>
          <p:cNvGrpSpPr/>
          <p:nvPr/>
        </p:nvGrpSpPr>
        <p:grpSpPr>
          <a:xfrm>
            <a:off x="7269480" y="2971800"/>
            <a:ext cx="4434840" cy="777240"/>
            <a:chOff x="7269480" y="2971800"/>
            <a:chExt cx="4434840" cy="777240"/>
          </a:xfrm>
        </p:grpSpPr>
        <p:sp>
          <p:nvSpPr>
            <p:cNvPr id="16" name="TextBox 15"/>
            <p:cNvSpPr txBox="1"/>
            <p:nvPr/>
          </p:nvSpPr>
          <p:spPr>
            <a:xfrm>
              <a:off x="7269480" y="2971800"/>
              <a:ext cx="548640" cy="365760"/>
            </a:xfrm>
            <a:prstGeom prst="rect">
              <a:avLst/>
            </a:prstGeom>
            <a:noFill/>
          </p:spPr>
          <p:txBody>
            <a:bodyPr wrap="square" anchor="t" lIns="0" rIns="0" tIns="0" bIns="0">
              <a:spAutoFit/>
            </a:bodyPr>
            <a:lstStyle/>
            <a:p>
              <a:pPr algn="l"/>
              <a:r>
                <a:rPr sz="1800" b="0" i="0">
                  <a:solidFill>
                    <a:srgbClr val="C83B45"/>
                  </a:solidFill>
                  <a:latin typeface="Be Vietnam Pro ExtraBold"/>
                </a:rPr>
                <a:t>02</a:t>
              </a:r>
            </a:p>
          </p:txBody>
        </p:sp>
        <p:sp>
          <p:nvSpPr>
            <p:cNvPr id="17" name="TextBox 16"/>
            <p:cNvSpPr txBox="1"/>
            <p:nvPr/>
          </p:nvSpPr>
          <p:spPr>
            <a:xfrm>
              <a:off x="7863840" y="2971800"/>
              <a:ext cx="3840480" cy="777240"/>
            </a:xfrm>
            <a:prstGeom prst="rect">
              <a:avLst/>
            </a:prstGeom>
            <a:noFill/>
          </p:spPr>
          <p:txBody>
            <a:bodyPr wrap="square" anchor="t" lIns="0" rIns="0" tIns="0" bIns="0">
              <a:spAutoFit/>
            </a:bodyPr>
            <a:lstStyle/>
            <a:p>
              <a:pPr algn="l">
                <a:lnSpc>
                  <a:spcPct val="105000"/>
                </a:lnSpc>
              </a:pPr>
              <a:r>
                <a:rPr sz="1500" b="1" i="0">
                  <a:solidFill>
                    <a:srgbClr val="F4F0E8"/>
                  </a:solidFill>
                  <a:latin typeface="Be Vietnam Pro"/>
                </a:rPr>
                <a:t>Đầu mối giao thông lớn</a:t>
              </a:r>
            </a:p>
            <a:p>
              <a:pPr algn="l">
                <a:lnSpc>
                  <a:spcPct val="105000"/>
                </a:lnSpc>
              </a:pPr>
              <a:r>
                <a:rPr sz="1400" b="0" i="0">
                  <a:solidFill>
                    <a:srgbClr val="8993A4"/>
                  </a:solidFill>
                  <a:latin typeface="Arial"/>
                </a:rPr>
                <a:t>Nhà ga, bến xe, sân bay: di chuyển nhanh — kể cả với kẻ xấu.</a:t>
              </a:r>
            </a:p>
          </p:txBody>
        </p:sp>
      </p:grpSp>
      <p:grpSp>
        <p:nvGrpSpPr>
          <p:cNvPr id="18" name="Yếu tố Hà Nội 3"/>
          <p:cNvGrpSpPr/>
          <p:nvPr/>
        </p:nvGrpSpPr>
        <p:grpSpPr>
          <a:xfrm>
            <a:off x="7269480" y="3840479"/>
            <a:ext cx="4434840" cy="777240"/>
            <a:chOff x="7269480" y="3840479"/>
            <a:chExt cx="4434840" cy="777240"/>
          </a:xfrm>
        </p:grpSpPr>
        <p:sp>
          <p:nvSpPr>
            <p:cNvPr id="19" name="TextBox 18"/>
            <p:cNvSpPr txBox="1"/>
            <p:nvPr/>
          </p:nvSpPr>
          <p:spPr>
            <a:xfrm>
              <a:off x="7269480" y="3840479"/>
              <a:ext cx="548640" cy="365760"/>
            </a:xfrm>
            <a:prstGeom prst="rect">
              <a:avLst/>
            </a:prstGeom>
            <a:noFill/>
          </p:spPr>
          <p:txBody>
            <a:bodyPr wrap="square" anchor="t" lIns="0" rIns="0" tIns="0" bIns="0">
              <a:spAutoFit/>
            </a:bodyPr>
            <a:lstStyle/>
            <a:p>
              <a:pPr algn="l"/>
              <a:r>
                <a:rPr sz="1800" b="0" i="0">
                  <a:solidFill>
                    <a:srgbClr val="C83B45"/>
                  </a:solidFill>
                  <a:latin typeface="Be Vietnam Pro ExtraBold"/>
                </a:rPr>
                <a:t>03</a:t>
              </a:r>
            </a:p>
          </p:txBody>
        </p:sp>
        <p:sp>
          <p:nvSpPr>
            <p:cNvPr id="20" name="TextBox 19"/>
            <p:cNvSpPr txBox="1"/>
            <p:nvPr/>
          </p:nvSpPr>
          <p:spPr>
            <a:xfrm>
              <a:off x="7863840" y="3840479"/>
              <a:ext cx="3840480" cy="777240"/>
            </a:xfrm>
            <a:prstGeom prst="rect">
              <a:avLst/>
            </a:prstGeom>
            <a:noFill/>
          </p:spPr>
          <p:txBody>
            <a:bodyPr wrap="square" anchor="t" lIns="0" rIns="0" tIns="0" bIns="0">
              <a:spAutoFit/>
            </a:bodyPr>
            <a:lstStyle/>
            <a:p>
              <a:pPr algn="l">
                <a:lnSpc>
                  <a:spcPct val="105000"/>
                </a:lnSpc>
              </a:pPr>
              <a:r>
                <a:rPr sz="1500" b="1" i="0">
                  <a:solidFill>
                    <a:srgbClr val="F4F0E8"/>
                  </a:solidFill>
                  <a:latin typeface="Be Vietnam Pro"/>
                </a:rPr>
                <a:t>Môi trường mạng dày đặc</a:t>
              </a:r>
            </a:p>
            <a:p>
              <a:pPr algn="l">
                <a:lnSpc>
                  <a:spcPct val="105000"/>
                </a:lnSpc>
              </a:pPr>
              <a:r>
                <a:rPr sz="1400" b="0" i="0">
                  <a:solidFill>
                    <a:srgbClr val="8993A4"/>
                  </a:solidFill>
                  <a:latin typeface="Arial"/>
                </a:rPr>
                <a:t>Tin tuyển dụng, hội nhóm việc làm lan truyền rất nhanh.</a:t>
              </a:r>
            </a:p>
          </p:txBody>
        </p:sp>
      </p:grpSp>
      <p:grpSp>
        <p:nvGrpSpPr>
          <p:cNvPr id="21" name="Yếu tố Hà Nội 4"/>
          <p:cNvGrpSpPr/>
          <p:nvPr/>
        </p:nvGrpSpPr>
        <p:grpSpPr>
          <a:xfrm>
            <a:off x="7269480" y="4709159"/>
            <a:ext cx="4434840" cy="777240"/>
            <a:chOff x="7269480" y="4709159"/>
            <a:chExt cx="4434840" cy="777240"/>
          </a:xfrm>
        </p:grpSpPr>
        <p:sp>
          <p:nvSpPr>
            <p:cNvPr id="22" name="TextBox 21"/>
            <p:cNvSpPr txBox="1"/>
            <p:nvPr/>
          </p:nvSpPr>
          <p:spPr>
            <a:xfrm>
              <a:off x="7269480" y="4709159"/>
              <a:ext cx="548640" cy="365760"/>
            </a:xfrm>
            <a:prstGeom prst="rect">
              <a:avLst/>
            </a:prstGeom>
            <a:noFill/>
          </p:spPr>
          <p:txBody>
            <a:bodyPr wrap="square" anchor="t" lIns="0" rIns="0" tIns="0" bIns="0">
              <a:spAutoFit/>
            </a:bodyPr>
            <a:lstStyle/>
            <a:p>
              <a:pPr algn="l"/>
              <a:r>
                <a:rPr sz="1800" b="0" i="0">
                  <a:solidFill>
                    <a:srgbClr val="C83B45"/>
                  </a:solidFill>
                  <a:latin typeface="Be Vietnam Pro ExtraBold"/>
                </a:rPr>
                <a:t>04</a:t>
              </a:r>
            </a:p>
          </p:txBody>
        </p:sp>
        <p:sp>
          <p:nvSpPr>
            <p:cNvPr id="23" name="TextBox 22"/>
            <p:cNvSpPr txBox="1"/>
            <p:nvPr/>
          </p:nvSpPr>
          <p:spPr>
            <a:xfrm>
              <a:off x="7863840" y="4709159"/>
              <a:ext cx="3840480" cy="777240"/>
            </a:xfrm>
            <a:prstGeom prst="rect">
              <a:avLst/>
            </a:prstGeom>
            <a:noFill/>
          </p:spPr>
          <p:txBody>
            <a:bodyPr wrap="square" anchor="t" lIns="0" rIns="0" tIns="0" bIns="0">
              <a:spAutoFit/>
            </a:bodyPr>
            <a:lstStyle/>
            <a:p>
              <a:pPr algn="l">
                <a:lnSpc>
                  <a:spcPct val="105000"/>
                </a:lnSpc>
              </a:pPr>
              <a:r>
                <a:rPr sz="1500" b="1" i="0">
                  <a:solidFill>
                    <a:srgbClr val="F4F0E8"/>
                  </a:solidFill>
                  <a:latin typeface="Be Vietnam Pro"/>
                </a:rPr>
                <a:t>Người mới lập nghiệp dễ cả tin</a:t>
              </a:r>
            </a:p>
            <a:p>
              <a:pPr algn="l">
                <a:lnSpc>
                  <a:spcPct val="105000"/>
                </a:lnSpc>
              </a:pPr>
              <a:r>
                <a:rPr sz="1400" b="0" i="0">
                  <a:solidFill>
                    <a:srgbClr val="8993A4"/>
                  </a:solidFill>
                  <a:latin typeface="Arial"/>
                </a:rPr>
                <a:t>Thiếu kinh nghiệm, thiếu người thân bên cạnh để hỏi ý kiến.</a:t>
              </a:r>
            </a:p>
          </p:txBody>
        </p:sp>
      </p:grpSp>
      <p:sp>
        <p:nvSpPr>
          <p:cNvPr id="24" name="TextBox 23"/>
          <p:cNvSpPr txBox="1"/>
          <p:nvPr/>
        </p:nvSpPr>
        <p:spPr>
          <a:xfrm>
            <a:off x="7269480" y="5623560"/>
            <a:ext cx="4434840" cy="685800"/>
          </a:xfrm>
          <a:prstGeom prst="rect">
            <a:avLst/>
          </a:prstGeom>
          <a:noFill/>
        </p:spPr>
        <p:txBody>
          <a:bodyPr wrap="square" anchor="t" lIns="0" rIns="0" tIns="0" bIns="0">
            <a:spAutoFit/>
          </a:bodyPr>
          <a:lstStyle/>
          <a:p>
            <a:pPr algn="l"/>
            <a:r>
              <a:rPr sz="1200" b="0" i="1">
                <a:solidFill>
                  <a:srgbClr val="C6A56B"/>
                </a:solidFill>
                <a:latin typeface="Arial"/>
              </a:rPr>
              <a:t>Lưu ý: chưa có dữ liệu cho thấy Hà Nội có tỷ lệ mua bán người cao nhất cả nước; điều đáng lo là mức độ tiếp xúc với nguy cơ.</a:t>
            </a:r>
          </a:p>
        </p:txBody>
      </p:sp>
      <p:sp>
        <p:nvSpPr>
          <p:cNvPr id="25" name="Ghi công ảnh"/>
          <p:cNvSpPr txBox="1"/>
          <p:nvPr/>
        </p:nvSpPr>
        <p:spPr>
          <a:xfrm>
            <a:off x="7269480" y="6355080"/>
            <a:ext cx="3337560" cy="274320"/>
          </a:xfrm>
          <a:prstGeom prst="rect">
            <a:avLst/>
          </a:prstGeom>
          <a:noFill/>
        </p:spPr>
        <p:txBody>
          <a:bodyPr wrap="square" anchor="t" lIns="0" rIns="0" tIns="0" bIns="0">
            <a:spAutoFit/>
          </a:bodyPr>
          <a:lstStyle/>
          <a:p>
            <a:pPr algn="l"/>
            <a:r>
              <a:rPr sz="1000" b="0" i="0">
                <a:solidFill>
                  <a:srgbClr val="8993A4"/>
                </a:solidFill>
                <a:latin typeface="Arial"/>
              </a:rPr>
              <a:t>Ảnh: Leo Chuối; David McKelvey; Andrea Schaffer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800">
        <p:push dir="u"/>
      </p:transition>
    </mc:Choice>
    <mc:Fallback>
      <p:transition spd="med">
        <p:push dir="u"/>
      </p:transition>
    </mc:Fallback>
  </mc:AlternateContent>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13"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6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6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600"/>
                                        <p:tgtEl>
                                          <p:spTgt spid="12"/>
                                        </p:tgtEl>
                                      </p:cBhvr>
                                    </p:animEffect>
                                  </p:childTnLst>
                                </p:cTn>
                              </p:par>
                            </p:childTnLst>
                          </p:cTn>
                        </p:par>
                      </p:childTnLst>
                    </p:cTn>
                  </p:par>
                  <p:par>
                    <p:cTn id="22" fill="hold">
                      <p:stCondLst>
                        <p:cond delay="indefinite"/>
                      </p:stCondLst>
                      <p:childTnLst>
                        <p:par>
                          <p:cTn id="23"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6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600"/>
                                        <p:tgtEl>
                                          <p:spTgt spid="18"/>
                                        </p:tgtEl>
                                      </p:cBhvr>
                                    </p:animEffect>
                                  </p:childTnLst>
                                </p:cTn>
                              </p:par>
                            </p:childTnLst>
                          </p:cTn>
                        </p:par>
                      </p:childTnLst>
                    </p:cTn>
                  </p:par>
                  <p:par>
                    <p:cTn id="32" fill="hold">
                      <p:stCondLst>
                        <p:cond delay="indefinite"/>
                      </p:stCondLst>
                      <p:childTnLst>
                        <p:par>
                          <p:cTn id="3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6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2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Roundabout at the north end of Hoan Kiem Lake" descr="17378ce079b06369.jpg"/>
          <p:cNvPicPr>
            <a:picLocks noChangeAspect="1"/>
          </p:cNvPicPr>
          <p:nvPr/>
        </p:nvPicPr>
        <p:blipFill>
          <a:blip r:embed="rId2"/>
          <a:stretch>
            <a:fillRect/>
          </a:stretch>
        </p:blipFill>
        <p:spPr>
          <a:xfrm>
            <a:off x="0" y="0"/>
            <a:ext cx="2743200" cy="6858000"/>
          </a:xfrm>
          <a:prstGeom prst="rect">
            <a:avLst/>
          </a:prstGeom>
        </p:spPr>
      </p:pic>
      <p:sp>
        <p:nvSpPr>
          <p:cNvPr id="3" name="!!kicker"/>
          <p:cNvSpPr txBox="1"/>
          <p:nvPr/>
        </p:nvSpPr>
        <p:spPr>
          <a:xfrm>
            <a:off x="32918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05</a:t>
            </a:r>
            <a:r>
              <a:rPr sz="1100" b="1" i="0" spc="300">
                <a:solidFill>
                  <a:srgbClr val="8993A4"/>
                </a:solidFill>
                <a:latin typeface="Arial"/>
              </a:rPr>
              <a:t>  —  THỰC TRẠNG</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05 / 15</a:t>
            </a:r>
          </a:p>
        </p:txBody>
      </p:sp>
      <p:sp>
        <p:nvSpPr>
          <p:cNvPr id="5" name="!!title"/>
          <p:cNvSpPr txBox="1"/>
          <p:nvPr/>
        </p:nvSpPr>
        <p:spPr>
          <a:xfrm>
            <a:off x="3291840" y="777240"/>
            <a:ext cx="8321040" cy="685800"/>
          </a:xfrm>
          <a:prstGeom prst="rect">
            <a:avLst/>
          </a:prstGeom>
          <a:noFill/>
        </p:spPr>
        <p:txBody>
          <a:bodyPr wrap="square" anchor="t" lIns="0" rIns="0" tIns="0" bIns="0">
            <a:spAutoFit/>
          </a:bodyPr>
          <a:lstStyle/>
          <a:p>
            <a:pPr algn="l">
              <a:lnSpc>
                <a:spcPct val="105000"/>
              </a:lnSpc>
            </a:pPr>
            <a:r>
              <a:rPr sz="3400" b="0" i="0">
                <a:solidFill>
                  <a:srgbClr val="F4F0E8"/>
                </a:solidFill>
                <a:latin typeface="Be Vietnam Pro ExtraBold"/>
              </a:rPr>
              <a:t>Con số phía sau những cạm bẫy</a:t>
            </a:r>
          </a:p>
        </p:txBody>
      </p:sp>
      <p:sp>
        <p:nvSpPr>
          <p:cNvPr id="6" name="TextBox 5"/>
          <p:cNvSpPr txBox="1"/>
          <p:nvPr/>
        </p:nvSpPr>
        <p:spPr>
          <a:xfrm>
            <a:off x="3291840" y="1463040"/>
            <a:ext cx="8366760" cy="411480"/>
          </a:xfrm>
          <a:prstGeom prst="rect">
            <a:avLst/>
          </a:prstGeom>
          <a:noFill/>
        </p:spPr>
        <p:txBody>
          <a:bodyPr wrap="square" anchor="t" lIns="0" rIns="0" tIns="0" bIns="0">
            <a:spAutoFit/>
          </a:bodyPr>
          <a:lstStyle/>
          <a:p>
            <a:pPr algn="l"/>
            <a:r>
              <a:rPr sz="1400" b="0" i="0">
                <a:solidFill>
                  <a:srgbClr val="8993A4"/>
                </a:solidFill>
                <a:latin typeface="Arial"/>
              </a:rPr>
              <a:t>Chưa có số liệu công khai riêng của Hà Nội 2024–2025 → dùng số liệu toàn quốc (Bộ Công an).</a:t>
            </a:r>
          </a:p>
        </p:txBody>
      </p:sp>
      <p:grpSp>
        <p:nvGrpSpPr>
          <p:cNvPr id="7" name="Số liệu nổi bật 2024"/>
          <p:cNvGrpSpPr/>
          <p:nvPr/>
        </p:nvGrpSpPr>
        <p:grpSpPr>
          <a:xfrm>
            <a:off x="3291840" y="2103120"/>
            <a:ext cx="3383280" cy="2724912"/>
            <a:chOff x="3291840" y="2103120"/>
            <a:chExt cx="3383280" cy="2724912"/>
          </a:xfrm>
        </p:grpSpPr>
        <p:sp>
          <p:nvSpPr>
            <p:cNvPr id="8" name="TextBox 7"/>
            <p:cNvSpPr txBox="1"/>
            <p:nvPr/>
          </p:nvSpPr>
          <p:spPr>
            <a:xfrm>
              <a:off x="3291840" y="2103120"/>
              <a:ext cx="3383280" cy="868680"/>
            </a:xfrm>
            <a:prstGeom prst="rect">
              <a:avLst/>
            </a:prstGeom>
            <a:noFill/>
          </p:spPr>
          <p:txBody>
            <a:bodyPr wrap="square" anchor="t" lIns="0" rIns="0" tIns="0" bIns="0">
              <a:spAutoFit/>
            </a:bodyPr>
            <a:lstStyle/>
            <a:p>
              <a:pPr algn="l">
                <a:lnSpc>
                  <a:spcPct val="90000"/>
                </a:lnSpc>
              </a:pPr>
              <a:r>
                <a:rPr sz="6000" b="0" i="0">
                  <a:solidFill>
                    <a:srgbClr val="F4F0E8"/>
                  </a:solidFill>
                  <a:latin typeface="Be Vietnam Pro ExtraBold"/>
                </a:rPr>
                <a:t>163</a:t>
              </a:r>
            </a:p>
          </p:txBody>
        </p:sp>
        <p:sp>
          <p:nvSpPr>
            <p:cNvPr id="9" name="TextBox 8"/>
            <p:cNvSpPr txBox="1"/>
            <p:nvPr/>
          </p:nvSpPr>
          <p:spPr>
            <a:xfrm>
              <a:off x="3291840" y="2999232"/>
              <a:ext cx="3383280" cy="365760"/>
            </a:xfrm>
            <a:prstGeom prst="rect">
              <a:avLst/>
            </a:prstGeom>
            <a:noFill/>
          </p:spPr>
          <p:txBody>
            <a:bodyPr wrap="square" anchor="t" lIns="0" rIns="0" tIns="0" bIns="0">
              <a:spAutoFit/>
            </a:bodyPr>
            <a:lstStyle/>
            <a:p>
              <a:pPr algn="l"/>
              <a:r>
                <a:rPr sz="1400" b="0" i="0">
                  <a:solidFill>
                    <a:srgbClr val="8993A4"/>
                  </a:solidFill>
                  <a:latin typeface="Arial"/>
                </a:rPr>
                <a:t>vụ mua bán người được điều tra, xử lý</a:t>
              </a:r>
            </a:p>
          </p:txBody>
        </p:sp>
        <p:sp>
          <p:nvSpPr>
            <p:cNvPr id="10" name="TextBox 9"/>
            <p:cNvSpPr txBox="1"/>
            <p:nvPr/>
          </p:nvSpPr>
          <p:spPr>
            <a:xfrm>
              <a:off x="3291840" y="3566160"/>
              <a:ext cx="3383280" cy="868680"/>
            </a:xfrm>
            <a:prstGeom prst="rect">
              <a:avLst/>
            </a:prstGeom>
            <a:noFill/>
          </p:spPr>
          <p:txBody>
            <a:bodyPr wrap="square" anchor="t" lIns="0" rIns="0" tIns="0" bIns="0">
              <a:spAutoFit/>
            </a:bodyPr>
            <a:lstStyle/>
            <a:p>
              <a:pPr algn="l">
                <a:lnSpc>
                  <a:spcPct val="90000"/>
                </a:lnSpc>
              </a:pPr>
              <a:r>
                <a:rPr sz="6000" b="0" i="0">
                  <a:solidFill>
                    <a:srgbClr val="C83B45"/>
                  </a:solidFill>
                  <a:latin typeface="Be Vietnam Pro ExtraBold"/>
                </a:rPr>
                <a:t>500</a:t>
              </a:r>
            </a:p>
          </p:txBody>
        </p:sp>
        <p:sp>
          <p:nvSpPr>
            <p:cNvPr id="11" name="TextBox 10"/>
            <p:cNvSpPr txBox="1"/>
            <p:nvPr/>
          </p:nvSpPr>
          <p:spPr>
            <a:xfrm>
              <a:off x="3291840" y="4462272"/>
              <a:ext cx="3383280" cy="365760"/>
            </a:xfrm>
            <a:prstGeom prst="rect">
              <a:avLst/>
            </a:prstGeom>
            <a:noFill/>
          </p:spPr>
          <p:txBody>
            <a:bodyPr wrap="square" anchor="t" lIns="0" rIns="0" tIns="0" bIns="0">
              <a:spAutoFit/>
            </a:bodyPr>
            <a:lstStyle/>
            <a:p>
              <a:pPr algn="l"/>
              <a:r>
                <a:rPr sz="1400" b="0" i="0">
                  <a:solidFill>
                    <a:srgbClr val="8993A4"/>
                  </a:solidFill>
                  <a:latin typeface="Arial"/>
                </a:rPr>
                <a:t>nạn nhân được xác định</a:t>
              </a:r>
            </a:p>
          </p:txBody>
        </p:sp>
      </p:grpSp>
      <p:graphicFrame>
        <p:nvGraphicFramePr>
          <p:cNvPr id="12" name="Biểu đồ số liệu 2024"/>
          <p:cNvGraphicFramePr>
            <a:graphicFrameLocks noGrp="1"/>
          </p:cNvGraphicFramePr>
          <p:nvPr/>
        </p:nvGraphicFramePr>
        <p:xfrm>
          <a:off x="6812280" y="2240280"/>
          <a:ext cx="4846320" cy="2788920"/>
        </p:xfrm>
        <a:graphic>
          <a:graphicData uri="http://schemas.openxmlformats.org/drawingml/2006/chart">
            <c:chart xmlns:c="http://schemas.openxmlformats.org/drawingml/2006/chart" r:id="rId3"/>
          </a:graphicData>
        </a:graphic>
      </p:graphicFrame>
      <p:sp>
        <p:nvSpPr>
          <p:cNvPr id="13" name="TextBox 12"/>
          <p:cNvSpPr txBox="1"/>
          <p:nvPr/>
        </p:nvSpPr>
        <p:spPr>
          <a:xfrm>
            <a:off x="6903720" y="1965960"/>
            <a:ext cx="4754880" cy="274320"/>
          </a:xfrm>
          <a:prstGeom prst="rect">
            <a:avLst/>
          </a:prstGeom>
          <a:noFill/>
        </p:spPr>
        <p:txBody>
          <a:bodyPr wrap="square" anchor="t" lIns="0" rIns="0" tIns="0" bIns="0">
            <a:spAutoFit/>
          </a:bodyPr>
          <a:lstStyle/>
          <a:p>
            <a:pPr algn="l"/>
            <a:r>
              <a:rPr sz="1000" b="1" i="0" spc="150">
                <a:solidFill>
                  <a:srgbClr val="C6A56B"/>
                </a:solidFill>
                <a:latin typeface="Arial"/>
              </a:rPr>
              <a:t>NĂM 2024  ·  TOÀN QUỐC  ·  NGUỒN: BỘ CÔNG AN</a:t>
            </a:r>
          </a:p>
        </p:txBody>
      </p:sp>
      <p:grpSp>
        <p:nvGrpSpPr>
          <p:cNvPr id="14" name="Các chỉ số khác"/>
          <p:cNvGrpSpPr/>
          <p:nvPr/>
        </p:nvGrpSpPr>
        <p:grpSpPr>
          <a:xfrm>
            <a:off x="3291840" y="5166360"/>
            <a:ext cx="8321040" cy="1005840"/>
            <a:chOff x="3291840" y="5166360"/>
            <a:chExt cx="8321040" cy="1005840"/>
          </a:xfrm>
        </p:grpSpPr>
        <p:sp>
          <p:nvSpPr>
            <p:cNvPr id="15" name="TextBox 14"/>
            <p:cNvSpPr txBox="1"/>
            <p:nvPr/>
          </p:nvSpPr>
          <p:spPr>
            <a:xfrm>
              <a:off x="3291840" y="5166360"/>
              <a:ext cx="2651760" cy="502920"/>
            </a:xfrm>
            <a:prstGeom prst="rect">
              <a:avLst/>
            </a:prstGeom>
            <a:noFill/>
          </p:spPr>
          <p:txBody>
            <a:bodyPr wrap="square" anchor="t" lIns="0" rIns="0" tIns="0" bIns="0">
              <a:spAutoFit/>
            </a:bodyPr>
            <a:lstStyle/>
            <a:p>
              <a:pPr algn="l"/>
              <a:r>
                <a:rPr sz="2800" b="0" i="0">
                  <a:solidFill>
                    <a:srgbClr val="C6A56B"/>
                  </a:solidFill>
                  <a:latin typeface="Be Vietnam Pro ExtraBold"/>
                </a:rPr>
                <a:t>≈ 65%</a:t>
              </a:r>
            </a:p>
          </p:txBody>
        </p:sp>
        <p:sp>
          <p:nvSpPr>
            <p:cNvPr id="16" name="TextBox 15"/>
            <p:cNvSpPr txBox="1"/>
            <p:nvPr/>
          </p:nvSpPr>
          <p:spPr>
            <a:xfrm>
              <a:off x="3291840" y="5669280"/>
              <a:ext cx="2651760" cy="50292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nạn nhân là nữ giới (quý I/2025)</a:t>
              </a:r>
            </a:p>
          </p:txBody>
        </p:sp>
        <p:sp>
          <p:nvSpPr>
            <p:cNvPr id="17" name="TextBox 16"/>
            <p:cNvSpPr txBox="1"/>
            <p:nvPr/>
          </p:nvSpPr>
          <p:spPr>
            <a:xfrm>
              <a:off x="6126480" y="5166360"/>
              <a:ext cx="2651760" cy="502920"/>
            </a:xfrm>
            <a:prstGeom prst="rect">
              <a:avLst/>
            </a:prstGeom>
            <a:noFill/>
          </p:spPr>
          <p:txBody>
            <a:bodyPr wrap="square" anchor="t" lIns="0" rIns="0" tIns="0" bIns="0">
              <a:spAutoFit/>
            </a:bodyPr>
            <a:lstStyle/>
            <a:p>
              <a:pPr algn="l"/>
              <a:r>
                <a:rPr sz="2800" b="0" i="0">
                  <a:solidFill>
                    <a:srgbClr val="C6A56B"/>
                  </a:solidFill>
                  <a:latin typeface="Be Vietnam Pro ExtraBold"/>
                </a:rPr>
                <a:t>&gt; 44%</a:t>
              </a:r>
            </a:p>
          </p:txBody>
        </p:sp>
        <p:sp>
          <p:nvSpPr>
            <p:cNvPr id="18" name="TextBox 17"/>
            <p:cNvSpPr txBox="1"/>
            <p:nvPr/>
          </p:nvSpPr>
          <p:spPr>
            <a:xfrm>
              <a:off x="6126480" y="5669280"/>
              <a:ext cx="2651760" cy="50292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nạn nhân dưới 16 tuổi (quý I/2025)</a:t>
              </a:r>
            </a:p>
          </p:txBody>
        </p:sp>
        <p:sp>
          <p:nvSpPr>
            <p:cNvPr id="19" name="TextBox 18"/>
            <p:cNvSpPr txBox="1"/>
            <p:nvPr/>
          </p:nvSpPr>
          <p:spPr>
            <a:xfrm>
              <a:off x="8961120" y="5166360"/>
              <a:ext cx="2651760" cy="502920"/>
            </a:xfrm>
            <a:prstGeom prst="rect">
              <a:avLst/>
            </a:prstGeom>
            <a:noFill/>
          </p:spPr>
          <p:txBody>
            <a:bodyPr wrap="square" anchor="t" lIns="0" rIns="0" tIns="0" bIns="0">
              <a:spAutoFit/>
            </a:bodyPr>
            <a:lstStyle/>
            <a:p>
              <a:pPr algn="l"/>
              <a:r>
                <a:rPr sz="2800" b="0" i="0">
                  <a:solidFill>
                    <a:srgbClr val="C6A56B"/>
                  </a:solidFill>
                  <a:latin typeface="Be Vietnam Pro ExtraBold"/>
                </a:rPr>
                <a:t>100+</a:t>
              </a:r>
            </a:p>
          </p:txBody>
        </p:sp>
        <p:sp>
          <p:nvSpPr>
            <p:cNvPr id="20" name="TextBox 19"/>
            <p:cNvSpPr txBox="1"/>
            <p:nvPr/>
          </p:nvSpPr>
          <p:spPr>
            <a:xfrm>
              <a:off x="8961120" y="5669280"/>
              <a:ext cx="2651760" cy="50292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nạn nhân là nam giới, chỉ riêng quý III/2024</a:t>
              </a:r>
            </a:p>
          </p:txBody>
        </p:sp>
      </p:grpSp>
      <p:sp>
        <p:nvSpPr>
          <p:cNvPr id="21" name="TextBox 20"/>
          <p:cNvSpPr txBox="1"/>
          <p:nvPr/>
        </p:nvSpPr>
        <p:spPr>
          <a:xfrm>
            <a:off x="3291840" y="6263640"/>
            <a:ext cx="7498079" cy="411480"/>
          </a:xfrm>
          <a:prstGeom prst="rect">
            <a:avLst/>
          </a:prstGeom>
          <a:noFill/>
        </p:spPr>
        <p:txBody>
          <a:bodyPr wrap="square" anchor="t" lIns="0" rIns="0" tIns="0" bIns="0">
            <a:spAutoFit/>
          </a:bodyPr>
          <a:lstStyle/>
          <a:p>
            <a:pPr algn="l"/>
            <a:r>
              <a:rPr sz="1000" b="0" i="0">
                <a:solidFill>
                  <a:srgbClr val="8993A4"/>
                </a:solidFill>
                <a:latin typeface="Arial"/>
              </a:rPr>
              <a:t>Nguồn: Bộ Công an, dẫn theo Vietnamnet, An ninh Thủ đô (2025), Báo Lào Cai (2025), PLO (2024). Năm 2024: 163 vụ/455 đối tượng/500 nạn nhân; khởi tố mới 91 vụ/237 đối tượng/336 nạn nhân.</a:t>
            </a:r>
          </a:p>
        </p:txBody>
      </p:sp>
      <p:sp>
        <p:nvSpPr>
          <p:cNvPr id="22" name="Ghi công ảnh"/>
          <p:cNvSpPr txBox="1"/>
          <p:nvPr/>
        </p:nvSpPr>
        <p:spPr>
          <a:xfrm>
            <a:off x="274320" y="6419088"/>
            <a:ext cx="2377440" cy="274320"/>
          </a:xfrm>
          <a:prstGeom prst="rect">
            <a:avLst/>
          </a:prstGeom>
          <a:noFill/>
        </p:spPr>
        <p:txBody>
          <a:bodyPr wrap="square" anchor="t" lIns="0" rIns="0" tIns="0" bIns="0">
            <a:spAutoFit/>
          </a:bodyPr>
          <a:lstStyle/>
          <a:p>
            <a:pPr algn="l"/>
            <a:r>
              <a:rPr sz="1000" b="0" i="0">
                <a:solidFill>
                  <a:srgbClr val="8993A4"/>
                </a:solidFill>
                <a:latin typeface="Arial"/>
              </a:rPr>
              <a:t>Ảnh: Jorge Láscar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13"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childTnLst>
                    </p:cTn>
                  </p:par>
                  <p:par>
                    <p:cTn id="25" fill="hold">
                      <p:stCondLst>
                        <p:cond delay="indefinite"/>
                      </p:stCondLst>
                      <p:childTnLst>
                        <p:par>
                          <p:cTn id="26"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6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6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13"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71D"/>
        </a:solidFill>
        <a:effectLst/>
      </p:bgPr>
    </p:bg>
    <p:spTree>
      <p:nvGrpSpPr>
        <p:cNvPr id="1" name=""/>
        <p:cNvGrpSpPr/>
        <p:nvPr/>
      </p:nvGrpSpPr>
      <p:grpSpPr/>
      <p:pic>
        <p:nvPicPr>
          <p:cNvPr id="2" name="Ảnh – She seems to wear a watch only to job interviews." descr="b9429d082799d857.jpg"/>
          <p:cNvPicPr>
            <a:picLocks noChangeAspect="1"/>
          </p:cNvPicPr>
          <p:nvPr/>
        </p:nvPicPr>
        <p:blipFill>
          <a:blip r:embed="rId2"/>
          <a:stretch>
            <a:fillRect/>
          </a:stretch>
        </p:blipFill>
        <p:spPr>
          <a:xfrm>
            <a:off x="6583680" y="0"/>
            <a:ext cx="5608015" cy="6858000"/>
          </a:xfrm>
          <a:prstGeom prst="rect">
            <a:avLst/>
          </a:prstGeom>
        </p:spPr>
      </p:pic>
      <p:sp>
        <p:nvSpPr>
          <p:cNvPr id="3" name="!!kicker"/>
          <p:cNvSpPr txBox="1"/>
          <p:nvPr/>
        </p:nvSpPr>
        <p:spPr>
          <a:xfrm>
            <a:off x="5486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06</a:t>
            </a:r>
            <a:r>
              <a:rPr sz="1100" b="1" i="0" spc="300">
                <a:solidFill>
                  <a:srgbClr val="8993A4"/>
                </a:solidFill>
                <a:latin typeface="Arial"/>
              </a:rPr>
              <a:t>  —  THỦ ĐOẠN</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06 / 15</a:t>
            </a:r>
          </a:p>
        </p:txBody>
      </p:sp>
      <p:sp>
        <p:nvSpPr>
          <p:cNvPr id="5" name="!!title"/>
          <p:cNvSpPr txBox="1"/>
          <p:nvPr/>
        </p:nvSpPr>
        <p:spPr>
          <a:xfrm>
            <a:off x="548640" y="777240"/>
            <a:ext cx="5852160" cy="1188720"/>
          </a:xfrm>
          <a:prstGeom prst="rect">
            <a:avLst/>
          </a:prstGeom>
          <a:noFill/>
        </p:spPr>
        <p:txBody>
          <a:bodyPr wrap="square" anchor="t" lIns="0" rIns="0" tIns="0" bIns="0">
            <a:spAutoFit/>
          </a:bodyPr>
          <a:lstStyle/>
          <a:p>
            <a:pPr algn="l">
              <a:lnSpc>
                <a:spcPct val="105000"/>
              </a:lnSpc>
            </a:pPr>
            <a:r>
              <a:rPr sz="3000" b="0" i="0">
                <a:solidFill>
                  <a:srgbClr val="F4F0E8"/>
                </a:solidFill>
                <a:latin typeface="Be Vietnam Pro ExtraBold"/>
              </a:rPr>
              <a:t>Cạm bẫy thường bắt đầu bằng một lời mời</a:t>
            </a:r>
          </a:p>
        </p:txBody>
      </p:sp>
      <p:grpSp>
        <p:nvGrpSpPr>
          <p:cNvPr id="6" name="Thủ đoạn 1"/>
          <p:cNvGrpSpPr/>
          <p:nvPr/>
        </p:nvGrpSpPr>
        <p:grpSpPr>
          <a:xfrm>
            <a:off x="548640" y="2103120"/>
            <a:ext cx="5806440" cy="731520"/>
            <a:chOff x="548640" y="2103120"/>
            <a:chExt cx="5806440" cy="731520"/>
          </a:xfrm>
        </p:grpSpPr>
        <p:sp>
          <p:nvSpPr>
            <p:cNvPr id="7" name="TextBox 6"/>
            <p:cNvSpPr txBox="1"/>
            <p:nvPr/>
          </p:nvSpPr>
          <p:spPr>
            <a:xfrm>
              <a:off x="548640" y="2130551"/>
              <a:ext cx="457200" cy="320040"/>
            </a:xfrm>
            <a:prstGeom prst="rect">
              <a:avLst/>
            </a:prstGeom>
            <a:noFill/>
          </p:spPr>
          <p:txBody>
            <a:bodyPr wrap="square" anchor="t" lIns="0" rIns="0" tIns="0" bIns="0">
              <a:spAutoFit/>
            </a:bodyPr>
            <a:lstStyle/>
            <a:p>
              <a:pPr algn="l"/>
              <a:r>
                <a:rPr sz="1400" b="1" i="0">
                  <a:solidFill>
                    <a:srgbClr val="C83B45"/>
                  </a:solidFill>
                  <a:latin typeface="Arial"/>
                </a:rPr>
                <a:t>01</a:t>
              </a:r>
            </a:p>
          </p:txBody>
        </p:sp>
        <p:sp>
          <p:nvSpPr>
            <p:cNvPr id="8" name="TextBox 7"/>
            <p:cNvSpPr txBox="1"/>
            <p:nvPr/>
          </p:nvSpPr>
          <p:spPr>
            <a:xfrm>
              <a:off x="1051560" y="2103120"/>
              <a:ext cx="5303520" cy="731520"/>
            </a:xfrm>
            <a:prstGeom prst="rect">
              <a:avLst/>
            </a:prstGeom>
            <a:noFill/>
          </p:spPr>
          <p:txBody>
            <a:bodyPr wrap="square" anchor="t" lIns="0" rIns="0" tIns="0" bIns="0">
              <a:spAutoFit/>
            </a:bodyPr>
            <a:lstStyle/>
            <a:p>
              <a:pPr algn="l">
                <a:lnSpc>
                  <a:spcPct val="105000"/>
                </a:lnSpc>
              </a:pPr>
              <a:r>
                <a:rPr sz="1600" b="1" i="0">
                  <a:solidFill>
                    <a:srgbClr val="F4F0E8"/>
                  </a:solidFill>
                  <a:latin typeface="Be Vietnam Pro"/>
                </a:rPr>
                <a:t>Việc nhẹ, lương cao</a:t>
              </a:r>
            </a:p>
            <a:p>
              <a:pPr algn="l">
                <a:lnSpc>
                  <a:spcPct val="105000"/>
                </a:lnSpc>
              </a:pPr>
              <a:r>
                <a:rPr sz="1400" b="0" i="0">
                  <a:solidFill>
                    <a:srgbClr val="8993A4"/>
                  </a:solidFill>
                  <a:latin typeface="Arial"/>
                </a:rPr>
                <a:t>Mức lương hấp dẫn bất thường, không cần kinh nghiệm</a:t>
              </a:r>
            </a:p>
          </p:txBody>
        </p:sp>
      </p:grpSp>
      <p:grpSp>
        <p:nvGrpSpPr>
          <p:cNvPr id="9" name="Thủ đoạn 2"/>
          <p:cNvGrpSpPr/>
          <p:nvPr/>
        </p:nvGrpSpPr>
        <p:grpSpPr>
          <a:xfrm>
            <a:off x="548640" y="2852927"/>
            <a:ext cx="5806440" cy="731520"/>
            <a:chOff x="548640" y="2852927"/>
            <a:chExt cx="5806440" cy="731520"/>
          </a:xfrm>
        </p:grpSpPr>
        <p:sp>
          <p:nvSpPr>
            <p:cNvPr id="10" name="TextBox 9"/>
            <p:cNvSpPr txBox="1"/>
            <p:nvPr/>
          </p:nvSpPr>
          <p:spPr>
            <a:xfrm>
              <a:off x="548640" y="2880359"/>
              <a:ext cx="457200" cy="320040"/>
            </a:xfrm>
            <a:prstGeom prst="rect">
              <a:avLst/>
            </a:prstGeom>
            <a:noFill/>
          </p:spPr>
          <p:txBody>
            <a:bodyPr wrap="square" anchor="t" lIns="0" rIns="0" tIns="0" bIns="0">
              <a:spAutoFit/>
            </a:bodyPr>
            <a:lstStyle/>
            <a:p>
              <a:pPr algn="l"/>
              <a:r>
                <a:rPr sz="1400" b="1" i="0">
                  <a:solidFill>
                    <a:srgbClr val="C83B45"/>
                  </a:solidFill>
                  <a:latin typeface="Arial"/>
                </a:rPr>
                <a:t>02</a:t>
              </a:r>
            </a:p>
          </p:txBody>
        </p:sp>
        <p:sp>
          <p:nvSpPr>
            <p:cNvPr id="11" name="TextBox 10"/>
            <p:cNvSpPr txBox="1"/>
            <p:nvPr/>
          </p:nvSpPr>
          <p:spPr>
            <a:xfrm>
              <a:off x="1051560" y="2852927"/>
              <a:ext cx="5303520" cy="731520"/>
            </a:xfrm>
            <a:prstGeom prst="rect">
              <a:avLst/>
            </a:prstGeom>
            <a:noFill/>
          </p:spPr>
          <p:txBody>
            <a:bodyPr wrap="square" anchor="t" lIns="0" rIns="0" tIns="0" bIns="0">
              <a:spAutoFit/>
            </a:bodyPr>
            <a:lstStyle/>
            <a:p>
              <a:pPr algn="l">
                <a:lnSpc>
                  <a:spcPct val="105000"/>
                </a:lnSpc>
              </a:pPr>
              <a:r>
                <a:rPr sz="1600" b="1" i="0">
                  <a:solidFill>
                    <a:srgbClr val="F4F0E8"/>
                  </a:solidFill>
                  <a:latin typeface="Be Vietnam Pro"/>
                </a:rPr>
                <a:t>Tuyển dụng trực tuyến mập mờ</a:t>
              </a:r>
            </a:p>
            <a:p>
              <a:pPr algn="l">
                <a:lnSpc>
                  <a:spcPct val="105000"/>
                </a:lnSpc>
              </a:pPr>
              <a:r>
                <a:rPr sz="1400" b="0" i="0">
                  <a:solidFill>
                    <a:srgbClr val="8993A4"/>
                  </a:solidFill>
                  <a:latin typeface="Arial"/>
                </a:rPr>
                <a:t>Không địa chỉ, không hợp đồng, chỉ nhắn tin qua mạng</a:t>
              </a:r>
            </a:p>
          </p:txBody>
        </p:sp>
      </p:grpSp>
      <p:grpSp>
        <p:nvGrpSpPr>
          <p:cNvPr id="12" name="Thủ đoạn 3"/>
          <p:cNvGrpSpPr/>
          <p:nvPr/>
        </p:nvGrpSpPr>
        <p:grpSpPr>
          <a:xfrm>
            <a:off x="548640" y="3602735"/>
            <a:ext cx="5806440" cy="731520"/>
            <a:chOff x="548640" y="3602735"/>
            <a:chExt cx="5806440" cy="731520"/>
          </a:xfrm>
        </p:grpSpPr>
        <p:sp>
          <p:nvSpPr>
            <p:cNvPr id="13" name="TextBox 12"/>
            <p:cNvSpPr txBox="1"/>
            <p:nvPr/>
          </p:nvSpPr>
          <p:spPr>
            <a:xfrm>
              <a:off x="548640" y="3630167"/>
              <a:ext cx="457200" cy="320040"/>
            </a:xfrm>
            <a:prstGeom prst="rect">
              <a:avLst/>
            </a:prstGeom>
            <a:noFill/>
          </p:spPr>
          <p:txBody>
            <a:bodyPr wrap="square" anchor="t" lIns="0" rIns="0" tIns="0" bIns="0">
              <a:spAutoFit/>
            </a:bodyPr>
            <a:lstStyle/>
            <a:p>
              <a:pPr algn="l"/>
              <a:r>
                <a:rPr sz="1400" b="1" i="0">
                  <a:solidFill>
                    <a:srgbClr val="C83B45"/>
                  </a:solidFill>
                  <a:latin typeface="Arial"/>
                </a:rPr>
                <a:t>03</a:t>
              </a:r>
            </a:p>
          </p:txBody>
        </p:sp>
        <p:sp>
          <p:nvSpPr>
            <p:cNvPr id="14" name="TextBox 13"/>
            <p:cNvSpPr txBox="1"/>
            <p:nvPr/>
          </p:nvSpPr>
          <p:spPr>
            <a:xfrm>
              <a:off x="1051560" y="3602735"/>
              <a:ext cx="5303520" cy="731520"/>
            </a:xfrm>
            <a:prstGeom prst="rect">
              <a:avLst/>
            </a:prstGeom>
            <a:noFill/>
          </p:spPr>
          <p:txBody>
            <a:bodyPr wrap="square" anchor="t" lIns="0" rIns="0" tIns="0" bIns="0">
              <a:spAutoFit/>
            </a:bodyPr>
            <a:lstStyle/>
            <a:p>
              <a:pPr algn="l">
                <a:lnSpc>
                  <a:spcPct val="105000"/>
                </a:lnSpc>
              </a:pPr>
              <a:r>
                <a:rPr sz="1600" b="1" i="0">
                  <a:solidFill>
                    <a:srgbClr val="F4F0E8"/>
                  </a:solidFill>
                  <a:latin typeface="Be Vietnam Pro"/>
                </a:rPr>
                <a:t>Lợi dụng tình cảm, lòng tin</a:t>
              </a:r>
            </a:p>
            <a:p>
              <a:pPr algn="l">
                <a:lnSpc>
                  <a:spcPct val="105000"/>
                </a:lnSpc>
              </a:pPr>
              <a:r>
                <a:rPr sz="1400" b="0" i="0">
                  <a:solidFill>
                    <a:srgbClr val="8993A4"/>
                  </a:solidFill>
                  <a:latin typeface="Arial"/>
                </a:rPr>
                <a:t>Làm quen, hẹn hò qua mạng; nhờ người quen dẫn dắt</a:t>
              </a:r>
            </a:p>
          </p:txBody>
        </p:sp>
      </p:grpSp>
      <p:grpSp>
        <p:nvGrpSpPr>
          <p:cNvPr id="15" name="Thủ đoạn 4"/>
          <p:cNvGrpSpPr/>
          <p:nvPr/>
        </p:nvGrpSpPr>
        <p:grpSpPr>
          <a:xfrm>
            <a:off x="548640" y="4352544"/>
            <a:ext cx="5806440" cy="731520"/>
            <a:chOff x="548640" y="4352544"/>
            <a:chExt cx="5806440" cy="731520"/>
          </a:xfrm>
        </p:grpSpPr>
        <p:sp>
          <p:nvSpPr>
            <p:cNvPr id="16" name="TextBox 15"/>
            <p:cNvSpPr txBox="1"/>
            <p:nvPr/>
          </p:nvSpPr>
          <p:spPr>
            <a:xfrm>
              <a:off x="548640" y="4379976"/>
              <a:ext cx="457200" cy="320040"/>
            </a:xfrm>
            <a:prstGeom prst="rect">
              <a:avLst/>
            </a:prstGeom>
            <a:noFill/>
          </p:spPr>
          <p:txBody>
            <a:bodyPr wrap="square" anchor="t" lIns="0" rIns="0" tIns="0" bIns="0">
              <a:spAutoFit/>
            </a:bodyPr>
            <a:lstStyle/>
            <a:p>
              <a:pPr algn="l"/>
              <a:r>
                <a:rPr sz="1400" b="1" i="0">
                  <a:solidFill>
                    <a:srgbClr val="C83B45"/>
                  </a:solidFill>
                  <a:latin typeface="Arial"/>
                </a:rPr>
                <a:t>04</a:t>
              </a:r>
            </a:p>
          </p:txBody>
        </p:sp>
        <p:sp>
          <p:nvSpPr>
            <p:cNvPr id="17" name="TextBox 16"/>
            <p:cNvSpPr txBox="1"/>
            <p:nvPr/>
          </p:nvSpPr>
          <p:spPr>
            <a:xfrm>
              <a:off x="1051560" y="4352544"/>
              <a:ext cx="5303520" cy="731520"/>
            </a:xfrm>
            <a:prstGeom prst="rect">
              <a:avLst/>
            </a:prstGeom>
            <a:noFill/>
          </p:spPr>
          <p:txBody>
            <a:bodyPr wrap="square" anchor="t" lIns="0" rIns="0" tIns="0" bIns="0">
              <a:spAutoFit/>
            </a:bodyPr>
            <a:lstStyle/>
            <a:p>
              <a:pPr algn="l">
                <a:lnSpc>
                  <a:spcPct val="105000"/>
                </a:lnSpc>
              </a:pPr>
              <a:r>
                <a:rPr sz="1600" b="1" i="0">
                  <a:solidFill>
                    <a:srgbClr val="F4F0E8"/>
                  </a:solidFill>
                  <a:latin typeface="Be Vietnam Pro"/>
                </a:rPr>
                <a:t>Đưa đi làm xa, xuất cảnh trái phép</a:t>
              </a:r>
            </a:p>
            <a:p>
              <a:pPr algn="l">
                <a:lnSpc>
                  <a:spcPct val="105000"/>
                </a:lnSpc>
              </a:pPr>
              <a:r>
                <a:rPr sz="1400" b="0" i="0">
                  <a:solidFill>
                    <a:srgbClr val="8993A4"/>
                  </a:solidFill>
                  <a:latin typeface="Arial"/>
                </a:rPr>
                <a:t>Có vụ dụ sang Campuchia làm cho cơ sở lừa đảo</a:t>
              </a:r>
            </a:p>
          </p:txBody>
        </p:sp>
      </p:grpSp>
      <p:grpSp>
        <p:nvGrpSpPr>
          <p:cNvPr id="18" name="Thủ đoạn 5"/>
          <p:cNvGrpSpPr/>
          <p:nvPr/>
        </p:nvGrpSpPr>
        <p:grpSpPr>
          <a:xfrm>
            <a:off x="548640" y="5102352"/>
            <a:ext cx="5806440" cy="731520"/>
            <a:chOff x="548640" y="5102352"/>
            <a:chExt cx="5806440" cy="731520"/>
          </a:xfrm>
        </p:grpSpPr>
        <p:sp>
          <p:nvSpPr>
            <p:cNvPr id="19" name="TextBox 18"/>
            <p:cNvSpPr txBox="1"/>
            <p:nvPr/>
          </p:nvSpPr>
          <p:spPr>
            <a:xfrm>
              <a:off x="548640" y="5129784"/>
              <a:ext cx="457200" cy="320040"/>
            </a:xfrm>
            <a:prstGeom prst="rect">
              <a:avLst/>
            </a:prstGeom>
            <a:noFill/>
          </p:spPr>
          <p:txBody>
            <a:bodyPr wrap="square" anchor="t" lIns="0" rIns="0" tIns="0" bIns="0">
              <a:spAutoFit/>
            </a:bodyPr>
            <a:lstStyle/>
            <a:p>
              <a:pPr algn="l"/>
              <a:r>
                <a:rPr sz="1400" b="1" i="0">
                  <a:solidFill>
                    <a:srgbClr val="C83B45"/>
                  </a:solidFill>
                  <a:latin typeface="Arial"/>
                </a:rPr>
                <a:t>05</a:t>
              </a:r>
            </a:p>
          </p:txBody>
        </p:sp>
        <p:sp>
          <p:nvSpPr>
            <p:cNvPr id="20" name="TextBox 19"/>
            <p:cNvSpPr txBox="1"/>
            <p:nvPr/>
          </p:nvSpPr>
          <p:spPr>
            <a:xfrm>
              <a:off x="1051560" y="5102352"/>
              <a:ext cx="5303520" cy="731520"/>
            </a:xfrm>
            <a:prstGeom prst="rect">
              <a:avLst/>
            </a:prstGeom>
            <a:noFill/>
          </p:spPr>
          <p:txBody>
            <a:bodyPr wrap="square" anchor="t" lIns="0" rIns="0" tIns="0" bIns="0">
              <a:spAutoFit/>
            </a:bodyPr>
            <a:lstStyle/>
            <a:p>
              <a:pPr algn="l">
                <a:lnSpc>
                  <a:spcPct val="105000"/>
                </a:lnSpc>
              </a:pPr>
              <a:r>
                <a:rPr sz="1600" b="1" i="0">
                  <a:solidFill>
                    <a:srgbClr val="F4F0E8"/>
                  </a:solidFill>
                  <a:latin typeface="Be Vietnam Pro"/>
                </a:rPr>
                <a:t>Khống chế, đe dọa, giữ giấy tờ</a:t>
              </a:r>
            </a:p>
            <a:p>
              <a:pPr algn="l">
                <a:lnSpc>
                  <a:spcPct val="105000"/>
                </a:lnSpc>
              </a:pPr>
              <a:r>
                <a:rPr sz="1400" b="0" i="0">
                  <a:solidFill>
                    <a:srgbClr val="8993A4"/>
                  </a:solidFill>
                  <a:latin typeface="Arial"/>
                </a:rPr>
                <a:t>Ép làm việc, bắt nộp tiền chuộc mới cho về</a:t>
              </a:r>
            </a:p>
          </p:txBody>
        </p:sp>
      </p:grpSp>
      <p:sp>
        <p:nvSpPr>
          <p:cNvPr id="21" name="TextBox 20"/>
          <p:cNvSpPr txBox="1"/>
          <p:nvPr/>
        </p:nvSpPr>
        <p:spPr>
          <a:xfrm>
            <a:off x="548640" y="5870448"/>
            <a:ext cx="5760720" cy="502920"/>
          </a:xfrm>
          <a:prstGeom prst="rect">
            <a:avLst/>
          </a:prstGeom>
          <a:noFill/>
        </p:spPr>
        <p:txBody>
          <a:bodyPr wrap="square" anchor="t" lIns="0" rIns="0" tIns="0" bIns="0">
            <a:spAutoFit/>
          </a:bodyPr>
          <a:lstStyle/>
          <a:p>
            <a:pPr algn="l"/>
            <a:r>
              <a:rPr sz="1200" b="0" i="0">
                <a:solidFill>
                  <a:srgbClr val="C6A56B"/>
                </a:solidFill>
                <a:latin typeface="Arial"/>
              </a:rPr>
              <a:t>Các thủ đoạn trên đã được Bộ Công an và báo chí chính thống ghi nhận (nguồn ở slide 15). Slide sau: dấu hiệu cảnh báo chung để tự nhận diện.</a:t>
            </a:r>
          </a:p>
        </p:txBody>
      </p:sp>
      <p:sp>
        <p:nvSpPr>
          <p:cNvPr id="22" name="Ghi công ảnh"/>
          <p:cNvSpPr txBox="1"/>
          <p:nvPr/>
        </p:nvSpPr>
        <p:spPr>
          <a:xfrm>
            <a:off x="6812280" y="6419088"/>
            <a:ext cx="3840480" cy="274320"/>
          </a:xfrm>
          <a:prstGeom prst="rect">
            <a:avLst/>
          </a:prstGeom>
          <a:noFill/>
        </p:spPr>
        <p:txBody>
          <a:bodyPr wrap="square" anchor="t" lIns="0" rIns="0" tIns="0" bIns="0">
            <a:spAutoFit/>
          </a:bodyPr>
          <a:lstStyle/>
          <a:p>
            <a:pPr algn="l"/>
            <a:r>
              <a:rPr sz="1000" b="0" i="0">
                <a:solidFill>
                  <a:srgbClr val="8993A4"/>
                </a:solidFill>
                <a:latin typeface="Arial"/>
              </a:rPr>
              <a:t>Ảnh minh họa: Ryo FUKAsawa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600"/>
                                        <p:tgtEl>
                                          <p:spTgt spid="12"/>
                                        </p:tgtEl>
                                      </p:cBhvr>
                                    </p:animEffect>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6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600"/>
                                        <p:tgtEl>
                                          <p:spTgt spid="18"/>
                                        </p:tgtEl>
                                      </p:cBhvr>
                                    </p:animEffect>
                                  </p:childTnLst>
                                </p:cTn>
                              </p:par>
                            </p:childTnLst>
                          </p:cTn>
                        </p:par>
                      </p:childTnLst>
                    </p:cTn>
                  </p:par>
                  <p:par>
                    <p:cTn id="39" fill="hold">
                      <p:stCondLst>
                        <p:cond delay="indefinite"/>
                      </p:stCondLst>
                      <p:childTnLst>
                        <p:par>
                          <p:cTn id="40"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2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Close-up of the Alienware Laptop Keyboard" descr="c8e56c2df21206d0.jpg"/>
          <p:cNvPicPr>
            <a:picLocks noChangeAspect="1"/>
          </p:cNvPicPr>
          <p:nvPr/>
        </p:nvPicPr>
        <p:blipFill>
          <a:blip r:embed="rId2"/>
          <a:stretch>
            <a:fillRect/>
          </a:stretch>
        </p:blipFill>
        <p:spPr>
          <a:xfrm>
            <a:off x="0" y="0"/>
            <a:ext cx="12191695" cy="6858000"/>
          </a:xfrm>
          <a:prstGeom prst="rect">
            <a:avLst/>
          </a:prstGeom>
        </p:spPr>
      </p:pic>
      <p:sp>
        <p:nvSpPr>
          <p:cNvPr id="3" name="!!kicker"/>
          <p:cNvSpPr txBox="1"/>
          <p:nvPr/>
        </p:nvSpPr>
        <p:spPr>
          <a:xfrm>
            <a:off x="5486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07</a:t>
            </a:r>
            <a:r>
              <a:rPr sz="1100" b="1" i="0" spc="300">
                <a:solidFill>
                  <a:srgbClr val="8993A4"/>
                </a:solidFill>
                <a:latin typeface="Arial"/>
              </a:rPr>
              <a:t>  —  MẠNG XÃ HỘI &amp; HỌC SINH</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07 / 15</a:t>
            </a:r>
          </a:p>
        </p:txBody>
      </p:sp>
      <p:sp>
        <p:nvSpPr>
          <p:cNvPr id="5" name="!!title"/>
          <p:cNvSpPr txBox="1"/>
          <p:nvPr/>
        </p:nvSpPr>
        <p:spPr>
          <a:xfrm>
            <a:off x="548640" y="777240"/>
            <a:ext cx="7315200" cy="731520"/>
          </a:xfrm>
          <a:prstGeom prst="rect">
            <a:avLst/>
          </a:prstGeom>
          <a:noFill/>
        </p:spPr>
        <p:txBody>
          <a:bodyPr wrap="square" anchor="t" lIns="0" rIns="0" tIns="0" bIns="0">
            <a:spAutoFit/>
          </a:bodyPr>
          <a:lstStyle/>
          <a:p>
            <a:pPr algn="l">
              <a:lnSpc>
                <a:spcPct val="105000"/>
              </a:lnSpc>
            </a:pPr>
            <a:r>
              <a:rPr sz="3400" b="0" i="0">
                <a:solidFill>
                  <a:srgbClr val="F4F0E8"/>
                </a:solidFill>
                <a:latin typeface="Be Vietnam Pro ExtraBold"/>
              </a:rPr>
              <a:t>Khi lời mời đến qua màn hình</a:t>
            </a:r>
          </a:p>
        </p:txBody>
      </p:sp>
      <p:grpSp>
        <p:nvGrpSpPr>
          <p:cNvPr id="6" name="Mô phỏng tin nhắn"/>
          <p:cNvGrpSpPr/>
          <p:nvPr/>
        </p:nvGrpSpPr>
        <p:grpSpPr>
          <a:xfrm>
            <a:off x="777240" y="1600200"/>
            <a:ext cx="3291840" cy="4709160"/>
            <a:chOff x="777240" y="1600200"/>
            <a:chExt cx="3291840" cy="4709160"/>
          </a:xfrm>
        </p:grpSpPr>
        <p:sp>
          <p:nvSpPr>
            <p:cNvPr id="7" name="TextBox 6"/>
            <p:cNvSpPr txBox="1"/>
            <p:nvPr/>
          </p:nvSpPr>
          <p:spPr>
            <a:xfrm>
              <a:off x="777240" y="1600200"/>
              <a:ext cx="3291840" cy="274320"/>
            </a:xfrm>
            <a:prstGeom prst="rect">
              <a:avLst/>
            </a:prstGeom>
            <a:noFill/>
          </p:spPr>
          <p:txBody>
            <a:bodyPr wrap="square" anchor="t" lIns="0" rIns="0" tIns="0" bIns="0">
              <a:spAutoFit/>
            </a:bodyPr>
            <a:lstStyle/>
            <a:p>
              <a:pPr algn="l"/>
              <a:r>
                <a:rPr sz="1000" b="1" i="0" spc="150">
                  <a:solidFill>
                    <a:srgbClr val="C83B45"/>
                  </a:solidFill>
                  <a:latin typeface="Arial"/>
                </a:rPr>
                <a:t>MÔ PHỎNG · NỘI DUNG GIẢ ĐỊNH</a:t>
              </a:r>
            </a:p>
          </p:txBody>
        </p:sp>
        <p:sp>
          <p:nvSpPr>
            <p:cNvPr id="8" name="Rounded Rectangle 7"/>
            <p:cNvSpPr/>
            <p:nvPr/>
          </p:nvSpPr>
          <p:spPr>
            <a:xfrm>
              <a:off x="777240" y="1920240"/>
              <a:ext cx="3200400" cy="4389120"/>
            </a:xfrm>
            <a:prstGeom prst="roundRect">
              <a:avLst>
                <a:gd name="adj" fmla="val 10000"/>
              </a:avLst>
            </a:prstGeom>
            <a:solidFill>
              <a:srgbClr val="15171D"/>
            </a:solidFill>
            <a:ln w="15875">
              <a:solidFill>
                <a:srgbClr val="8993A4"/>
              </a:solidFill>
            </a:ln>
          </p:spPr>
          <p:txBody>
            <a:bodyPr rtlCol="0" anchor="ctr"/>
            <a:lstStyle/>
            <a:p>
              <a:pPr algn="ctr"/>
            </a:p>
          </p:txBody>
        </p:sp>
        <p:sp>
          <p:nvSpPr>
            <p:cNvPr id="9" name="TextBox 8"/>
            <p:cNvSpPr txBox="1"/>
            <p:nvPr/>
          </p:nvSpPr>
          <p:spPr>
            <a:xfrm>
              <a:off x="1005840" y="2103120"/>
              <a:ext cx="2743200" cy="274320"/>
            </a:xfrm>
            <a:prstGeom prst="rect">
              <a:avLst/>
            </a:prstGeom>
            <a:noFill/>
          </p:spPr>
          <p:txBody>
            <a:bodyPr wrap="square" anchor="t" lIns="0" rIns="0" tIns="0" bIns="0">
              <a:spAutoFit/>
            </a:bodyPr>
            <a:lstStyle/>
            <a:p>
              <a:pPr algn="l"/>
              <a:r>
                <a:rPr sz="1000" b="0" i="0">
                  <a:solidFill>
                    <a:srgbClr val="8993A4"/>
                  </a:solidFill>
                  <a:latin typeface="Arial"/>
                </a:rPr>
                <a:t>Tuyển dụng Online 24h  ·  đang hoạt động</a:t>
              </a:r>
            </a:p>
          </p:txBody>
        </p:sp>
        <p:cxnSp>
          <p:nvCxnSpPr>
            <p:cNvPr id="10" name="Connector 9"/>
            <p:cNvCxnSpPr/>
            <p:nvPr/>
          </p:nvCxnSpPr>
          <p:spPr>
            <a:xfrm>
              <a:off x="960120" y="2450592"/>
              <a:ext cx="2834640" cy="0"/>
            </a:xfrm>
            <a:prstGeom prst="line">
              <a:avLst/>
            </a:prstGeom>
            <a:ln w="9525">
              <a:solidFill>
                <a:srgbClr val="2E344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0120" y="2606040"/>
              <a:ext cx="2377440" cy="868680"/>
            </a:xfrm>
            <a:prstGeom prst="roundRect">
              <a:avLst>
                <a:gd name="adj" fmla="val 18000"/>
              </a:avLst>
            </a:prstGeom>
            <a:solidFill>
              <a:srgbClr val="262B36"/>
            </a:solidFill>
            <a:ln>
              <a:noFill/>
            </a:ln>
          </p:spPr>
          <p:txBody>
            <a:bodyPr rtlCol="0" anchor="ctr"/>
            <a:lstStyle/>
            <a:p>
              <a:pPr algn="ctr"/>
            </a:p>
          </p:txBody>
        </p:sp>
        <p:sp>
          <p:nvSpPr>
            <p:cNvPr id="12" name="TextBox 11"/>
            <p:cNvSpPr txBox="1"/>
            <p:nvPr/>
          </p:nvSpPr>
          <p:spPr>
            <a:xfrm>
              <a:off x="1069848" y="2670048"/>
              <a:ext cx="2157984" cy="77724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Em ơi, bên chị cần 5 bạn trực máy, lương 20 triệu, làm online thôi.</a:t>
              </a:r>
            </a:p>
          </p:txBody>
        </p:sp>
        <p:sp>
          <p:nvSpPr>
            <p:cNvPr id="13" name="Rounded Rectangle 12"/>
            <p:cNvSpPr/>
            <p:nvPr/>
          </p:nvSpPr>
          <p:spPr>
            <a:xfrm>
              <a:off x="1417320" y="3611880"/>
              <a:ext cx="2377440" cy="640080"/>
            </a:xfrm>
            <a:prstGeom prst="roundRect">
              <a:avLst>
                <a:gd name="adj" fmla="val 18000"/>
              </a:avLst>
            </a:prstGeom>
            <a:solidFill>
              <a:srgbClr val="5A2229"/>
            </a:solidFill>
            <a:ln>
              <a:noFill/>
            </a:ln>
          </p:spPr>
          <p:txBody>
            <a:bodyPr rtlCol="0" anchor="ctr"/>
            <a:lstStyle/>
            <a:p>
              <a:pPr algn="ctr"/>
            </a:p>
          </p:txBody>
        </p:sp>
        <p:sp>
          <p:nvSpPr>
            <p:cNvPr id="14" name="TextBox 13"/>
            <p:cNvSpPr txBox="1"/>
            <p:nvPr/>
          </p:nvSpPr>
          <p:spPr>
            <a:xfrm>
              <a:off x="1527048" y="3675888"/>
              <a:ext cx="2157984" cy="54864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Công ty ở đâu ạ? Có hợp đồng không chị?</a:t>
              </a:r>
            </a:p>
          </p:txBody>
        </p:sp>
        <p:sp>
          <p:nvSpPr>
            <p:cNvPr id="15" name="Rounded Rectangle 14"/>
            <p:cNvSpPr/>
            <p:nvPr/>
          </p:nvSpPr>
          <p:spPr>
            <a:xfrm>
              <a:off x="960120" y="4389120"/>
              <a:ext cx="2377440" cy="960120"/>
            </a:xfrm>
            <a:prstGeom prst="roundRect">
              <a:avLst>
                <a:gd name="adj" fmla="val 18000"/>
              </a:avLst>
            </a:prstGeom>
            <a:solidFill>
              <a:srgbClr val="262B36"/>
            </a:solidFill>
            <a:ln>
              <a:noFill/>
            </a:ln>
          </p:spPr>
          <p:txBody>
            <a:bodyPr rtlCol="0" anchor="ctr"/>
            <a:lstStyle/>
            <a:p>
              <a:pPr algn="ctr"/>
            </a:p>
          </p:txBody>
        </p:sp>
        <p:sp>
          <p:nvSpPr>
            <p:cNvPr id="16" name="TextBox 15"/>
            <p:cNvSpPr txBox="1"/>
            <p:nvPr/>
          </p:nvSpPr>
          <p:spPr>
            <a:xfrm>
              <a:off x="1069848" y="4453128"/>
              <a:ext cx="2157984" cy="86868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Làm ở tỉnh khác, chị lo vé xe. Gửi chị ảnh CCCD để giữ chỗ nhé, đừng nói với bố mẹ!</a:t>
              </a:r>
            </a:p>
          </p:txBody>
        </p:sp>
        <p:sp>
          <p:nvSpPr>
            <p:cNvPr id="17" name="Rounded Rectangle 16"/>
            <p:cNvSpPr/>
            <p:nvPr/>
          </p:nvSpPr>
          <p:spPr>
            <a:xfrm>
              <a:off x="960120" y="5715000"/>
              <a:ext cx="2834640" cy="384048"/>
            </a:xfrm>
            <a:prstGeom prst="roundRect">
              <a:avLst>
                <a:gd name="adj" fmla="val 50000"/>
              </a:avLst>
            </a:prstGeom>
            <a:solidFill>
              <a:srgbClr val="0F1422"/>
            </a:solidFill>
            <a:ln w="9525">
              <a:solidFill>
                <a:srgbClr val="2E3442"/>
              </a:solidFill>
            </a:ln>
          </p:spPr>
          <p:txBody>
            <a:bodyPr rtlCol="0" anchor="ctr"/>
            <a:lstStyle/>
            <a:p>
              <a:pPr algn="ctr"/>
            </a:p>
          </p:txBody>
        </p:sp>
        <p:sp>
          <p:nvSpPr>
            <p:cNvPr id="18" name="TextBox 17"/>
            <p:cNvSpPr txBox="1"/>
            <p:nvPr/>
          </p:nvSpPr>
          <p:spPr>
            <a:xfrm>
              <a:off x="1143000" y="5769864"/>
              <a:ext cx="2560320" cy="274320"/>
            </a:xfrm>
            <a:prstGeom prst="rect">
              <a:avLst/>
            </a:prstGeom>
            <a:noFill/>
          </p:spPr>
          <p:txBody>
            <a:bodyPr wrap="square" anchor="t" lIns="0" rIns="0" tIns="0" bIns="0">
              <a:spAutoFit/>
            </a:bodyPr>
            <a:lstStyle/>
            <a:p>
              <a:pPr algn="l"/>
              <a:r>
                <a:rPr sz="1100" b="0" i="0">
                  <a:solidFill>
                    <a:srgbClr val="8993A4"/>
                  </a:solidFill>
                  <a:latin typeface="Arial"/>
                </a:rPr>
                <a:t>Nhập tin nhắn…</a:t>
              </a:r>
            </a:p>
          </p:txBody>
        </p:sp>
      </p:grpSp>
      <p:sp>
        <p:nvSpPr>
          <p:cNvPr id="19" name="TextBox 18"/>
          <p:cNvSpPr txBox="1"/>
          <p:nvPr/>
        </p:nvSpPr>
        <p:spPr>
          <a:xfrm>
            <a:off x="4754880" y="1691640"/>
            <a:ext cx="6858000" cy="411480"/>
          </a:xfrm>
          <a:prstGeom prst="rect">
            <a:avLst/>
          </a:prstGeom>
          <a:noFill/>
        </p:spPr>
        <p:txBody>
          <a:bodyPr wrap="square" anchor="t" lIns="0" rIns="0" tIns="0" bIns="0">
            <a:spAutoFit/>
          </a:bodyPr>
          <a:lstStyle/>
          <a:p>
            <a:pPr algn="l"/>
            <a:r>
              <a:rPr sz="2000" b="1" i="0">
                <a:solidFill>
                  <a:srgbClr val="C6A56B"/>
                </a:solidFill>
                <a:latin typeface="Be Vietnam Pro"/>
              </a:rPr>
              <a:t>6 dấu hiệu cảnh báo — thấy là dừng lại</a:t>
            </a:r>
          </a:p>
        </p:txBody>
      </p:sp>
      <p:grpSp>
        <p:nvGrpSpPr>
          <p:cNvPr id="20" name="Dấu hiệu 1"/>
          <p:cNvGrpSpPr/>
          <p:nvPr/>
        </p:nvGrpSpPr>
        <p:grpSpPr>
          <a:xfrm>
            <a:off x="4754880" y="2286000"/>
            <a:ext cx="6858000" cy="566928"/>
            <a:chOff x="4754880" y="2286000"/>
            <a:chExt cx="6858000" cy="566928"/>
          </a:xfrm>
        </p:grpSpPr>
        <p:sp>
          <p:nvSpPr>
            <p:cNvPr id="21" name="Rectangle 20"/>
            <p:cNvSpPr/>
            <p:nvPr/>
          </p:nvSpPr>
          <p:spPr>
            <a:xfrm>
              <a:off x="4754880" y="2340864"/>
              <a:ext cx="237744" cy="237744"/>
            </a:xfrm>
            <a:prstGeom prst="rect">
              <a:avLst/>
            </a:prstGeom>
            <a:noFill/>
            <a:ln w="19050">
              <a:solidFill>
                <a:srgbClr val="C83B45"/>
              </a:solidFill>
            </a:ln>
          </p:spPr>
          <p:txBody>
            <a:bodyPr rtlCol="0" anchor="ctr"/>
            <a:lstStyle/>
            <a:p>
              <a:pPr algn="ctr"/>
            </a:p>
          </p:txBody>
        </p:sp>
        <p:sp>
          <p:nvSpPr>
            <p:cNvPr id="22" name="TextBox 21"/>
            <p:cNvSpPr txBox="1"/>
            <p:nvPr/>
          </p:nvSpPr>
          <p:spPr>
            <a:xfrm>
              <a:off x="5212080" y="2286000"/>
              <a:ext cx="6400800" cy="566928"/>
            </a:xfrm>
            <a:prstGeom prst="rect">
              <a:avLst/>
            </a:prstGeom>
            <a:noFill/>
          </p:spPr>
          <p:txBody>
            <a:bodyPr wrap="square" anchor="t" lIns="0" rIns="0" tIns="0" bIns="0">
              <a:spAutoFit/>
            </a:bodyPr>
            <a:lstStyle/>
            <a:p>
              <a:pPr algn="l">
                <a:lnSpc>
                  <a:spcPct val="100000"/>
                </a:lnSpc>
              </a:pPr>
              <a:r>
                <a:rPr sz="1600" b="0" i="0">
                  <a:solidFill>
                    <a:srgbClr val="F4F0E8"/>
                  </a:solidFill>
                  <a:latin typeface="Arial"/>
                </a:rPr>
                <a:t>Lương cao bất thường so với công việc đơn giản</a:t>
              </a:r>
            </a:p>
          </p:txBody>
        </p:sp>
      </p:grpSp>
      <p:grpSp>
        <p:nvGrpSpPr>
          <p:cNvPr id="23" name="Dấu hiệu 2"/>
          <p:cNvGrpSpPr/>
          <p:nvPr/>
        </p:nvGrpSpPr>
        <p:grpSpPr>
          <a:xfrm>
            <a:off x="4754880" y="2871216"/>
            <a:ext cx="6858000" cy="566928"/>
            <a:chOff x="4754880" y="2871216"/>
            <a:chExt cx="6858000" cy="566928"/>
          </a:xfrm>
        </p:grpSpPr>
        <p:sp>
          <p:nvSpPr>
            <p:cNvPr id="24" name="Rectangle 23"/>
            <p:cNvSpPr/>
            <p:nvPr/>
          </p:nvSpPr>
          <p:spPr>
            <a:xfrm>
              <a:off x="4754880" y="2926080"/>
              <a:ext cx="237744" cy="237744"/>
            </a:xfrm>
            <a:prstGeom prst="rect">
              <a:avLst/>
            </a:prstGeom>
            <a:noFill/>
            <a:ln w="19050">
              <a:solidFill>
                <a:srgbClr val="C83B45"/>
              </a:solidFill>
            </a:ln>
          </p:spPr>
          <p:txBody>
            <a:bodyPr rtlCol="0" anchor="ctr"/>
            <a:lstStyle/>
            <a:p>
              <a:pPr algn="ctr"/>
            </a:p>
          </p:txBody>
        </p:sp>
        <p:sp>
          <p:nvSpPr>
            <p:cNvPr id="25" name="TextBox 24"/>
            <p:cNvSpPr txBox="1"/>
            <p:nvPr/>
          </p:nvSpPr>
          <p:spPr>
            <a:xfrm>
              <a:off x="5212080" y="2871216"/>
              <a:ext cx="6400800" cy="566928"/>
            </a:xfrm>
            <a:prstGeom prst="rect">
              <a:avLst/>
            </a:prstGeom>
            <a:noFill/>
          </p:spPr>
          <p:txBody>
            <a:bodyPr wrap="square" anchor="t" lIns="0" rIns="0" tIns="0" bIns="0">
              <a:spAutoFit/>
            </a:bodyPr>
            <a:lstStyle/>
            <a:p>
              <a:pPr algn="l">
                <a:lnSpc>
                  <a:spcPct val="100000"/>
                </a:lnSpc>
              </a:pPr>
              <a:r>
                <a:rPr sz="1600" b="0" i="0">
                  <a:solidFill>
                    <a:srgbClr val="F4F0E8"/>
                  </a:solidFill>
                  <a:latin typeface="Arial"/>
                </a:rPr>
                <a:t>Không có hợp đồng; địa chỉ công ty mơ hồ, không kiểm chứng được</a:t>
              </a:r>
            </a:p>
          </p:txBody>
        </p:sp>
      </p:grpSp>
      <p:grpSp>
        <p:nvGrpSpPr>
          <p:cNvPr id="26" name="Dấu hiệu 3"/>
          <p:cNvGrpSpPr/>
          <p:nvPr/>
        </p:nvGrpSpPr>
        <p:grpSpPr>
          <a:xfrm>
            <a:off x="4754880" y="3456432"/>
            <a:ext cx="6858000" cy="566928"/>
            <a:chOff x="4754880" y="3456432"/>
            <a:chExt cx="6858000" cy="566928"/>
          </a:xfrm>
        </p:grpSpPr>
        <p:sp>
          <p:nvSpPr>
            <p:cNvPr id="27" name="Rectangle 26"/>
            <p:cNvSpPr/>
            <p:nvPr/>
          </p:nvSpPr>
          <p:spPr>
            <a:xfrm>
              <a:off x="4754880" y="3511296"/>
              <a:ext cx="237744" cy="237744"/>
            </a:xfrm>
            <a:prstGeom prst="rect">
              <a:avLst/>
            </a:prstGeom>
            <a:noFill/>
            <a:ln w="19050">
              <a:solidFill>
                <a:srgbClr val="C83B45"/>
              </a:solidFill>
            </a:ln>
          </p:spPr>
          <p:txBody>
            <a:bodyPr rtlCol="0" anchor="ctr"/>
            <a:lstStyle/>
            <a:p>
              <a:pPr algn="ctr"/>
            </a:p>
          </p:txBody>
        </p:sp>
        <p:sp>
          <p:nvSpPr>
            <p:cNvPr id="28" name="TextBox 27"/>
            <p:cNvSpPr txBox="1"/>
            <p:nvPr/>
          </p:nvSpPr>
          <p:spPr>
            <a:xfrm>
              <a:off x="5212080" y="3456432"/>
              <a:ext cx="6400800" cy="566928"/>
            </a:xfrm>
            <a:prstGeom prst="rect">
              <a:avLst/>
            </a:prstGeom>
            <a:noFill/>
          </p:spPr>
          <p:txBody>
            <a:bodyPr wrap="square" anchor="t" lIns="0" rIns="0" tIns="0" bIns="0">
              <a:spAutoFit/>
            </a:bodyPr>
            <a:lstStyle/>
            <a:p>
              <a:pPr algn="l">
                <a:lnSpc>
                  <a:spcPct val="100000"/>
                </a:lnSpc>
              </a:pPr>
              <a:r>
                <a:rPr sz="1600" b="0" i="0">
                  <a:solidFill>
                    <a:srgbClr val="F4F0E8"/>
                  </a:solidFill>
                  <a:latin typeface="Arial"/>
                </a:rPr>
                <a:t>Yêu cầu giữ bí mật, “đừng nói với bố mẹ”, phải đi ngay</a:t>
              </a:r>
            </a:p>
          </p:txBody>
        </p:sp>
      </p:grpSp>
      <p:grpSp>
        <p:nvGrpSpPr>
          <p:cNvPr id="29" name="Dấu hiệu 4"/>
          <p:cNvGrpSpPr/>
          <p:nvPr/>
        </p:nvGrpSpPr>
        <p:grpSpPr>
          <a:xfrm>
            <a:off x="4754880" y="4041648"/>
            <a:ext cx="6858000" cy="566928"/>
            <a:chOff x="4754880" y="4041648"/>
            <a:chExt cx="6858000" cy="566928"/>
          </a:xfrm>
        </p:grpSpPr>
        <p:sp>
          <p:nvSpPr>
            <p:cNvPr id="30" name="Rectangle 29"/>
            <p:cNvSpPr/>
            <p:nvPr/>
          </p:nvSpPr>
          <p:spPr>
            <a:xfrm>
              <a:off x="4754880" y="4096511"/>
              <a:ext cx="237744" cy="237744"/>
            </a:xfrm>
            <a:prstGeom prst="rect">
              <a:avLst/>
            </a:prstGeom>
            <a:noFill/>
            <a:ln w="19050">
              <a:solidFill>
                <a:srgbClr val="C83B45"/>
              </a:solidFill>
            </a:ln>
          </p:spPr>
          <p:txBody>
            <a:bodyPr rtlCol="0" anchor="ctr"/>
            <a:lstStyle/>
            <a:p>
              <a:pPr algn="ctr"/>
            </a:p>
          </p:txBody>
        </p:sp>
        <p:sp>
          <p:nvSpPr>
            <p:cNvPr id="31" name="TextBox 30"/>
            <p:cNvSpPr txBox="1"/>
            <p:nvPr/>
          </p:nvSpPr>
          <p:spPr>
            <a:xfrm>
              <a:off x="5212080" y="4041648"/>
              <a:ext cx="6400800" cy="566928"/>
            </a:xfrm>
            <a:prstGeom prst="rect">
              <a:avLst/>
            </a:prstGeom>
            <a:noFill/>
          </p:spPr>
          <p:txBody>
            <a:bodyPr wrap="square" anchor="t" lIns="0" rIns="0" tIns="0" bIns="0">
              <a:spAutoFit/>
            </a:bodyPr>
            <a:lstStyle/>
            <a:p>
              <a:pPr algn="l">
                <a:lnSpc>
                  <a:spcPct val="100000"/>
                </a:lnSpc>
              </a:pPr>
              <a:r>
                <a:rPr sz="1600" b="0" i="0">
                  <a:solidFill>
                    <a:srgbClr val="F4F0E8"/>
                  </a:solidFill>
                  <a:latin typeface="Arial"/>
                </a:rPr>
                <a:t>Đòi gửi ảnh CCCD, nộp phí hoặc đặt cọc trước khi làm</a:t>
              </a:r>
            </a:p>
          </p:txBody>
        </p:sp>
      </p:grpSp>
      <p:grpSp>
        <p:nvGrpSpPr>
          <p:cNvPr id="32" name="Dấu hiệu 5"/>
          <p:cNvGrpSpPr/>
          <p:nvPr/>
        </p:nvGrpSpPr>
        <p:grpSpPr>
          <a:xfrm>
            <a:off x="4754880" y="4626864"/>
            <a:ext cx="6858000" cy="566928"/>
            <a:chOff x="4754880" y="4626864"/>
            <a:chExt cx="6858000" cy="566928"/>
          </a:xfrm>
        </p:grpSpPr>
        <p:sp>
          <p:nvSpPr>
            <p:cNvPr id="33" name="Rectangle 32"/>
            <p:cNvSpPr/>
            <p:nvPr/>
          </p:nvSpPr>
          <p:spPr>
            <a:xfrm>
              <a:off x="4754880" y="4681728"/>
              <a:ext cx="237744" cy="237744"/>
            </a:xfrm>
            <a:prstGeom prst="rect">
              <a:avLst/>
            </a:prstGeom>
            <a:noFill/>
            <a:ln w="19050">
              <a:solidFill>
                <a:srgbClr val="C83B45"/>
              </a:solidFill>
            </a:ln>
          </p:spPr>
          <p:txBody>
            <a:bodyPr rtlCol="0" anchor="ctr"/>
            <a:lstStyle/>
            <a:p>
              <a:pPr algn="ctr"/>
            </a:p>
          </p:txBody>
        </p:sp>
        <p:sp>
          <p:nvSpPr>
            <p:cNvPr id="34" name="TextBox 33"/>
            <p:cNvSpPr txBox="1"/>
            <p:nvPr/>
          </p:nvSpPr>
          <p:spPr>
            <a:xfrm>
              <a:off x="5212080" y="4626864"/>
              <a:ext cx="6400800" cy="566928"/>
            </a:xfrm>
            <a:prstGeom prst="rect">
              <a:avLst/>
            </a:prstGeom>
            <a:noFill/>
          </p:spPr>
          <p:txBody>
            <a:bodyPr wrap="square" anchor="t" lIns="0" rIns="0" tIns="0" bIns="0">
              <a:spAutoFit/>
            </a:bodyPr>
            <a:lstStyle/>
            <a:p>
              <a:pPr algn="l">
                <a:lnSpc>
                  <a:spcPct val="100000"/>
                </a:lnSpc>
              </a:pPr>
              <a:r>
                <a:rPr sz="1600" b="0" i="0">
                  <a:solidFill>
                    <a:srgbClr val="F4F0E8"/>
                  </a:solidFill>
                  <a:latin typeface="Arial"/>
                </a:rPr>
                <a:t>Tài khoản mới lập, kéo sang Telegram để “nói chuyện riêng”</a:t>
              </a:r>
            </a:p>
          </p:txBody>
        </p:sp>
      </p:grpSp>
      <p:grpSp>
        <p:nvGrpSpPr>
          <p:cNvPr id="35" name="Dấu hiệu 6"/>
          <p:cNvGrpSpPr/>
          <p:nvPr/>
        </p:nvGrpSpPr>
        <p:grpSpPr>
          <a:xfrm>
            <a:off x="4754880" y="5212080"/>
            <a:ext cx="6858000" cy="566928"/>
            <a:chOff x="4754880" y="5212080"/>
            <a:chExt cx="6858000" cy="566928"/>
          </a:xfrm>
        </p:grpSpPr>
        <p:sp>
          <p:nvSpPr>
            <p:cNvPr id="36" name="Rectangle 35"/>
            <p:cNvSpPr/>
            <p:nvPr/>
          </p:nvSpPr>
          <p:spPr>
            <a:xfrm>
              <a:off x="4754880" y="5266944"/>
              <a:ext cx="237744" cy="237744"/>
            </a:xfrm>
            <a:prstGeom prst="rect">
              <a:avLst/>
            </a:prstGeom>
            <a:noFill/>
            <a:ln w="19050">
              <a:solidFill>
                <a:srgbClr val="C83B45"/>
              </a:solidFill>
            </a:ln>
          </p:spPr>
          <p:txBody>
            <a:bodyPr rtlCol="0" anchor="ctr"/>
            <a:lstStyle/>
            <a:p>
              <a:pPr algn="ctr"/>
            </a:p>
          </p:txBody>
        </p:sp>
        <p:sp>
          <p:nvSpPr>
            <p:cNvPr id="37" name="TextBox 36"/>
            <p:cNvSpPr txBox="1"/>
            <p:nvPr/>
          </p:nvSpPr>
          <p:spPr>
            <a:xfrm>
              <a:off x="5212080" y="5212080"/>
              <a:ext cx="6400800" cy="566928"/>
            </a:xfrm>
            <a:prstGeom prst="rect">
              <a:avLst/>
            </a:prstGeom>
            <a:noFill/>
          </p:spPr>
          <p:txBody>
            <a:bodyPr wrap="square" anchor="t" lIns="0" rIns="0" tIns="0" bIns="0">
              <a:spAutoFit/>
            </a:bodyPr>
            <a:lstStyle/>
            <a:p>
              <a:pPr algn="l">
                <a:lnSpc>
                  <a:spcPct val="100000"/>
                </a:lnSpc>
              </a:pPr>
              <a:r>
                <a:rPr sz="1600" b="0" i="0">
                  <a:solidFill>
                    <a:srgbClr val="F4F0E8"/>
                  </a:solidFill>
                  <a:latin typeface="Arial"/>
                </a:rPr>
                <a:t>Hứa bao vé xe, bao ăn ở, đưa sang tỉnh khác hoặc ra nước ngoài</a:t>
              </a:r>
            </a:p>
          </p:txBody>
        </p:sp>
      </p:grpSp>
      <p:sp>
        <p:nvSpPr>
          <p:cNvPr id="38" name="TextBox 37"/>
          <p:cNvSpPr txBox="1"/>
          <p:nvPr/>
        </p:nvSpPr>
        <p:spPr>
          <a:xfrm>
            <a:off x="4754880" y="5943600"/>
            <a:ext cx="6858000" cy="411480"/>
          </a:xfrm>
          <a:prstGeom prst="rect">
            <a:avLst/>
          </a:prstGeom>
          <a:noFill/>
        </p:spPr>
        <p:txBody>
          <a:bodyPr wrap="square" anchor="t" lIns="0" rIns="0" tIns="0" bIns="0">
            <a:spAutoFit/>
          </a:bodyPr>
          <a:lstStyle/>
          <a:p>
            <a:pPr algn="l"/>
            <a:r>
              <a:rPr sz="1400" b="0" i="0">
                <a:solidFill>
                  <a:srgbClr val="8993A4"/>
                </a:solidFill>
                <a:latin typeface="Arial"/>
              </a:rPr>
              <a:t>Hay bị lợi dụng: Facebook · TikTok · Zalo · Telegram · nhóm “việc làm thêm”</a:t>
            </a:r>
          </a:p>
        </p:txBody>
      </p:sp>
      <p:sp>
        <p:nvSpPr>
          <p:cNvPr id="39" name="Ghi công ảnh"/>
          <p:cNvSpPr txBox="1"/>
          <p:nvPr/>
        </p:nvSpPr>
        <p:spPr>
          <a:xfrm>
            <a:off x="777240" y="6419088"/>
            <a:ext cx="4114800" cy="274320"/>
          </a:xfrm>
          <a:prstGeom prst="rect">
            <a:avLst/>
          </a:prstGeom>
          <a:noFill/>
        </p:spPr>
        <p:txBody>
          <a:bodyPr wrap="square" anchor="t" lIns="0" rIns="0" tIns="0" bIns="0">
            <a:spAutoFit/>
          </a:bodyPr>
          <a:lstStyle/>
          <a:p>
            <a:pPr algn="l"/>
            <a:r>
              <a:rPr sz="1000" b="0" i="0">
                <a:solidFill>
                  <a:srgbClr val="8993A4"/>
                </a:solidFill>
                <a:latin typeface="Arial"/>
              </a:rPr>
              <a:t>Ảnh nền: Joey deVilla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6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6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600"/>
                                        <p:tgtEl>
                                          <p:spTgt spid="23"/>
                                        </p:tgtEl>
                                      </p:cBhvr>
                                    </p:animEffect>
                                  </p:childTnLst>
                                </p:cTn>
                              </p:par>
                            </p:childTnLst>
                          </p:cTn>
                        </p:par>
                      </p:childTnLst>
                    </p:cTn>
                  </p:par>
                  <p:par>
                    <p:cTn id="35" fill="hold">
                      <p:stCondLst>
                        <p:cond delay="indefinite"/>
                      </p:stCondLst>
                      <p:childTnLst>
                        <p:par>
                          <p:cTn id="36"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6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600"/>
                                        <p:tgtEl>
                                          <p:spTgt spid="29"/>
                                        </p:tgtEl>
                                      </p:cBhvr>
                                    </p:animEffect>
                                  </p:childTnLst>
                                </p:cTn>
                              </p:par>
                            </p:childTnLst>
                          </p:cTn>
                        </p:par>
                      </p:childTnLst>
                    </p:cTn>
                  </p:par>
                  <p:par>
                    <p:cTn id="43" fill="hold">
                      <p:stCondLst>
                        <p:cond delay="indefinite"/>
                      </p:stCondLst>
                      <p:childTnLst>
                        <p:par>
                          <p:cTn id="44"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600"/>
                                        <p:tgtEl>
                                          <p:spTgt spid="3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600"/>
                                        <p:tgtEl>
                                          <p:spTgt spid="35"/>
                                        </p:tgtEl>
                                      </p:cBhvr>
                                    </p:animEffect>
                                  </p:childTnLst>
                                </p:cTn>
                              </p:par>
                            </p:childTnLst>
                          </p:cTn>
                        </p:par>
                      </p:childTnLst>
                    </p:cTn>
                  </p:par>
                  <p:par>
                    <p:cTn id="48" fill="hold">
                      <p:stCondLst>
                        <p:cond delay="indefinite"/>
                      </p:stCondLst>
                      <p:childTnLst>
                        <p:par>
                          <p:cTn id="49"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6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9" grpId="0" animBg="1"/>
      <p:bldP spid="3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Workforce 2011 Job Fair @ Blaisdell Center" descr="41bfcdc98e8e609f.jpg"/>
          <p:cNvPicPr>
            <a:picLocks noChangeAspect="1"/>
          </p:cNvPicPr>
          <p:nvPr/>
        </p:nvPicPr>
        <p:blipFill>
          <a:blip r:embed="rId2"/>
          <a:stretch>
            <a:fillRect/>
          </a:stretch>
        </p:blipFill>
        <p:spPr>
          <a:xfrm>
            <a:off x="0" y="0"/>
            <a:ext cx="12191695" cy="2743200"/>
          </a:xfrm>
          <a:prstGeom prst="rect">
            <a:avLst/>
          </a:prstGeom>
        </p:spPr>
      </p:pic>
      <p:sp>
        <p:nvSpPr>
          <p:cNvPr id="3" name="!!kicker"/>
          <p:cNvSpPr txBox="1"/>
          <p:nvPr/>
        </p:nvSpPr>
        <p:spPr>
          <a:xfrm>
            <a:off x="5486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08</a:t>
            </a:r>
            <a:r>
              <a:rPr sz="1100" b="1" i="0" spc="300">
                <a:solidFill>
                  <a:srgbClr val="8993A4"/>
                </a:solidFill>
                <a:latin typeface="Arial"/>
              </a:rPr>
              <a:t>  —  NGUYÊN NHÂN</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08 / 15</a:t>
            </a:r>
          </a:p>
        </p:txBody>
      </p:sp>
      <p:sp>
        <p:nvSpPr>
          <p:cNvPr id="5" name="!!title"/>
          <p:cNvSpPr txBox="1"/>
          <p:nvPr/>
        </p:nvSpPr>
        <p:spPr>
          <a:xfrm>
            <a:off x="548640" y="777240"/>
            <a:ext cx="8229600" cy="731520"/>
          </a:xfrm>
          <a:prstGeom prst="rect">
            <a:avLst/>
          </a:prstGeom>
          <a:noFill/>
        </p:spPr>
        <p:txBody>
          <a:bodyPr wrap="square" anchor="t" lIns="0" rIns="0" tIns="0" bIns="0">
            <a:spAutoFit/>
          </a:bodyPr>
          <a:lstStyle/>
          <a:p>
            <a:pPr algn="l">
              <a:lnSpc>
                <a:spcPct val="105000"/>
              </a:lnSpc>
            </a:pPr>
            <a:r>
              <a:rPr sz="3400" b="0" i="0">
                <a:solidFill>
                  <a:srgbClr val="F4F0E8"/>
                </a:solidFill>
                <a:latin typeface="Be Vietnam Pro ExtraBold"/>
              </a:rPr>
              <a:t>Vì sao nhiều người rơi vào bẫy?</a:t>
            </a:r>
          </a:p>
        </p:txBody>
      </p:sp>
      <p:sp>
        <p:nvSpPr>
          <p:cNvPr id="6" name="TextBox 5"/>
          <p:cNvSpPr txBox="1"/>
          <p:nvPr/>
        </p:nvSpPr>
        <p:spPr>
          <a:xfrm>
            <a:off x="548640" y="1508760"/>
            <a:ext cx="8229600" cy="411480"/>
          </a:xfrm>
          <a:prstGeom prst="rect">
            <a:avLst/>
          </a:prstGeom>
          <a:noFill/>
        </p:spPr>
        <p:txBody>
          <a:bodyPr wrap="square" anchor="t" lIns="0" rIns="0" tIns="0" bIns="0">
            <a:spAutoFit/>
          </a:bodyPr>
          <a:lstStyle/>
          <a:p>
            <a:pPr algn="l"/>
            <a:r>
              <a:rPr sz="1500" b="0" i="0">
                <a:solidFill>
                  <a:srgbClr val="D9D4CA"/>
                </a:solidFill>
                <a:latin typeface="Arial"/>
              </a:rPr>
              <a:t>Không có một nguyên nhân duy nhất — các yếu tố cộng hưởng với nhau.</a:t>
            </a:r>
          </a:p>
        </p:txBody>
      </p:sp>
      <p:grpSp>
        <p:nvGrpSpPr>
          <p:cNvPr id="7" name="Nguyên nhân 1"/>
          <p:cNvGrpSpPr/>
          <p:nvPr/>
        </p:nvGrpSpPr>
        <p:grpSpPr>
          <a:xfrm>
            <a:off x="548640" y="2743200"/>
            <a:ext cx="2615184" cy="2011680"/>
            <a:chOff x="548640" y="2743200"/>
            <a:chExt cx="2615184" cy="2011680"/>
          </a:xfrm>
        </p:grpSpPr>
        <p:sp>
          <p:nvSpPr>
            <p:cNvPr id="8" name="Rectangle 7"/>
            <p:cNvSpPr/>
            <p:nvPr/>
          </p:nvSpPr>
          <p:spPr>
            <a:xfrm>
              <a:off x="548640" y="2743200"/>
              <a:ext cx="2615184" cy="2011680"/>
            </a:xfrm>
            <a:prstGeom prst="rect">
              <a:avLst/>
            </a:prstGeom>
            <a:solidFill>
              <a:srgbClr val="15171D"/>
            </a:solidFill>
            <a:ln>
              <a:noFill/>
            </a:ln>
          </p:spPr>
          <p:txBody>
            <a:bodyPr rtlCol="0" anchor="ctr"/>
            <a:lstStyle/>
            <a:p>
              <a:pPr algn="ctr"/>
            </a:p>
          </p:txBody>
        </p:sp>
        <p:sp>
          <p:nvSpPr>
            <p:cNvPr id="9" name="TextBox 8"/>
            <p:cNvSpPr txBox="1"/>
            <p:nvPr/>
          </p:nvSpPr>
          <p:spPr>
            <a:xfrm>
              <a:off x="731520" y="2862072"/>
              <a:ext cx="2286000" cy="320040"/>
            </a:xfrm>
            <a:prstGeom prst="rect">
              <a:avLst/>
            </a:prstGeom>
            <a:noFill/>
          </p:spPr>
          <p:txBody>
            <a:bodyPr wrap="square" anchor="t" lIns="0" rIns="0" tIns="0" bIns="0">
              <a:spAutoFit/>
            </a:bodyPr>
            <a:lstStyle/>
            <a:p>
              <a:pPr algn="l"/>
              <a:r>
                <a:rPr sz="1600" b="0" i="0">
                  <a:solidFill>
                    <a:srgbClr val="C83B45"/>
                  </a:solidFill>
                  <a:latin typeface="Be Vietnam Pro ExtraBold"/>
                </a:rPr>
                <a:t>01</a:t>
              </a:r>
            </a:p>
          </p:txBody>
        </p:sp>
        <p:sp>
          <p:nvSpPr>
            <p:cNvPr id="10" name="TextBox 9"/>
            <p:cNvSpPr txBox="1"/>
            <p:nvPr/>
          </p:nvSpPr>
          <p:spPr>
            <a:xfrm>
              <a:off x="731520" y="3200400"/>
              <a:ext cx="2286000" cy="1508760"/>
            </a:xfrm>
            <a:prstGeom prst="rect">
              <a:avLst/>
            </a:prstGeom>
            <a:noFill/>
          </p:spPr>
          <p:txBody>
            <a:bodyPr wrap="square" anchor="t" lIns="0" rIns="0" tIns="0" bIns="0">
              <a:spAutoFit/>
            </a:bodyPr>
            <a:lstStyle/>
            <a:p>
              <a:pPr algn="l">
                <a:lnSpc>
                  <a:spcPct val="105000"/>
                </a:lnSpc>
                <a:spcAft>
                  <a:spcPts val="400"/>
                </a:spcAft>
              </a:pPr>
              <a:r>
                <a:rPr sz="1600" b="1" i="0">
                  <a:solidFill>
                    <a:srgbClr val="F4F0E8"/>
                  </a:solidFill>
                  <a:latin typeface="Be Vietnam Pro"/>
                </a:rPr>
                <a:t>Kinh tế &amp; nhu cầu việc làm</a:t>
              </a:r>
            </a:p>
            <a:p>
              <a:pPr algn="l">
                <a:lnSpc>
                  <a:spcPct val="105000"/>
                </a:lnSpc>
              </a:pPr>
              <a:r>
                <a:rPr sz="1400" b="0" i="0">
                  <a:solidFill>
                    <a:srgbClr val="8993A4"/>
                  </a:solidFill>
                  <a:latin typeface="Arial"/>
                </a:rPr>
                <a:t>Thu nhập thấp, áp lực tài chính, mong muốn đổi đời nhanh.</a:t>
              </a:r>
            </a:p>
          </p:txBody>
        </p:sp>
      </p:grpSp>
      <p:grpSp>
        <p:nvGrpSpPr>
          <p:cNvPr id="11" name="Nguyên nhân 2"/>
          <p:cNvGrpSpPr/>
          <p:nvPr/>
        </p:nvGrpSpPr>
        <p:grpSpPr>
          <a:xfrm>
            <a:off x="3374136" y="2743200"/>
            <a:ext cx="2615184" cy="2011680"/>
            <a:chOff x="3374136" y="2743200"/>
            <a:chExt cx="2615184" cy="2011680"/>
          </a:xfrm>
        </p:grpSpPr>
        <p:sp>
          <p:nvSpPr>
            <p:cNvPr id="12" name="Rectangle 11"/>
            <p:cNvSpPr/>
            <p:nvPr/>
          </p:nvSpPr>
          <p:spPr>
            <a:xfrm>
              <a:off x="3374136" y="2743200"/>
              <a:ext cx="2615184" cy="2011680"/>
            </a:xfrm>
            <a:prstGeom prst="rect">
              <a:avLst/>
            </a:prstGeom>
            <a:solidFill>
              <a:srgbClr val="15171D"/>
            </a:solidFill>
            <a:ln>
              <a:noFill/>
            </a:ln>
          </p:spPr>
          <p:txBody>
            <a:bodyPr rtlCol="0" anchor="ctr"/>
            <a:lstStyle/>
            <a:p>
              <a:pPr algn="ctr"/>
            </a:p>
          </p:txBody>
        </p:sp>
        <p:sp>
          <p:nvSpPr>
            <p:cNvPr id="13" name="TextBox 12"/>
            <p:cNvSpPr txBox="1"/>
            <p:nvPr/>
          </p:nvSpPr>
          <p:spPr>
            <a:xfrm>
              <a:off x="3557016" y="2862072"/>
              <a:ext cx="2286000" cy="320040"/>
            </a:xfrm>
            <a:prstGeom prst="rect">
              <a:avLst/>
            </a:prstGeom>
            <a:noFill/>
          </p:spPr>
          <p:txBody>
            <a:bodyPr wrap="square" anchor="t" lIns="0" rIns="0" tIns="0" bIns="0">
              <a:spAutoFit/>
            </a:bodyPr>
            <a:lstStyle/>
            <a:p>
              <a:pPr algn="l"/>
              <a:r>
                <a:rPr sz="1600" b="0" i="0">
                  <a:solidFill>
                    <a:srgbClr val="C83B45"/>
                  </a:solidFill>
                  <a:latin typeface="Be Vietnam Pro ExtraBold"/>
                </a:rPr>
                <a:t>02</a:t>
              </a:r>
            </a:p>
          </p:txBody>
        </p:sp>
        <p:sp>
          <p:nvSpPr>
            <p:cNvPr id="14" name="TextBox 13"/>
            <p:cNvSpPr txBox="1"/>
            <p:nvPr/>
          </p:nvSpPr>
          <p:spPr>
            <a:xfrm>
              <a:off x="3557016" y="3200400"/>
              <a:ext cx="2286000" cy="1508760"/>
            </a:xfrm>
            <a:prstGeom prst="rect">
              <a:avLst/>
            </a:prstGeom>
            <a:noFill/>
          </p:spPr>
          <p:txBody>
            <a:bodyPr wrap="square" anchor="t" lIns="0" rIns="0" tIns="0" bIns="0">
              <a:spAutoFit/>
            </a:bodyPr>
            <a:lstStyle/>
            <a:p>
              <a:pPr algn="l">
                <a:lnSpc>
                  <a:spcPct val="105000"/>
                </a:lnSpc>
                <a:spcAft>
                  <a:spcPts val="400"/>
                </a:spcAft>
              </a:pPr>
              <a:r>
                <a:rPr sz="1600" b="1" i="0">
                  <a:solidFill>
                    <a:srgbClr val="F4F0E8"/>
                  </a:solidFill>
                  <a:latin typeface="Be Vietnam Pro"/>
                </a:rPr>
                <a:t>Thiếu kỹ năng tự bảo vệ</a:t>
              </a:r>
            </a:p>
            <a:p>
              <a:pPr algn="l">
                <a:lnSpc>
                  <a:spcPct val="105000"/>
                </a:lnSpc>
              </a:pPr>
              <a:r>
                <a:rPr sz="1400" b="0" i="0">
                  <a:solidFill>
                    <a:srgbClr val="8993A4"/>
                  </a:solidFill>
                  <a:latin typeface="Arial"/>
                </a:rPr>
                <a:t>Ít hiểu biết pháp luật, chưa biết kiểm chứng tin tuyển dụng.</a:t>
              </a:r>
            </a:p>
          </p:txBody>
        </p:sp>
      </p:grpSp>
      <p:grpSp>
        <p:nvGrpSpPr>
          <p:cNvPr id="15" name="Nguyên nhân 3"/>
          <p:cNvGrpSpPr/>
          <p:nvPr/>
        </p:nvGrpSpPr>
        <p:grpSpPr>
          <a:xfrm>
            <a:off x="6199631" y="2743200"/>
            <a:ext cx="2615184" cy="2011680"/>
            <a:chOff x="6199631" y="2743200"/>
            <a:chExt cx="2615184" cy="2011680"/>
          </a:xfrm>
        </p:grpSpPr>
        <p:sp>
          <p:nvSpPr>
            <p:cNvPr id="16" name="Rectangle 15"/>
            <p:cNvSpPr/>
            <p:nvPr/>
          </p:nvSpPr>
          <p:spPr>
            <a:xfrm>
              <a:off x="6199631" y="2743200"/>
              <a:ext cx="2615184" cy="2011680"/>
            </a:xfrm>
            <a:prstGeom prst="rect">
              <a:avLst/>
            </a:prstGeom>
            <a:solidFill>
              <a:srgbClr val="15171D"/>
            </a:solidFill>
            <a:ln>
              <a:noFill/>
            </a:ln>
          </p:spPr>
          <p:txBody>
            <a:bodyPr rtlCol="0" anchor="ctr"/>
            <a:lstStyle/>
            <a:p>
              <a:pPr algn="ctr"/>
            </a:p>
          </p:txBody>
        </p:sp>
        <p:sp>
          <p:nvSpPr>
            <p:cNvPr id="17" name="TextBox 16"/>
            <p:cNvSpPr txBox="1"/>
            <p:nvPr/>
          </p:nvSpPr>
          <p:spPr>
            <a:xfrm>
              <a:off x="6382512" y="2862072"/>
              <a:ext cx="2286000" cy="320040"/>
            </a:xfrm>
            <a:prstGeom prst="rect">
              <a:avLst/>
            </a:prstGeom>
            <a:noFill/>
          </p:spPr>
          <p:txBody>
            <a:bodyPr wrap="square" anchor="t" lIns="0" rIns="0" tIns="0" bIns="0">
              <a:spAutoFit/>
            </a:bodyPr>
            <a:lstStyle/>
            <a:p>
              <a:pPr algn="l"/>
              <a:r>
                <a:rPr sz="1600" b="0" i="0">
                  <a:solidFill>
                    <a:srgbClr val="C83B45"/>
                  </a:solidFill>
                  <a:latin typeface="Be Vietnam Pro ExtraBold"/>
                </a:rPr>
                <a:t>03</a:t>
              </a:r>
            </a:p>
          </p:txBody>
        </p:sp>
        <p:sp>
          <p:nvSpPr>
            <p:cNvPr id="18" name="TextBox 17"/>
            <p:cNvSpPr txBox="1"/>
            <p:nvPr/>
          </p:nvSpPr>
          <p:spPr>
            <a:xfrm>
              <a:off x="6382512" y="3200400"/>
              <a:ext cx="2286000" cy="1508760"/>
            </a:xfrm>
            <a:prstGeom prst="rect">
              <a:avLst/>
            </a:prstGeom>
            <a:noFill/>
          </p:spPr>
          <p:txBody>
            <a:bodyPr wrap="square" anchor="t" lIns="0" rIns="0" tIns="0" bIns="0">
              <a:spAutoFit/>
            </a:bodyPr>
            <a:lstStyle/>
            <a:p>
              <a:pPr algn="l">
                <a:lnSpc>
                  <a:spcPct val="105000"/>
                </a:lnSpc>
                <a:spcAft>
                  <a:spcPts val="400"/>
                </a:spcAft>
              </a:pPr>
              <a:r>
                <a:rPr sz="1600" b="1" i="0">
                  <a:solidFill>
                    <a:srgbClr val="F4F0E8"/>
                  </a:solidFill>
                  <a:latin typeface="Be Vietnam Pro"/>
                </a:rPr>
                <a:t>Công nghệ &amp; lòng tin bị lợi dụng</a:t>
              </a:r>
            </a:p>
            <a:p>
              <a:pPr algn="l">
                <a:lnSpc>
                  <a:spcPct val="105000"/>
                </a:lnSpc>
              </a:pPr>
              <a:r>
                <a:rPr sz="1400" b="0" i="0">
                  <a:solidFill>
                    <a:srgbClr val="8993A4"/>
                  </a:solidFill>
                  <a:latin typeface="Arial"/>
                </a:rPr>
                <a:t>Tài khoản ảo, quan hệ quen biết được dựng lên qua mạng.</a:t>
              </a:r>
            </a:p>
          </p:txBody>
        </p:sp>
      </p:grpSp>
      <p:grpSp>
        <p:nvGrpSpPr>
          <p:cNvPr id="19" name="Nguyên nhân 4"/>
          <p:cNvGrpSpPr/>
          <p:nvPr/>
        </p:nvGrpSpPr>
        <p:grpSpPr>
          <a:xfrm>
            <a:off x="9025128" y="2743200"/>
            <a:ext cx="2615184" cy="2011680"/>
            <a:chOff x="9025128" y="2743200"/>
            <a:chExt cx="2615184" cy="2011680"/>
          </a:xfrm>
        </p:grpSpPr>
        <p:sp>
          <p:nvSpPr>
            <p:cNvPr id="20" name="Rectangle 19"/>
            <p:cNvSpPr/>
            <p:nvPr/>
          </p:nvSpPr>
          <p:spPr>
            <a:xfrm>
              <a:off x="9025128" y="2743200"/>
              <a:ext cx="2615184" cy="2011680"/>
            </a:xfrm>
            <a:prstGeom prst="rect">
              <a:avLst/>
            </a:prstGeom>
            <a:solidFill>
              <a:srgbClr val="15171D"/>
            </a:solidFill>
            <a:ln>
              <a:noFill/>
            </a:ln>
          </p:spPr>
          <p:txBody>
            <a:bodyPr rtlCol="0" anchor="ctr"/>
            <a:lstStyle/>
            <a:p>
              <a:pPr algn="ctr"/>
            </a:p>
          </p:txBody>
        </p:sp>
        <p:sp>
          <p:nvSpPr>
            <p:cNvPr id="21" name="TextBox 20"/>
            <p:cNvSpPr txBox="1"/>
            <p:nvPr/>
          </p:nvSpPr>
          <p:spPr>
            <a:xfrm>
              <a:off x="9208007" y="2862072"/>
              <a:ext cx="2286000" cy="320040"/>
            </a:xfrm>
            <a:prstGeom prst="rect">
              <a:avLst/>
            </a:prstGeom>
            <a:noFill/>
          </p:spPr>
          <p:txBody>
            <a:bodyPr wrap="square" anchor="t" lIns="0" rIns="0" tIns="0" bIns="0">
              <a:spAutoFit/>
            </a:bodyPr>
            <a:lstStyle/>
            <a:p>
              <a:pPr algn="l"/>
              <a:r>
                <a:rPr sz="1600" b="0" i="0">
                  <a:solidFill>
                    <a:srgbClr val="C83B45"/>
                  </a:solidFill>
                  <a:latin typeface="Be Vietnam Pro ExtraBold"/>
                </a:rPr>
                <a:t>04</a:t>
              </a:r>
            </a:p>
          </p:txBody>
        </p:sp>
        <p:sp>
          <p:nvSpPr>
            <p:cNvPr id="22" name="TextBox 21"/>
            <p:cNvSpPr txBox="1"/>
            <p:nvPr/>
          </p:nvSpPr>
          <p:spPr>
            <a:xfrm>
              <a:off x="9208007" y="3200400"/>
              <a:ext cx="2286000" cy="1508760"/>
            </a:xfrm>
            <a:prstGeom prst="rect">
              <a:avLst/>
            </a:prstGeom>
            <a:noFill/>
          </p:spPr>
          <p:txBody>
            <a:bodyPr wrap="square" anchor="t" lIns="0" rIns="0" tIns="0" bIns="0">
              <a:spAutoFit/>
            </a:bodyPr>
            <a:lstStyle/>
            <a:p>
              <a:pPr algn="l">
                <a:lnSpc>
                  <a:spcPct val="105000"/>
                </a:lnSpc>
                <a:spcAft>
                  <a:spcPts val="400"/>
                </a:spcAft>
              </a:pPr>
              <a:r>
                <a:rPr sz="1600" b="1" i="0">
                  <a:solidFill>
                    <a:srgbClr val="F4F0E8"/>
                  </a:solidFill>
                  <a:latin typeface="Be Vietnam Pro"/>
                </a:rPr>
                <a:t>Khó phát hiện, báo tin, hỗ trợ</a:t>
              </a:r>
            </a:p>
            <a:p>
              <a:pPr algn="l">
                <a:lnSpc>
                  <a:spcPct val="105000"/>
                </a:lnSpc>
              </a:pPr>
              <a:r>
                <a:rPr sz="1400" b="0" i="0">
                  <a:solidFill>
                    <a:srgbClr val="8993A4"/>
                  </a:solidFill>
                  <a:latin typeface="Arial"/>
                </a:rPr>
                <a:t>Nạn nhân sợ hãi, mặc cảm; thủ đoạn kín đáo, xuyên biên giới.</a:t>
              </a:r>
            </a:p>
          </p:txBody>
        </p:sp>
      </p:grpSp>
      <p:grpSp>
        <p:nvGrpSpPr>
          <p:cNvPr id="23" name="Sơ đồ liên kết"/>
          <p:cNvGrpSpPr/>
          <p:nvPr/>
        </p:nvGrpSpPr>
        <p:grpSpPr>
          <a:xfrm>
            <a:off x="548640" y="4754880"/>
            <a:ext cx="11091672" cy="1143000"/>
            <a:chOff x="548640" y="4754880"/>
            <a:chExt cx="11091672" cy="1143000"/>
          </a:xfrm>
        </p:grpSpPr>
        <p:cxnSp>
          <p:nvCxnSpPr>
            <p:cNvPr id="24" name="Connector 23"/>
            <p:cNvCxnSpPr/>
            <p:nvPr/>
          </p:nvCxnSpPr>
          <p:spPr>
            <a:xfrm>
              <a:off x="1856231" y="4754880"/>
              <a:ext cx="0" cy="228600"/>
            </a:xfrm>
            <a:prstGeom prst="line">
              <a:avLst/>
            </a:prstGeom>
            <a:ln w="15875">
              <a:solidFill>
                <a:srgbClr val="8993A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1728" y="4754880"/>
              <a:ext cx="0" cy="228600"/>
            </a:xfrm>
            <a:prstGeom prst="line">
              <a:avLst/>
            </a:prstGeom>
            <a:ln w="15875">
              <a:solidFill>
                <a:srgbClr val="8993A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07223" y="4754880"/>
              <a:ext cx="0" cy="228600"/>
            </a:xfrm>
            <a:prstGeom prst="line">
              <a:avLst/>
            </a:prstGeom>
            <a:ln w="15875">
              <a:solidFill>
                <a:srgbClr val="8993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32719" y="4754880"/>
              <a:ext cx="0" cy="228600"/>
            </a:xfrm>
            <a:prstGeom prst="line">
              <a:avLst/>
            </a:prstGeom>
            <a:ln w="15875">
              <a:solidFill>
                <a:srgbClr val="8993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856231" y="4983480"/>
              <a:ext cx="8476488" cy="0"/>
            </a:xfrm>
            <a:prstGeom prst="line">
              <a:avLst/>
            </a:prstGeom>
            <a:ln w="15875">
              <a:solidFill>
                <a:srgbClr val="8993A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95847" y="4983480"/>
              <a:ext cx="0" cy="301752"/>
            </a:xfrm>
            <a:prstGeom prst="line">
              <a:avLst/>
            </a:prstGeom>
            <a:ln w="19050">
              <a:solidFill>
                <a:srgbClr val="C83B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48640" y="5303520"/>
              <a:ext cx="11091672" cy="594360"/>
            </a:xfrm>
            <a:prstGeom prst="rect">
              <a:avLst/>
            </a:prstGeom>
            <a:solidFill>
              <a:srgbClr val="C83B45"/>
            </a:solidFill>
            <a:ln>
              <a:noFill/>
            </a:ln>
          </p:spPr>
          <p:txBody>
            <a:bodyPr rtlCol="0" anchor="ctr"/>
            <a:lstStyle/>
            <a:p>
              <a:pPr algn="ctr"/>
            </a:p>
          </p:txBody>
        </p:sp>
        <p:sp>
          <p:nvSpPr>
            <p:cNvPr id="31" name="TextBox 30"/>
            <p:cNvSpPr txBox="1"/>
            <p:nvPr/>
          </p:nvSpPr>
          <p:spPr>
            <a:xfrm>
              <a:off x="548640" y="5303520"/>
              <a:ext cx="11091672" cy="594360"/>
            </a:xfrm>
            <a:prstGeom prst="rect">
              <a:avLst/>
            </a:prstGeom>
            <a:noFill/>
          </p:spPr>
          <p:txBody>
            <a:bodyPr wrap="square" anchor="ctr" lIns="0" rIns="0" tIns="0" bIns="0">
              <a:spAutoFit/>
            </a:bodyPr>
            <a:lstStyle/>
            <a:p>
              <a:pPr algn="ctr"/>
              <a:r>
                <a:rPr sz="1600" b="1" i="0">
                  <a:solidFill>
                    <a:srgbClr val="F4F0E8"/>
                  </a:solidFill>
                  <a:latin typeface="Be Vietnam Pro"/>
                </a:rPr>
                <a:t>Kẻ phạm tội nhắm vào chính những khoảng trống này để dụ dỗ, khống chế</a:t>
              </a:r>
            </a:p>
          </p:txBody>
        </p:sp>
      </p:grpSp>
      <p:sp>
        <p:nvSpPr>
          <p:cNvPr id="32" name="TextBox 31"/>
          <p:cNvSpPr txBox="1"/>
          <p:nvPr/>
        </p:nvSpPr>
        <p:spPr>
          <a:xfrm>
            <a:off x="548640" y="6035040"/>
            <a:ext cx="8229600" cy="365760"/>
          </a:xfrm>
          <a:prstGeom prst="rect">
            <a:avLst/>
          </a:prstGeom>
          <a:noFill/>
        </p:spPr>
        <p:txBody>
          <a:bodyPr wrap="square" anchor="t" lIns="0" rIns="0" tIns="0" bIns="0">
            <a:spAutoFit/>
          </a:bodyPr>
          <a:lstStyle/>
          <a:p>
            <a:pPr algn="l"/>
            <a:r>
              <a:rPr sz="1500" b="1" i="0">
                <a:solidFill>
                  <a:srgbClr val="C6A56B"/>
                </a:solidFill>
                <a:latin typeface="Arial"/>
              </a:rPr>
              <a:t>Trách nhiệm thuộc về kẻ phạm tội — nạn nhân không có lỗi.</a:t>
            </a:r>
          </a:p>
        </p:txBody>
      </p:sp>
      <p:sp>
        <p:nvSpPr>
          <p:cNvPr id="33" name="Ghi công ảnh"/>
          <p:cNvSpPr txBox="1"/>
          <p:nvPr/>
        </p:nvSpPr>
        <p:spPr>
          <a:xfrm>
            <a:off x="7498079" y="2359152"/>
            <a:ext cx="4160520" cy="274320"/>
          </a:xfrm>
          <a:prstGeom prst="rect">
            <a:avLst/>
          </a:prstGeom>
          <a:noFill/>
        </p:spPr>
        <p:txBody>
          <a:bodyPr wrap="square" anchor="t" lIns="0" rIns="0" tIns="0" bIns="0">
            <a:spAutoFit/>
          </a:bodyPr>
          <a:lstStyle/>
          <a:p>
            <a:pPr algn="r"/>
            <a:r>
              <a:rPr sz="1000" b="0" i="0">
                <a:solidFill>
                  <a:srgbClr val="8993A4"/>
                </a:solidFill>
                <a:latin typeface="Arial"/>
              </a:rPr>
              <a:t>Ảnh minh họa: Daniel Ramirez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800">
        <p:push dir="u"/>
      </p:transition>
    </mc:Choice>
    <mc:Fallback>
      <p:transition spd="med">
        <p:push dir="u"/>
      </p:transition>
    </mc:Fallback>
  </mc:AlternateContent>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13"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childTnLst>
                          </p:cTn>
                        </p:par>
                      </p:childTnLst>
                    </p:cTn>
                  </p:par>
                  <p:par>
                    <p:cTn id="26" fill="hold">
                      <p:stCondLst>
                        <p:cond delay="indefinite"/>
                      </p:stCondLst>
                      <p:childTnLst>
                        <p:par>
                          <p:cTn id="27"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6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600"/>
                                        <p:tgtEl>
                                          <p:spTgt spid="19"/>
                                        </p:tgtEl>
                                      </p:cBhvr>
                                    </p:animEffect>
                                  </p:childTnLst>
                                </p:cTn>
                              </p:par>
                            </p:childTnLst>
                          </p:cTn>
                        </p:par>
                      </p:childTnLst>
                    </p:cTn>
                  </p:par>
                  <p:par>
                    <p:cTn id="31" fill="hold">
                      <p:stCondLst>
                        <p:cond delay="indefinite"/>
                      </p:stCondLst>
                      <p:childTnLst>
                        <p:par>
                          <p:cTn id="32"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6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32"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Hanoi Lake" descr="0e5836c8bf70dc5b.jpg"/>
          <p:cNvPicPr>
            <a:picLocks noChangeAspect="1"/>
          </p:cNvPicPr>
          <p:nvPr/>
        </p:nvPicPr>
        <p:blipFill>
          <a:blip r:embed="rId2"/>
          <a:stretch>
            <a:fillRect/>
          </a:stretch>
        </p:blipFill>
        <p:spPr>
          <a:xfrm>
            <a:off x="0" y="0"/>
            <a:ext cx="6949440" cy="6858000"/>
          </a:xfrm>
          <a:prstGeom prst="rect">
            <a:avLst/>
          </a:prstGeom>
        </p:spPr>
      </p:pic>
      <p:sp>
        <p:nvSpPr>
          <p:cNvPr id="3" name="!!kicker"/>
          <p:cNvSpPr txBox="1"/>
          <p:nvPr/>
        </p:nvSpPr>
        <p:spPr>
          <a:xfrm>
            <a:off x="74066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09</a:t>
            </a:r>
            <a:r>
              <a:rPr sz="1100" b="1" i="0" spc="300">
                <a:solidFill>
                  <a:srgbClr val="8993A4"/>
                </a:solidFill>
                <a:latin typeface="Arial"/>
              </a:rPr>
              <a:t>  —  HẬU QUẢ</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09 / 15</a:t>
            </a:r>
          </a:p>
        </p:txBody>
      </p:sp>
      <p:sp>
        <p:nvSpPr>
          <p:cNvPr id="5" name="!!title"/>
          <p:cNvSpPr txBox="1"/>
          <p:nvPr/>
        </p:nvSpPr>
        <p:spPr>
          <a:xfrm>
            <a:off x="7406640" y="777240"/>
            <a:ext cx="4297680" cy="1188720"/>
          </a:xfrm>
          <a:prstGeom prst="rect">
            <a:avLst/>
          </a:prstGeom>
          <a:noFill/>
        </p:spPr>
        <p:txBody>
          <a:bodyPr wrap="square" anchor="t" lIns="0" rIns="0" tIns="0" bIns="0">
            <a:spAutoFit/>
          </a:bodyPr>
          <a:lstStyle/>
          <a:p>
            <a:pPr algn="l">
              <a:lnSpc>
                <a:spcPct val="105000"/>
              </a:lnSpc>
            </a:pPr>
            <a:r>
              <a:rPr sz="3000" b="0" i="0">
                <a:solidFill>
                  <a:srgbClr val="F4F0E8"/>
                </a:solidFill>
                <a:latin typeface="Be Vietnam Pro ExtraBold"/>
              </a:rPr>
              <a:t>Những vết thương không nhìn thấy</a:t>
            </a:r>
          </a:p>
        </p:txBody>
      </p:sp>
      <p:grpSp>
        <p:nvGrpSpPr>
          <p:cNvPr id="6" name="Đối Với Nạn Nhân"/>
          <p:cNvGrpSpPr/>
          <p:nvPr/>
        </p:nvGrpSpPr>
        <p:grpSpPr>
          <a:xfrm>
            <a:off x="7406640" y="2148840"/>
            <a:ext cx="4297680" cy="1261872"/>
            <a:chOff x="7406640" y="2148840"/>
            <a:chExt cx="4297680" cy="1261872"/>
          </a:xfrm>
        </p:grpSpPr>
        <p:sp>
          <p:nvSpPr>
            <p:cNvPr id="7" name="TextBox 6"/>
            <p:cNvSpPr txBox="1"/>
            <p:nvPr/>
          </p:nvSpPr>
          <p:spPr>
            <a:xfrm>
              <a:off x="7406640" y="2148840"/>
              <a:ext cx="4297680" cy="274320"/>
            </a:xfrm>
            <a:prstGeom prst="rect">
              <a:avLst/>
            </a:prstGeom>
            <a:noFill/>
          </p:spPr>
          <p:txBody>
            <a:bodyPr wrap="square" anchor="t" lIns="0" rIns="0" tIns="0" bIns="0">
              <a:spAutoFit/>
            </a:bodyPr>
            <a:lstStyle/>
            <a:p>
              <a:pPr algn="l"/>
              <a:r>
                <a:rPr sz="1200" b="1" i="0" spc="150">
                  <a:solidFill>
                    <a:srgbClr val="C83B45"/>
                  </a:solidFill>
                  <a:latin typeface="Arial"/>
                </a:rPr>
                <a:t>ĐỐI VỚI NẠN NHÂN</a:t>
              </a:r>
            </a:p>
          </p:txBody>
        </p:sp>
        <p:sp>
          <p:nvSpPr>
            <p:cNvPr id="8" name="TextBox 7"/>
            <p:cNvSpPr txBox="1"/>
            <p:nvPr/>
          </p:nvSpPr>
          <p:spPr>
            <a:xfrm>
              <a:off x="7406640" y="2450592"/>
              <a:ext cx="4297680" cy="960120"/>
            </a:xfrm>
            <a:prstGeom prst="rect">
              <a:avLst/>
            </a:prstGeom>
            <a:noFill/>
          </p:spPr>
          <p:txBody>
            <a:bodyPr wrap="square" anchor="t" lIns="0" rIns="0" tIns="0" bIns="0">
              <a:spAutoFit/>
            </a:bodyPr>
            <a:lstStyle/>
            <a:p>
              <a:pPr algn="l">
                <a:lnSpc>
                  <a:spcPct val="110000"/>
                </a:lnSpc>
              </a:pPr>
              <a:r>
                <a:rPr sz="1500" b="0" i="0">
                  <a:solidFill>
                    <a:srgbClr val="F4F0E8"/>
                  </a:solidFill>
                  <a:latin typeface="Arial"/>
                </a:rPr>
                <a:t>Tổn hại sức khỏe, sang chấn tâm lý; mất tự do, nhân phẩm; dang dở việc học và tương lai.</a:t>
              </a:r>
            </a:p>
          </p:txBody>
        </p:sp>
      </p:grpSp>
      <p:grpSp>
        <p:nvGrpSpPr>
          <p:cNvPr id="9" name="Đối Với Gia Đình"/>
          <p:cNvGrpSpPr/>
          <p:nvPr/>
        </p:nvGrpSpPr>
        <p:grpSpPr>
          <a:xfrm>
            <a:off x="7406640" y="3474720"/>
            <a:ext cx="4297680" cy="1261872"/>
            <a:chOff x="7406640" y="3474720"/>
            <a:chExt cx="4297680" cy="1261872"/>
          </a:xfrm>
        </p:grpSpPr>
        <p:sp>
          <p:nvSpPr>
            <p:cNvPr id="10" name="TextBox 9"/>
            <p:cNvSpPr txBox="1"/>
            <p:nvPr/>
          </p:nvSpPr>
          <p:spPr>
            <a:xfrm>
              <a:off x="7406640" y="3474720"/>
              <a:ext cx="4297680" cy="274320"/>
            </a:xfrm>
            <a:prstGeom prst="rect">
              <a:avLst/>
            </a:prstGeom>
            <a:noFill/>
          </p:spPr>
          <p:txBody>
            <a:bodyPr wrap="square" anchor="t" lIns="0" rIns="0" tIns="0" bIns="0">
              <a:spAutoFit/>
            </a:bodyPr>
            <a:lstStyle/>
            <a:p>
              <a:pPr algn="l"/>
              <a:r>
                <a:rPr sz="1200" b="1" i="0" spc="150">
                  <a:solidFill>
                    <a:srgbClr val="C83B45"/>
                  </a:solidFill>
                  <a:latin typeface="Arial"/>
                </a:rPr>
                <a:t>ĐỐI VỚI GIA ĐÌNH</a:t>
              </a:r>
            </a:p>
          </p:txBody>
        </p:sp>
        <p:sp>
          <p:nvSpPr>
            <p:cNvPr id="11" name="TextBox 10"/>
            <p:cNvSpPr txBox="1"/>
            <p:nvPr/>
          </p:nvSpPr>
          <p:spPr>
            <a:xfrm>
              <a:off x="7406640" y="3776472"/>
              <a:ext cx="4297680" cy="960120"/>
            </a:xfrm>
            <a:prstGeom prst="rect">
              <a:avLst/>
            </a:prstGeom>
            <a:noFill/>
          </p:spPr>
          <p:txBody>
            <a:bodyPr wrap="square" anchor="t" lIns="0" rIns="0" tIns="0" bIns="0">
              <a:spAutoFit/>
            </a:bodyPr>
            <a:lstStyle/>
            <a:p>
              <a:pPr algn="l">
                <a:lnSpc>
                  <a:spcPct val="110000"/>
                </a:lnSpc>
              </a:pPr>
              <a:r>
                <a:rPr sz="1500" b="0" i="0">
                  <a:solidFill>
                    <a:srgbClr val="F4F0E8"/>
                  </a:solidFill>
                  <a:latin typeface="Arial"/>
                </a:rPr>
                <a:t>Lo âu, đau đớn khi mất liên lạc; gánh nặng nợ nần, tiền chuộc; khó khăn khi đón người thân trở về.</a:t>
              </a:r>
            </a:p>
          </p:txBody>
        </p:sp>
      </p:grpSp>
      <p:grpSp>
        <p:nvGrpSpPr>
          <p:cNvPr id="12" name="Đối Với Xã Hội"/>
          <p:cNvGrpSpPr/>
          <p:nvPr/>
        </p:nvGrpSpPr>
        <p:grpSpPr>
          <a:xfrm>
            <a:off x="7406640" y="4800600"/>
            <a:ext cx="4297680" cy="1261872"/>
            <a:chOff x="7406640" y="4800600"/>
            <a:chExt cx="4297680" cy="1261872"/>
          </a:xfrm>
        </p:grpSpPr>
        <p:sp>
          <p:nvSpPr>
            <p:cNvPr id="13" name="TextBox 12"/>
            <p:cNvSpPr txBox="1"/>
            <p:nvPr/>
          </p:nvSpPr>
          <p:spPr>
            <a:xfrm>
              <a:off x="7406640" y="4800600"/>
              <a:ext cx="4297680" cy="274320"/>
            </a:xfrm>
            <a:prstGeom prst="rect">
              <a:avLst/>
            </a:prstGeom>
            <a:noFill/>
          </p:spPr>
          <p:txBody>
            <a:bodyPr wrap="square" anchor="t" lIns="0" rIns="0" tIns="0" bIns="0">
              <a:spAutoFit/>
            </a:bodyPr>
            <a:lstStyle/>
            <a:p>
              <a:pPr algn="l"/>
              <a:r>
                <a:rPr sz="1200" b="1" i="0" spc="150">
                  <a:solidFill>
                    <a:srgbClr val="C83B45"/>
                  </a:solidFill>
                  <a:latin typeface="Arial"/>
                </a:rPr>
                <a:t>ĐỐI VỚI XÃ HỘI</a:t>
              </a:r>
            </a:p>
          </p:txBody>
        </p:sp>
        <p:sp>
          <p:nvSpPr>
            <p:cNvPr id="14" name="TextBox 13"/>
            <p:cNvSpPr txBox="1"/>
            <p:nvPr/>
          </p:nvSpPr>
          <p:spPr>
            <a:xfrm>
              <a:off x="7406640" y="5102352"/>
              <a:ext cx="4297680" cy="960120"/>
            </a:xfrm>
            <a:prstGeom prst="rect">
              <a:avLst/>
            </a:prstGeom>
            <a:noFill/>
          </p:spPr>
          <p:txBody>
            <a:bodyPr wrap="square" anchor="t" lIns="0" rIns="0" tIns="0" bIns="0">
              <a:spAutoFit/>
            </a:bodyPr>
            <a:lstStyle/>
            <a:p>
              <a:pPr algn="l">
                <a:lnSpc>
                  <a:spcPct val="110000"/>
                </a:lnSpc>
              </a:pPr>
              <a:r>
                <a:rPr sz="1500" b="0" i="0">
                  <a:solidFill>
                    <a:srgbClr val="F4F0E8"/>
                  </a:solidFill>
                  <a:latin typeface="Arial"/>
                </a:rPr>
                <a:t>Mất an ninh trật tự, tiếp tay cho tội phạm có tổ chức; làm xói mòn niềm tin trong cộng đồng.</a:t>
              </a:r>
            </a:p>
          </p:txBody>
        </p:sp>
      </p:grpSp>
      <p:sp>
        <p:nvSpPr>
          <p:cNvPr id="15" name="TextBox 14"/>
          <p:cNvSpPr txBox="1"/>
          <p:nvPr/>
        </p:nvSpPr>
        <p:spPr>
          <a:xfrm>
            <a:off x="548640" y="5257800"/>
            <a:ext cx="5760720" cy="914400"/>
          </a:xfrm>
          <a:prstGeom prst="rect">
            <a:avLst/>
          </a:prstGeom>
          <a:noFill/>
        </p:spPr>
        <p:txBody>
          <a:bodyPr wrap="square" anchor="t" lIns="0" rIns="0" tIns="0" bIns="0">
            <a:spAutoFit/>
          </a:bodyPr>
          <a:lstStyle/>
          <a:p>
            <a:pPr algn="l">
              <a:lnSpc>
                <a:spcPct val="110000"/>
              </a:lnSpc>
            </a:pPr>
            <a:r>
              <a:rPr sz="2100" b="0" i="1">
                <a:solidFill>
                  <a:srgbClr val="F4F0E8"/>
                </a:solidFill>
                <a:latin typeface="Be Vietnam Pro"/>
              </a:rPr>
              <a:t>Ai cũng cần được lắng nghe và hỗ trợ — không phải bị phán xét.</a:t>
            </a:r>
          </a:p>
        </p:txBody>
      </p:sp>
      <p:sp>
        <p:nvSpPr>
          <p:cNvPr id="16" name="Ghi công ảnh"/>
          <p:cNvSpPr txBox="1"/>
          <p:nvPr/>
        </p:nvSpPr>
        <p:spPr>
          <a:xfrm>
            <a:off x="548640" y="6419088"/>
            <a:ext cx="5669280" cy="274320"/>
          </a:xfrm>
          <a:prstGeom prst="rect">
            <a:avLst/>
          </a:prstGeom>
          <a:noFill/>
        </p:spPr>
        <p:txBody>
          <a:bodyPr wrap="square" anchor="t" lIns="0" rIns="0" tIns="0" bIns="0">
            <a:spAutoFit/>
          </a:bodyPr>
          <a:lstStyle/>
          <a:p>
            <a:pPr algn="l"/>
            <a:r>
              <a:rPr sz="1000" b="0" i="0">
                <a:solidFill>
                  <a:srgbClr val="8993A4"/>
                </a:solidFill>
                <a:latin typeface="Arial"/>
              </a:rPr>
              <a:t>Ảnh: Smitha Murthy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600"/>
                                        <p:tgtEl>
                                          <p:spTgt spid="12"/>
                                        </p:tgtEl>
                                      </p:cBhvr>
                                    </p:animEffect>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5"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171D"/>
        </a:solidFill>
        <a:effectLst/>
      </p:bgPr>
    </p:bg>
    <p:spTree>
      <p:nvGrpSpPr>
        <p:cNvPr id="1" name=""/>
        <p:cNvGrpSpPr/>
        <p:nvPr/>
      </p:nvGrpSpPr>
      <p:grpSpPr/>
      <p:pic>
        <p:nvPicPr>
          <p:cNvPr id="2" name="Ảnh – hanoi streets" descr="3846c6814a2f0c2c.jpg"/>
          <p:cNvPicPr>
            <a:picLocks noChangeAspect="1"/>
          </p:cNvPicPr>
          <p:nvPr/>
        </p:nvPicPr>
        <p:blipFill>
          <a:blip r:embed="rId2"/>
          <a:stretch>
            <a:fillRect/>
          </a:stretch>
        </p:blipFill>
        <p:spPr>
          <a:xfrm>
            <a:off x="7589520" y="0"/>
            <a:ext cx="4602175" cy="6858000"/>
          </a:xfrm>
          <a:prstGeom prst="rect">
            <a:avLst/>
          </a:prstGeom>
        </p:spPr>
      </p:pic>
      <p:sp>
        <p:nvSpPr>
          <p:cNvPr id="3" name="!!kicker"/>
          <p:cNvSpPr txBox="1"/>
          <p:nvPr/>
        </p:nvSpPr>
        <p:spPr>
          <a:xfrm>
            <a:off x="5486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10</a:t>
            </a:r>
            <a:r>
              <a:rPr sz="1100" b="1" i="0" spc="300">
                <a:solidFill>
                  <a:srgbClr val="8993A4"/>
                </a:solidFill>
                <a:latin typeface="Arial"/>
              </a:rPr>
              <a:t>  —  TÌNH HUỐNG</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10 / 15</a:t>
            </a:r>
          </a:p>
        </p:txBody>
      </p:sp>
      <p:sp>
        <p:nvSpPr>
          <p:cNvPr id="5" name="!!title"/>
          <p:cNvSpPr txBox="1"/>
          <p:nvPr/>
        </p:nvSpPr>
        <p:spPr>
          <a:xfrm>
            <a:off x="548640" y="777240"/>
            <a:ext cx="6949440" cy="731520"/>
          </a:xfrm>
          <a:prstGeom prst="rect">
            <a:avLst/>
          </a:prstGeom>
          <a:noFill/>
        </p:spPr>
        <p:txBody>
          <a:bodyPr wrap="square" anchor="t" lIns="0" rIns="0" tIns="0" bIns="0">
            <a:spAutoFit/>
          </a:bodyPr>
          <a:lstStyle/>
          <a:p>
            <a:pPr algn="l">
              <a:lnSpc>
                <a:spcPct val="105000"/>
              </a:lnSpc>
            </a:pPr>
            <a:r>
              <a:rPr sz="3200" b="0" i="0">
                <a:solidFill>
                  <a:srgbClr val="F4F0E8"/>
                </a:solidFill>
                <a:latin typeface="Be Vietnam Pro ExtraBold"/>
              </a:rPr>
              <a:t>Lời mời “quá tốt để là thật”</a:t>
            </a:r>
          </a:p>
        </p:txBody>
      </p:sp>
      <p:grpSp>
        <p:nvGrpSpPr>
          <p:cNvPr id="6" name="Tình huống giả định"/>
          <p:cNvGrpSpPr/>
          <p:nvPr/>
        </p:nvGrpSpPr>
        <p:grpSpPr>
          <a:xfrm>
            <a:off x="548640" y="1600200"/>
            <a:ext cx="6720840" cy="1280160"/>
            <a:chOff x="548640" y="1600200"/>
            <a:chExt cx="6720840" cy="1280160"/>
          </a:xfrm>
        </p:grpSpPr>
        <p:sp>
          <p:nvSpPr>
            <p:cNvPr id="7" name="Rectangle 6"/>
            <p:cNvSpPr/>
            <p:nvPr/>
          </p:nvSpPr>
          <p:spPr>
            <a:xfrm>
              <a:off x="548640" y="1600200"/>
              <a:ext cx="6720840" cy="1280160"/>
            </a:xfrm>
            <a:prstGeom prst="rect">
              <a:avLst/>
            </a:prstGeom>
            <a:solidFill>
              <a:srgbClr val="0B1020"/>
            </a:solidFill>
            <a:ln w="12700">
              <a:solidFill>
                <a:srgbClr val="C83B45"/>
              </a:solidFill>
            </a:ln>
          </p:spPr>
          <p:txBody>
            <a:bodyPr rtlCol="0" anchor="ctr"/>
            <a:lstStyle/>
            <a:p>
              <a:pPr algn="ctr"/>
            </a:p>
          </p:txBody>
        </p:sp>
        <p:sp>
          <p:nvSpPr>
            <p:cNvPr id="8" name="TextBox 7"/>
            <p:cNvSpPr txBox="1"/>
            <p:nvPr/>
          </p:nvSpPr>
          <p:spPr>
            <a:xfrm>
              <a:off x="731520" y="1691640"/>
              <a:ext cx="6400800" cy="274320"/>
            </a:xfrm>
            <a:prstGeom prst="rect">
              <a:avLst/>
            </a:prstGeom>
            <a:noFill/>
          </p:spPr>
          <p:txBody>
            <a:bodyPr wrap="square" anchor="t" lIns="0" rIns="0" tIns="0" bIns="0">
              <a:spAutoFit/>
            </a:bodyPr>
            <a:lstStyle/>
            <a:p>
              <a:pPr algn="l"/>
              <a:r>
                <a:rPr sz="1100" b="1" i="0" spc="150">
                  <a:solidFill>
                    <a:srgbClr val="C83B45"/>
                  </a:solidFill>
                  <a:latin typeface="Arial"/>
                </a:rPr>
                <a:t>TÌNH HUỐNG GIẢ ĐỊNH</a:t>
              </a:r>
            </a:p>
          </p:txBody>
        </p:sp>
        <p:sp>
          <p:nvSpPr>
            <p:cNvPr id="9" name="TextBox 8"/>
            <p:cNvSpPr txBox="1"/>
            <p:nvPr/>
          </p:nvSpPr>
          <p:spPr>
            <a:xfrm>
              <a:off x="731520" y="1965960"/>
              <a:ext cx="6400800" cy="914400"/>
            </a:xfrm>
            <a:prstGeom prst="rect">
              <a:avLst/>
            </a:prstGeom>
            <a:noFill/>
          </p:spPr>
          <p:txBody>
            <a:bodyPr wrap="square" anchor="t" lIns="0" rIns="0" tIns="0" bIns="0">
              <a:spAutoFit/>
            </a:bodyPr>
            <a:lstStyle/>
            <a:p>
              <a:pPr algn="l">
                <a:lnSpc>
                  <a:spcPct val="108000"/>
                </a:lnSpc>
              </a:pPr>
              <a:r>
                <a:rPr sz="1500" b="0" i="0">
                  <a:solidFill>
                    <a:srgbClr val="F4F0E8"/>
                  </a:solidFill>
                  <a:latin typeface="Arial"/>
                </a:rPr>
                <a:t>Một bạn 18 tuổi ở Hà Nội được “người quen trên mạng” mời làm phục vụ ở tỉnh khác, lương 25 triệu/tháng. Điều kiện: không ký hợp đồng, giữ bí mật với gia đình và lên xe ngay tối nay.</a:t>
              </a:r>
            </a:p>
          </p:txBody>
        </p:sp>
      </p:grpSp>
      <p:grpSp>
        <p:nvGrpSpPr>
          <p:cNvPr id="10" name="Dấu Hiệu Nguy Hiểm"/>
          <p:cNvGrpSpPr/>
          <p:nvPr/>
        </p:nvGrpSpPr>
        <p:grpSpPr>
          <a:xfrm>
            <a:off x="548640" y="3108960"/>
            <a:ext cx="3291840" cy="1298448"/>
            <a:chOff x="548640" y="3108960"/>
            <a:chExt cx="3291840" cy="1298448"/>
          </a:xfrm>
        </p:grpSpPr>
        <p:sp>
          <p:nvSpPr>
            <p:cNvPr id="11" name="Rectangle 10"/>
            <p:cNvSpPr/>
            <p:nvPr/>
          </p:nvSpPr>
          <p:spPr>
            <a:xfrm>
              <a:off x="548640" y="3108960"/>
              <a:ext cx="3291840" cy="1298448"/>
            </a:xfrm>
            <a:prstGeom prst="rect">
              <a:avLst/>
            </a:prstGeom>
            <a:solidFill>
              <a:srgbClr val="0B1020"/>
            </a:solidFill>
            <a:ln>
              <a:noFill/>
            </a:ln>
          </p:spPr>
          <p:txBody>
            <a:bodyPr rtlCol="0" anchor="ctr"/>
            <a:lstStyle/>
            <a:p>
              <a:pPr algn="ctr"/>
            </a:p>
          </p:txBody>
        </p:sp>
        <p:sp>
          <p:nvSpPr>
            <p:cNvPr id="12" name="TextBox 11"/>
            <p:cNvSpPr txBox="1"/>
            <p:nvPr/>
          </p:nvSpPr>
          <p:spPr>
            <a:xfrm>
              <a:off x="731520" y="3246120"/>
              <a:ext cx="2971800" cy="274320"/>
            </a:xfrm>
            <a:prstGeom prst="rect">
              <a:avLst/>
            </a:prstGeom>
            <a:noFill/>
          </p:spPr>
          <p:txBody>
            <a:bodyPr wrap="square" anchor="t" lIns="0" rIns="0" tIns="0" bIns="0">
              <a:spAutoFit/>
            </a:bodyPr>
            <a:lstStyle/>
            <a:p>
              <a:pPr algn="l"/>
              <a:r>
                <a:rPr sz="1100" b="1" i="0" spc="120">
                  <a:solidFill>
                    <a:srgbClr val="C83B45"/>
                  </a:solidFill>
                  <a:latin typeface="Arial"/>
                </a:rPr>
                <a:t>DẤU HIỆU NGUY HIỂM</a:t>
              </a:r>
            </a:p>
          </p:txBody>
        </p:sp>
        <p:sp>
          <p:nvSpPr>
            <p:cNvPr id="13" name="TextBox 12"/>
            <p:cNvSpPr txBox="1"/>
            <p:nvPr/>
          </p:nvSpPr>
          <p:spPr>
            <a:xfrm>
              <a:off x="731520" y="3547872"/>
              <a:ext cx="2971800" cy="822960"/>
            </a:xfrm>
            <a:prstGeom prst="rect">
              <a:avLst/>
            </a:prstGeom>
            <a:noFill/>
          </p:spPr>
          <p:txBody>
            <a:bodyPr wrap="square" anchor="t" lIns="0" rIns="0" tIns="0" bIns="0">
              <a:spAutoFit/>
            </a:bodyPr>
            <a:lstStyle/>
            <a:p>
              <a:pPr algn="l">
                <a:lnSpc>
                  <a:spcPct val="108000"/>
                </a:lnSpc>
              </a:pPr>
              <a:r>
                <a:rPr sz="1500" b="0" i="0">
                  <a:solidFill>
                    <a:srgbClr val="F4F0E8"/>
                  </a:solidFill>
                  <a:latin typeface="Arial"/>
                </a:rPr>
                <a:t>Lương cao bất thường, không hợp đồng, bắt giữ bí mật, ép đi gấp.</a:t>
              </a:r>
            </a:p>
          </p:txBody>
        </p:sp>
      </p:grpSp>
      <p:grpSp>
        <p:nvGrpSpPr>
          <p:cNvPr id="14" name="Lựa Chọn An Toàn"/>
          <p:cNvGrpSpPr/>
          <p:nvPr/>
        </p:nvGrpSpPr>
        <p:grpSpPr>
          <a:xfrm>
            <a:off x="3977639" y="3108960"/>
            <a:ext cx="3291840" cy="1298448"/>
            <a:chOff x="3977639" y="3108960"/>
            <a:chExt cx="3291840" cy="1298448"/>
          </a:xfrm>
        </p:grpSpPr>
        <p:sp>
          <p:nvSpPr>
            <p:cNvPr id="15" name="Rectangle 14"/>
            <p:cNvSpPr/>
            <p:nvPr/>
          </p:nvSpPr>
          <p:spPr>
            <a:xfrm>
              <a:off x="3977639" y="3108960"/>
              <a:ext cx="3291840" cy="1298448"/>
            </a:xfrm>
            <a:prstGeom prst="rect">
              <a:avLst/>
            </a:prstGeom>
            <a:solidFill>
              <a:srgbClr val="0B1020"/>
            </a:solidFill>
            <a:ln>
              <a:noFill/>
            </a:ln>
          </p:spPr>
          <p:txBody>
            <a:bodyPr rtlCol="0" anchor="ctr"/>
            <a:lstStyle/>
            <a:p>
              <a:pPr algn="ctr"/>
            </a:p>
          </p:txBody>
        </p:sp>
        <p:sp>
          <p:nvSpPr>
            <p:cNvPr id="16" name="TextBox 15"/>
            <p:cNvSpPr txBox="1"/>
            <p:nvPr/>
          </p:nvSpPr>
          <p:spPr>
            <a:xfrm>
              <a:off x="4160520" y="3246120"/>
              <a:ext cx="2971800" cy="274320"/>
            </a:xfrm>
            <a:prstGeom prst="rect">
              <a:avLst/>
            </a:prstGeom>
            <a:noFill/>
          </p:spPr>
          <p:txBody>
            <a:bodyPr wrap="square" anchor="t" lIns="0" rIns="0" tIns="0" bIns="0">
              <a:spAutoFit/>
            </a:bodyPr>
            <a:lstStyle/>
            <a:p>
              <a:pPr algn="l"/>
              <a:r>
                <a:rPr sz="1100" b="1" i="0" spc="120">
                  <a:solidFill>
                    <a:srgbClr val="C6A56B"/>
                  </a:solidFill>
                  <a:latin typeface="Arial"/>
                </a:rPr>
                <a:t>LỰA CHỌN AN TOÀN</a:t>
              </a:r>
            </a:p>
          </p:txBody>
        </p:sp>
        <p:sp>
          <p:nvSpPr>
            <p:cNvPr id="17" name="TextBox 16"/>
            <p:cNvSpPr txBox="1"/>
            <p:nvPr/>
          </p:nvSpPr>
          <p:spPr>
            <a:xfrm>
              <a:off x="4160520" y="3547872"/>
              <a:ext cx="2971800" cy="822960"/>
            </a:xfrm>
            <a:prstGeom prst="rect">
              <a:avLst/>
            </a:prstGeom>
            <a:noFill/>
          </p:spPr>
          <p:txBody>
            <a:bodyPr wrap="square" anchor="t" lIns="0" rIns="0" tIns="0" bIns="0">
              <a:spAutoFit/>
            </a:bodyPr>
            <a:lstStyle/>
            <a:p>
              <a:pPr algn="l">
                <a:lnSpc>
                  <a:spcPct val="108000"/>
                </a:lnSpc>
              </a:pPr>
              <a:r>
                <a:rPr sz="1500" b="0" i="0">
                  <a:solidFill>
                    <a:srgbClr val="F4F0E8"/>
                  </a:solidFill>
                  <a:latin typeface="Arial"/>
                </a:rPr>
                <a:t>Từ chối hoặc hoãn lại; không gửi giấy tờ; không lên xe cùng người lạ.</a:t>
              </a:r>
            </a:p>
          </p:txBody>
        </p:sp>
      </p:grpSp>
      <p:grpSp>
        <p:nvGrpSpPr>
          <p:cNvPr id="18" name="Ai Có Thể Hỗ Trợ"/>
          <p:cNvGrpSpPr/>
          <p:nvPr/>
        </p:nvGrpSpPr>
        <p:grpSpPr>
          <a:xfrm>
            <a:off x="548640" y="4572000"/>
            <a:ext cx="3291840" cy="1298448"/>
            <a:chOff x="548640" y="4572000"/>
            <a:chExt cx="3291840" cy="1298448"/>
          </a:xfrm>
        </p:grpSpPr>
        <p:sp>
          <p:nvSpPr>
            <p:cNvPr id="19" name="Rectangle 18"/>
            <p:cNvSpPr/>
            <p:nvPr/>
          </p:nvSpPr>
          <p:spPr>
            <a:xfrm>
              <a:off x="548640" y="4572000"/>
              <a:ext cx="3291840" cy="1298448"/>
            </a:xfrm>
            <a:prstGeom prst="rect">
              <a:avLst/>
            </a:prstGeom>
            <a:solidFill>
              <a:srgbClr val="0B1020"/>
            </a:solidFill>
            <a:ln>
              <a:noFill/>
            </a:ln>
          </p:spPr>
          <p:txBody>
            <a:bodyPr rtlCol="0" anchor="ctr"/>
            <a:lstStyle/>
            <a:p>
              <a:pPr algn="ctr"/>
            </a:p>
          </p:txBody>
        </p:sp>
        <p:sp>
          <p:nvSpPr>
            <p:cNvPr id="20" name="TextBox 19"/>
            <p:cNvSpPr txBox="1"/>
            <p:nvPr/>
          </p:nvSpPr>
          <p:spPr>
            <a:xfrm>
              <a:off x="731520" y="4709160"/>
              <a:ext cx="2971800" cy="274320"/>
            </a:xfrm>
            <a:prstGeom prst="rect">
              <a:avLst/>
            </a:prstGeom>
            <a:noFill/>
          </p:spPr>
          <p:txBody>
            <a:bodyPr wrap="square" anchor="t" lIns="0" rIns="0" tIns="0" bIns="0">
              <a:spAutoFit/>
            </a:bodyPr>
            <a:lstStyle/>
            <a:p>
              <a:pPr algn="l"/>
              <a:r>
                <a:rPr sz="1100" b="1" i="0" spc="120">
                  <a:solidFill>
                    <a:srgbClr val="B9C2D3"/>
                  </a:solidFill>
                  <a:latin typeface="Arial"/>
                </a:rPr>
                <a:t>AI CÓ THỂ HỖ TRỢ</a:t>
              </a:r>
            </a:p>
          </p:txBody>
        </p:sp>
        <p:sp>
          <p:nvSpPr>
            <p:cNvPr id="21" name="TextBox 20"/>
            <p:cNvSpPr txBox="1"/>
            <p:nvPr/>
          </p:nvSpPr>
          <p:spPr>
            <a:xfrm>
              <a:off x="731520" y="5010912"/>
              <a:ext cx="2971800" cy="822960"/>
            </a:xfrm>
            <a:prstGeom prst="rect">
              <a:avLst/>
            </a:prstGeom>
            <a:noFill/>
          </p:spPr>
          <p:txBody>
            <a:bodyPr wrap="square" anchor="t" lIns="0" rIns="0" tIns="0" bIns="0">
              <a:spAutoFit/>
            </a:bodyPr>
            <a:lstStyle/>
            <a:p>
              <a:pPr algn="l">
                <a:lnSpc>
                  <a:spcPct val="108000"/>
                </a:lnSpc>
              </a:pPr>
              <a:r>
                <a:rPr sz="1500" b="0" i="0">
                  <a:solidFill>
                    <a:srgbClr val="F4F0E8"/>
                  </a:solidFill>
                  <a:latin typeface="Arial"/>
                </a:rPr>
                <a:t>Bố mẹ, thầy cô, công an phường/xã; gọi 111 hoặc 113 khi cần.</a:t>
              </a:r>
            </a:p>
          </p:txBody>
        </p:sp>
      </p:grpSp>
      <p:grpSp>
        <p:nvGrpSpPr>
          <p:cNvPr id="22" name="Cách Phòng Tránh"/>
          <p:cNvGrpSpPr/>
          <p:nvPr/>
        </p:nvGrpSpPr>
        <p:grpSpPr>
          <a:xfrm>
            <a:off x="3977639" y="4572000"/>
            <a:ext cx="3291840" cy="1298448"/>
            <a:chOff x="3977639" y="4572000"/>
            <a:chExt cx="3291840" cy="1298448"/>
          </a:xfrm>
        </p:grpSpPr>
        <p:sp>
          <p:nvSpPr>
            <p:cNvPr id="23" name="Rectangle 22"/>
            <p:cNvSpPr/>
            <p:nvPr/>
          </p:nvSpPr>
          <p:spPr>
            <a:xfrm>
              <a:off x="3977639" y="4572000"/>
              <a:ext cx="3291840" cy="1298448"/>
            </a:xfrm>
            <a:prstGeom prst="rect">
              <a:avLst/>
            </a:prstGeom>
            <a:solidFill>
              <a:srgbClr val="0B1020"/>
            </a:solidFill>
            <a:ln>
              <a:noFill/>
            </a:ln>
          </p:spPr>
          <p:txBody>
            <a:bodyPr rtlCol="0" anchor="ctr"/>
            <a:lstStyle/>
            <a:p>
              <a:pPr algn="ctr"/>
            </a:p>
          </p:txBody>
        </p:sp>
        <p:sp>
          <p:nvSpPr>
            <p:cNvPr id="24" name="TextBox 23"/>
            <p:cNvSpPr txBox="1"/>
            <p:nvPr/>
          </p:nvSpPr>
          <p:spPr>
            <a:xfrm>
              <a:off x="4160520" y="4709160"/>
              <a:ext cx="2971800" cy="274320"/>
            </a:xfrm>
            <a:prstGeom prst="rect">
              <a:avLst/>
            </a:prstGeom>
            <a:noFill/>
          </p:spPr>
          <p:txBody>
            <a:bodyPr wrap="square" anchor="t" lIns="0" rIns="0" tIns="0" bIns="0">
              <a:spAutoFit/>
            </a:bodyPr>
            <a:lstStyle/>
            <a:p>
              <a:pPr algn="l"/>
              <a:r>
                <a:rPr sz="1100" b="1" i="0" spc="120">
                  <a:solidFill>
                    <a:srgbClr val="C6A56B"/>
                  </a:solidFill>
                  <a:latin typeface="Arial"/>
                </a:rPr>
                <a:t>CÁCH PHÒNG TRÁNH</a:t>
              </a:r>
            </a:p>
          </p:txBody>
        </p:sp>
        <p:sp>
          <p:nvSpPr>
            <p:cNvPr id="25" name="TextBox 24"/>
            <p:cNvSpPr txBox="1"/>
            <p:nvPr/>
          </p:nvSpPr>
          <p:spPr>
            <a:xfrm>
              <a:off x="4160520" y="5010912"/>
              <a:ext cx="2971800" cy="822960"/>
            </a:xfrm>
            <a:prstGeom prst="rect">
              <a:avLst/>
            </a:prstGeom>
            <a:noFill/>
          </p:spPr>
          <p:txBody>
            <a:bodyPr wrap="square" anchor="t" lIns="0" rIns="0" tIns="0" bIns="0">
              <a:spAutoFit/>
            </a:bodyPr>
            <a:lstStyle/>
            <a:p>
              <a:pPr algn="l">
                <a:lnSpc>
                  <a:spcPct val="108000"/>
                </a:lnSpc>
              </a:pPr>
              <a:r>
                <a:rPr sz="1500" b="0" i="0">
                  <a:solidFill>
                    <a:srgbClr val="F4F0E8"/>
                  </a:solidFill>
                  <a:latin typeface="Arial"/>
                </a:rPr>
                <a:t>Kiểm tra công ty, đọc kỹ hợp đồng, báo gia đình địa chỉ nơi làm việc.</a:t>
              </a:r>
            </a:p>
          </p:txBody>
        </p:sp>
      </p:grpSp>
      <p:sp>
        <p:nvSpPr>
          <p:cNvPr id="26" name="Ghi công ảnh"/>
          <p:cNvSpPr txBox="1"/>
          <p:nvPr/>
        </p:nvSpPr>
        <p:spPr>
          <a:xfrm>
            <a:off x="7818120" y="6419088"/>
            <a:ext cx="3017520" cy="274320"/>
          </a:xfrm>
          <a:prstGeom prst="rect">
            <a:avLst/>
          </a:prstGeom>
          <a:noFill/>
        </p:spPr>
        <p:txBody>
          <a:bodyPr wrap="square" anchor="t" lIns="0" rIns="0" tIns="0" bIns="0">
            <a:spAutoFit/>
          </a:bodyPr>
          <a:lstStyle/>
          <a:p>
            <a:pPr algn="l"/>
            <a:r>
              <a:rPr sz="1000" b="0" i="0">
                <a:solidFill>
                  <a:srgbClr val="8993A4"/>
                </a:solidFill>
                <a:latin typeface="Arial"/>
              </a:rPr>
              <a:t>Ảnh: Colin Mutchler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600"/>
                                        <p:tgtEl>
                                          <p:spTgt spid="14"/>
                                        </p:tgtEl>
                                      </p:cBhvr>
                                    </p:animEffect>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6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grpSp>
        <p:nvGrpSpPr>
          <p:cNvPr id="2" name="Ảnh cộng đồng"/>
          <p:cNvGrpSpPr/>
          <p:nvPr/>
        </p:nvGrpSpPr>
        <p:grpSpPr>
          <a:xfrm>
            <a:off x="6766560" y="0"/>
            <a:ext cx="5425135" cy="3246120"/>
            <a:chOff x="6766560" y="0"/>
            <a:chExt cx="5425135" cy="3246120"/>
          </a:xfrm>
        </p:grpSpPr>
        <p:pic>
          <p:nvPicPr>
            <p:cNvPr id="3" name="Ảnh – GNOME Asia FOSSASIA Volunteer Meetup Vietnam" descr="4ca5243643dc1818.jpg"/>
            <p:cNvPicPr>
              <a:picLocks noChangeAspect="1"/>
            </p:cNvPicPr>
            <p:nvPr/>
          </p:nvPicPr>
          <p:blipFill>
            <a:blip r:embed="rId2"/>
            <a:stretch>
              <a:fillRect/>
            </a:stretch>
          </p:blipFill>
          <p:spPr>
            <a:xfrm>
              <a:off x="6766560" y="0"/>
              <a:ext cx="5425135" cy="3246120"/>
            </a:xfrm>
            <a:prstGeom prst="rect">
              <a:avLst/>
            </a:prstGeom>
          </p:spPr>
        </p:pic>
      </p:grpSp>
      <p:sp>
        <p:nvSpPr>
          <p:cNvPr id="4" name="!!kicker"/>
          <p:cNvSpPr txBox="1"/>
          <p:nvPr/>
        </p:nvSpPr>
        <p:spPr>
          <a:xfrm>
            <a:off x="5486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11</a:t>
            </a:r>
            <a:r>
              <a:rPr sz="1100" b="1" i="0" spc="300">
                <a:solidFill>
                  <a:srgbClr val="5B6475"/>
                </a:solidFill>
                <a:latin typeface="Arial"/>
              </a:rPr>
              <a:t>  —  GIẢI PHÁP</a:t>
            </a:r>
          </a:p>
        </p:txBody>
      </p:sp>
      <p:sp>
        <p:nvSpPr>
          <p:cNvPr id="5"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5B6475"/>
                </a:solidFill>
                <a:latin typeface="Arial"/>
              </a:rPr>
              <a:t>11 / 15</a:t>
            </a:r>
          </a:p>
        </p:txBody>
      </p:sp>
      <p:sp>
        <p:nvSpPr>
          <p:cNvPr id="6" name="!!title"/>
          <p:cNvSpPr txBox="1"/>
          <p:nvPr/>
        </p:nvSpPr>
        <p:spPr>
          <a:xfrm>
            <a:off x="548640" y="777240"/>
            <a:ext cx="5943600" cy="1188720"/>
          </a:xfrm>
          <a:prstGeom prst="rect">
            <a:avLst/>
          </a:prstGeom>
          <a:noFill/>
        </p:spPr>
        <p:txBody>
          <a:bodyPr wrap="square" anchor="t" lIns="0" rIns="0" tIns="0" bIns="0">
            <a:spAutoFit/>
          </a:bodyPr>
          <a:lstStyle/>
          <a:p>
            <a:pPr algn="l">
              <a:lnSpc>
                <a:spcPct val="105000"/>
              </a:lnSpc>
            </a:pPr>
            <a:r>
              <a:rPr sz="3000" b="0" i="0">
                <a:solidFill>
                  <a:srgbClr val="0B1020"/>
                </a:solidFill>
                <a:latin typeface="Be Vietnam Pro ExtraBold"/>
              </a:rPr>
              <a:t>Phòng chống buôn người là việc của tất cả chúng ta</a:t>
            </a:r>
          </a:p>
        </p:txBody>
      </p:sp>
      <p:sp>
        <p:nvSpPr>
          <p:cNvPr id="7" name="TextBox 6"/>
          <p:cNvSpPr txBox="1"/>
          <p:nvPr/>
        </p:nvSpPr>
        <p:spPr>
          <a:xfrm>
            <a:off x="548640" y="2103120"/>
            <a:ext cx="5943600" cy="868680"/>
          </a:xfrm>
          <a:prstGeom prst="rect">
            <a:avLst/>
          </a:prstGeom>
          <a:noFill/>
        </p:spPr>
        <p:txBody>
          <a:bodyPr wrap="square" anchor="t" lIns="0" rIns="0" tIns="0" bIns="0">
            <a:spAutoFit/>
          </a:bodyPr>
          <a:lstStyle/>
          <a:p>
            <a:pPr algn="l">
              <a:lnSpc>
                <a:spcPct val="110000"/>
              </a:lnSpc>
            </a:pPr>
            <a:r>
              <a:rPr sz="1500" b="0" i="0">
                <a:solidFill>
                  <a:srgbClr val="2A2F3A"/>
                </a:solidFill>
                <a:latin typeface="Arial"/>
              </a:rPr>
              <a:t>Bốn lớp bảo vệ cùng hoạt động: khi một lớp yếu đi, các lớp còn lại giúp phát hiện và ngăn chặn kịp thời.</a:t>
            </a:r>
          </a:p>
        </p:txBody>
      </p:sp>
      <p:grpSp>
        <p:nvGrpSpPr>
          <p:cNvPr id="8" name="Nhóm giải pháp 1"/>
          <p:cNvGrpSpPr/>
          <p:nvPr/>
        </p:nvGrpSpPr>
        <p:grpSpPr>
          <a:xfrm>
            <a:off x="548640" y="3520440"/>
            <a:ext cx="2651760" cy="2743200"/>
            <a:chOff x="548640" y="3520440"/>
            <a:chExt cx="2651760" cy="2743200"/>
          </a:xfrm>
        </p:grpSpPr>
        <p:sp>
          <p:nvSpPr>
            <p:cNvPr id="9" name="Rectangle 8"/>
            <p:cNvSpPr/>
            <p:nvPr/>
          </p:nvSpPr>
          <p:spPr>
            <a:xfrm>
              <a:off x="548640" y="3520440"/>
              <a:ext cx="2651760" cy="2743200"/>
            </a:xfrm>
            <a:prstGeom prst="rect">
              <a:avLst/>
            </a:prstGeom>
            <a:solidFill>
              <a:srgbClr val="EAE4D8"/>
            </a:solidFill>
            <a:ln>
              <a:noFill/>
            </a:ln>
          </p:spPr>
          <p:txBody>
            <a:bodyPr rtlCol="0" anchor="ctr"/>
            <a:lstStyle/>
            <a:p>
              <a:pPr algn="ctr"/>
            </a:p>
          </p:txBody>
        </p:sp>
        <p:sp>
          <p:nvSpPr>
            <p:cNvPr id="10" name="TextBox 9"/>
            <p:cNvSpPr txBox="1"/>
            <p:nvPr/>
          </p:nvSpPr>
          <p:spPr>
            <a:xfrm>
              <a:off x="731520" y="3611880"/>
              <a:ext cx="2286000" cy="457200"/>
            </a:xfrm>
            <a:prstGeom prst="rect">
              <a:avLst/>
            </a:prstGeom>
            <a:noFill/>
          </p:spPr>
          <p:txBody>
            <a:bodyPr wrap="square" anchor="t" lIns="0" rIns="0" tIns="0" bIns="0">
              <a:spAutoFit/>
            </a:bodyPr>
            <a:lstStyle/>
            <a:p>
              <a:pPr algn="l"/>
              <a:r>
                <a:rPr sz="2400" b="0" i="0">
                  <a:solidFill>
                    <a:srgbClr val="C83B45"/>
                  </a:solidFill>
                  <a:latin typeface="Be Vietnam Pro ExtraBold"/>
                </a:rPr>
                <a:t>01</a:t>
              </a:r>
            </a:p>
          </p:txBody>
        </p:sp>
        <p:sp>
          <p:nvSpPr>
            <p:cNvPr id="11" name="TextBox 10"/>
            <p:cNvSpPr txBox="1"/>
            <p:nvPr/>
          </p:nvSpPr>
          <p:spPr>
            <a:xfrm>
              <a:off x="731520" y="4114800"/>
              <a:ext cx="2377440" cy="365760"/>
            </a:xfrm>
            <a:prstGeom prst="rect">
              <a:avLst/>
            </a:prstGeom>
            <a:noFill/>
          </p:spPr>
          <p:txBody>
            <a:bodyPr wrap="square" anchor="t" lIns="0" rIns="0" tIns="0" bIns="0">
              <a:spAutoFit/>
            </a:bodyPr>
            <a:lstStyle/>
            <a:p>
              <a:pPr algn="l"/>
              <a:r>
                <a:rPr sz="1500" b="1" i="0">
                  <a:solidFill>
                    <a:srgbClr val="0B1020"/>
                  </a:solidFill>
                  <a:latin typeface="Be Vietnam Pro"/>
                </a:rPr>
                <a:t>Cá nhân</a:t>
              </a:r>
            </a:p>
          </p:txBody>
        </p:sp>
        <p:sp>
          <p:nvSpPr>
            <p:cNvPr id="12" name="TextBox 11"/>
            <p:cNvSpPr txBox="1"/>
            <p:nvPr/>
          </p:nvSpPr>
          <p:spPr>
            <a:xfrm>
              <a:off x="731520" y="4526280"/>
              <a:ext cx="2377440" cy="1691640"/>
            </a:xfrm>
            <a:prstGeom prst="rect">
              <a:avLst/>
            </a:prstGeom>
            <a:noFill/>
          </p:spPr>
          <p:txBody>
            <a:bodyPr wrap="square" anchor="t" lIns="0" rIns="0" tIns="0" bIns="0">
              <a:spAutoFit/>
            </a:bodyPr>
            <a:lstStyle/>
            <a:p>
              <a:pPr algn="l" marL="195580" indent="-195580">
                <a:lnSpc>
                  <a:spcPct val="100000"/>
                </a:lnSpc>
                <a:spcAft>
                  <a:spcPts val="400"/>
                </a:spcAft>
                <a:buClr>
                  <a:srgbClr val="C83B45"/>
                </a:buClr>
                <a:buFont typeface="Arial"/>
                <a:buChar char="•"/>
              </a:pPr>
              <a:r>
                <a:rPr sz="1400" b="0" i="0">
                  <a:solidFill>
                    <a:srgbClr val="2A2F3A"/>
                  </a:solidFill>
                  <a:latin typeface="Arial"/>
                </a:rPr>
                <a:t>Kiểm chứng mọi lời mời việc làm</a:t>
              </a:r>
            </a:p>
            <a:p>
              <a:pPr algn="l" marL="195580" indent="-195580">
                <a:lnSpc>
                  <a:spcPct val="100000"/>
                </a:lnSpc>
                <a:spcAft>
                  <a:spcPts val="400"/>
                </a:spcAft>
                <a:buClr>
                  <a:srgbClr val="C83B45"/>
                </a:buClr>
                <a:buFont typeface="Arial"/>
                <a:buChar char="•"/>
              </a:pPr>
              <a:r>
                <a:rPr sz="1400" b="0" i="0">
                  <a:solidFill>
                    <a:srgbClr val="2A2F3A"/>
                  </a:solidFill>
                  <a:latin typeface="Arial"/>
                </a:rPr>
                <a:t>Bảo mật thông tin, giấy tờ cá nhân</a:t>
              </a:r>
            </a:p>
            <a:p>
              <a:pPr algn="l" marL="195580" indent="-195580">
                <a:lnSpc>
                  <a:spcPct val="100000"/>
                </a:lnSpc>
                <a:spcAft>
                  <a:spcPts val="400"/>
                </a:spcAft>
                <a:buClr>
                  <a:srgbClr val="C83B45"/>
                </a:buClr>
                <a:buFont typeface="Arial"/>
                <a:buChar char="•"/>
              </a:pPr>
              <a:r>
                <a:rPr sz="1400" b="0" i="0">
                  <a:solidFill>
                    <a:srgbClr val="2A2F3A"/>
                  </a:solidFill>
                  <a:latin typeface="Arial"/>
                </a:rPr>
                <a:t>Biết nói “không” và biết cầu cứu</a:t>
              </a:r>
            </a:p>
          </p:txBody>
        </p:sp>
      </p:grpSp>
      <p:grpSp>
        <p:nvGrpSpPr>
          <p:cNvPr id="13" name="Nhóm giải pháp 2"/>
          <p:cNvGrpSpPr/>
          <p:nvPr/>
        </p:nvGrpSpPr>
        <p:grpSpPr>
          <a:xfrm>
            <a:off x="3364992" y="3520440"/>
            <a:ext cx="2651760" cy="2743200"/>
            <a:chOff x="3364992" y="3520440"/>
            <a:chExt cx="2651760" cy="2743200"/>
          </a:xfrm>
        </p:grpSpPr>
        <p:sp>
          <p:nvSpPr>
            <p:cNvPr id="14" name="Rectangle 13"/>
            <p:cNvSpPr/>
            <p:nvPr/>
          </p:nvSpPr>
          <p:spPr>
            <a:xfrm>
              <a:off x="3364992" y="3520440"/>
              <a:ext cx="2651760" cy="2743200"/>
            </a:xfrm>
            <a:prstGeom prst="rect">
              <a:avLst/>
            </a:prstGeom>
            <a:solidFill>
              <a:srgbClr val="EAE4D8"/>
            </a:solidFill>
            <a:ln>
              <a:noFill/>
            </a:ln>
          </p:spPr>
          <p:txBody>
            <a:bodyPr rtlCol="0" anchor="ctr"/>
            <a:lstStyle/>
            <a:p>
              <a:pPr algn="ctr"/>
            </a:p>
          </p:txBody>
        </p:sp>
        <p:sp>
          <p:nvSpPr>
            <p:cNvPr id="15" name="TextBox 14"/>
            <p:cNvSpPr txBox="1"/>
            <p:nvPr/>
          </p:nvSpPr>
          <p:spPr>
            <a:xfrm>
              <a:off x="3547872" y="3611880"/>
              <a:ext cx="2286000" cy="457200"/>
            </a:xfrm>
            <a:prstGeom prst="rect">
              <a:avLst/>
            </a:prstGeom>
            <a:noFill/>
          </p:spPr>
          <p:txBody>
            <a:bodyPr wrap="square" anchor="t" lIns="0" rIns="0" tIns="0" bIns="0">
              <a:spAutoFit/>
            </a:bodyPr>
            <a:lstStyle/>
            <a:p>
              <a:pPr algn="l"/>
              <a:r>
                <a:rPr sz="2400" b="0" i="0">
                  <a:solidFill>
                    <a:srgbClr val="C83B45"/>
                  </a:solidFill>
                  <a:latin typeface="Be Vietnam Pro ExtraBold"/>
                </a:rPr>
                <a:t>02</a:t>
              </a:r>
            </a:p>
          </p:txBody>
        </p:sp>
        <p:sp>
          <p:nvSpPr>
            <p:cNvPr id="16" name="TextBox 15"/>
            <p:cNvSpPr txBox="1"/>
            <p:nvPr/>
          </p:nvSpPr>
          <p:spPr>
            <a:xfrm>
              <a:off x="3547872" y="4114800"/>
              <a:ext cx="2377440" cy="365760"/>
            </a:xfrm>
            <a:prstGeom prst="rect">
              <a:avLst/>
            </a:prstGeom>
            <a:noFill/>
          </p:spPr>
          <p:txBody>
            <a:bodyPr wrap="square" anchor="t" lIns="0" rIns="0" tIns="0" bIns="0">
              <a:spAutoFit/>
            </a:bodyPr>
            <a:lstStyle/>
            <a:p>
              <a:pPr algn="l"/>
              <a:r>
                <a:rPr sz="1500" b="1" i="0">
                  <a:solidFill>
                    <a:srgbClr val="0B1020"/>
                  </a:solidFill>
                  <a:latin typeface="Be Vietnam Pro"/>
                </a:rPr>
                <a:t>Gia đình</a:t>
              </a:r>
            </a:p>
          </p:txBody>
        </p:sp>
        <p:sp>
          <p:nvSpPr>
            <p:cNvPr id="17" name="TextBox 16"/>
            <p:cNvSpPr txBox="1"/>
            <p:nvPr/>
          </p:nvSpPr>
          <p:spPr>
            <a:xfrm>
              <a:off x="3547872" y="4526280"/>
              <a:ext cx="2377440" cy="1691640"/>
            </a:xfrm>
            <a:prstGeom prst="rect">
              <a:avLst/>
            </a:prstGeom>
            <a:noFill/>
          </p:spPr>
          <p:txBody>
            <a:bodyPr wrap="square" anchor="t" lIns="0" rIns="0" tIns="0" bIns="0">
              <a:spAutoFit/>
            </a:bodyPr>
            <a:lstStyle/>
            <a:p>
              <a:pPr algn="l" marL="195580" indent="-195580">
                <a:lnSpc>
                  <a:spcPct val="100000"/>
                </a:lnSpc>
                <a:spcAft>
                  <a:spcPts val="400"/>
                </a:spcAft>
                <a:buClr>
                  <a:srgbClr val="C83B45"/>
                </a:buClr>
                <a:buFont typeface="Arial"/>
                <a:buChar char="•"/>
              </a:pPr>
              <a:r>
                <a:rPr sz="1400" b="0" i="0">
                  <a:solidFill>
                    <a:srgbClr val="2A2F3A"/>
                  </a:solidFill>
                  <a:latin typeface="Arial"/>
                </a:rPr>
                <a:t>Lắng nghe, trò chuyện thường xuyên</a:t>
              </a:r>
            </a:p>
            <a:p>
              <a:pPr algn="l" marL="195580" indent="-195580">
                <a:lnSpc>
                  <a:spcPct val="100000"/>
                </a:lnSpc>
                <a:spcAft>
                  <a:spcPts val="400"/>
                </a:spcAft>
                <a:buClr>
                  <a:srgbClr val="C83B45"/>
                </a:buClr>
                <a:buFont typeface="Arial"/>
                <a:buChar char="•"/>
              </a:pPr>
              <a:r>
                <a:rPr sz="1400" b="0" i="0">
                  <a:solidFill>
                    <a:srgbClr val="2A2F3A"/>
                  </a:solidFill>
                  <a:latin typeface="Arial"/>
                </a:rPr>
                <a:t>Biết con làm gì, ở đâu, với ai</a:t>
              </a:r>
            </a:p>
            <a:p>
              <a:pPr algn="l" marL="195580" indent="-195580">
                <a:lnSpc>
                  <a:spcPct val="100000"/>
                </a:lnSpc>
                <a:spcAft>
                  <a:spcPts val="400"/>
                </a:spcAft>
                <a:buClr>
                  <a:srgbClr val="C83B45"/>
                </a:buClr>
                <a:buFont typeface="Arial"/>
                <a:buChar char="•"/>
              </a:pPr>
              <a:r>
                <a:rPr sz="1400" b="0" i="0">
                  <a:solidFill>
                    <a:srgbClr val="2A2F3A"/>
                  </a:solidFill>
                  <a:latin typeface="Arial"/>
                </a:rPr>
                <a:t>Không chê trách khi con kể điều bất thường</a:t>
              </a:r>
            </a:p>
          </p:txBody>
        </p:sp>
      </p:grpSp>
      <p:grpSp>
        <p:nvGrpSpPr>
          <p:cNvPr id="18" name="Nhóm giải pháp 3"/>
          <p:cNvGrpSpPr/>
          <p:nvPr/>
        </p:nvGrpSpPr>
        <p:grpSpPr>
          <a:xfrm>
            <a:off x="6181344" y="3520440"/>
            <a:ext cx="2651760" cy="2743200"/>
            <a:chOff x="6181344" y="3520440"/>
            <a:chExt cx="2651760" cy="2743200"/>
          </a:xfrm>
        </p:grpSpPr>
        <p:sp>
          <p:nvSpPr>
            <p:cNvPr id="19" name="Rectangle 18"/>
            <p:cNvSpPr/>
            <p:nvPr/>
          </p:nvSpPr>
          <p:spPr>
            <a:xfrm>
              <a:off x="6181344" y="3520440"/>
              <a:ext cx="2651760" cy="2743200"/>
            </a:xfrm>
            <a:prstGeom prst="rect">
              <a:avLst/>
            </a:prstGeom>
            <a:solidFill>
              <a:srgbClr val="EAE4D8"/>
            </a:solidFill>
            <a:ln>
              <a:noFill/>
            </a:ln>
          </p:spPr>
          <p:txBody>
            <a:bodyPr rtlCol="0" anchor="ctr"/>
            <a:lstStyle/>
            <a:p>
              <a:pPr algn="ctr"/>
            </a:p>
          </p:txBody>
        </p:sp>
        <p:sp>
          <p:nvSpPr>
            <p:cNvPr id="20" name="TextBox 19"/>
            <p:cNvSpPr txBox="1"/>
            <p:nvPr/>
          </p:nvSpPr>
          <p:spPr>
            <a:xfrm>
              <a:off x="6364224" y="3611880"/>
              <a:ext cx="2286000" cy="457200"/>
            </a:xfrm>
            <a:prstGeom prst="rect">
              <a:avLst/>
            </a:prstGeom>
            <a:noFill/>
          </p:spPr>
          <p:txBody>
            <a:bodyPr wrap="square" anchor="t" lIns="0" rIns="0" tIns="0" bIns="0">
              <a:spAutoFit/>
            </a:bodyPr>
            <a:lstStyle/>
            <a:p>
              <a:pPr algn="l"/>
              <a:r>
                <a:rPr sz="2400" b="0" i="0">
                  <a:solidFill>
                    <a:srgbClr val="C83B45"/>
                  </a:solidFill>
                  <a:latin typeface="Be Vietnam Pro ExtraBold"/>
                </a:rPr>
                <a:t>03</a:t>
              </a:r>
            </a:p>
          </p:txBody>
        </p:sp>
        <p:sp>
          <p:nvSpPr>
            <p:cNvPr id="21" name="TextBox 20"/>
            <p:cNvSpPr txBox="1"/>
            <p:nvPr/>
          </p:nvSpPr>
          <p:spPr>
            <a:xfrm>
              <a:off x="6364224" y="4114800"/>
              <a:ext cx="2377440" cy="365760"/>
            </a:xfrm>
            <a:prstGeom prst="rect">
              <a:avLst/>
            </a:prstGeom>
            <a:noFill/>
          </p:spPr>
          <p:txBody>
            <a:bodyPr wrap="square" anchor="t" lIns="0" rIns="0" tIns="0" bIns="0">
              <a:spAutoFit/>
            </a:bodyPr>
            <a:lstStyle/>
            <a:p>
              <a:pPr algn="l"/>
              <a:r>
                <a:rPr sz="1500" b="1" i="0">
                  <a:solidFill>
                    <a:srgbClr val="0B1020"/>
                  </a:solidFill>
                  <a:latin typeface="Be Vietnam Pro"/>
                </a:rPr>
                <a:t>Trường học &amp; cộng đồng</a:t>
              </a:r>
            </a:p>
          </p:txBody>
        </p:sp>
        <p:sp>
          <p:nvSpPr>
            <p:cNvPr id="22" name="TextBox 21"/>
            <p:cNvSpPr txBox="1"/>
            <p:nvPr/>
          </p:nvSpPr>
          <p:spPr>
            <a:xfrm>
              <a:off x="6364224" y="4526280"/>
              <a:ext cx="2377440" cy="1691640"/>
            </a:xfrm>
            <a:prstGeom prst="rect">
              <a:avLst/>
            </a:prstGeom>
            <a:noFill/>
          </p:spPr>
          <p:txBody>
            <a:bodyPr wrap="square" anchor="t" lIns="0" rIns="0" tIns="0" bIns="0">
              <a:spAutoFit/>
            </a:bodyPr>
            <a:lstStyle/>
            <a:p>
              <a:pPr algn="l" marL="195580" indent="-195580">
                <a:lnSpc>
                  <a:spcPct val="100000"/>
                </a:lnSpc>
                <a:spcAft>
                  <a:spcPts val="400"/>
                </a:spcAft>
                <a:buClr>
                  <a:srgbClr val="C83B45"/>
                </a:buClr>
                <a:buFont typeface="Arial"/>
                <a:buChar char="•"/>
              </a:pPr>
              <a:r>
                <a:rPr sz="1400" b="0" i="0">
                  <a:solidFill>
                    <a:srgbClr val="2A2F3A"/>
                  </a:solidFill>
                  <a:latin typeface="Arial"/>
                </a:rPr>
                <a:t>Giáo dục pháp luật, kỹ năng số</a:t>
              </a:r>
            </a:p>
            <a:p>
              <a:pPr algn="l" marL="195580" indent="-195580">
                <a:lnSpc>
                  <a:spcPct val="100000"/>
                </a:lnSpc>
                <a:spcAft>
                  <a:spcPts val="400"/>
                </a:spcAft>
                <a:buClr>
                  <a:srgbClr val="C83B45"/>
                </a:buClr>
                <a:buFont typeface="Arial"/>
                <a:buChar char="•"/>
              </a:pPr>
              <a:r>
                <a:rPr sz="1400" b="0" i="0">
                  <a:solidFill>
                    <a:srgbClr val="2A2F3A"/>
                  </a:solidFill>
                  <a:latin typeface="Arial"/>
                </a:rPr>
                <a:t>Ngoại khóa, câu lạc bộ về an toàn</a:t>
              </a:r>
            </a:p>
            <a:p>
              <a:pPr algn="l" marL="195580" indent="-195580">
                <a:lnSpc>
                  <a:spcPct val="100000"/>
                </a:lnSpc>
                <a:spcAft>
                  <a:spcPts val="400"/>
                </a:spcAft>
                <a:buClr>
                  <a:srgbClr val="C83B45"/>
                </a:buClr>
                <a:buFont typeface="Arial"/>
                <a:buChar char="•"/>
              </a:pPr>
              <a:r>
                <a:rPr sz="1400" b="0" i="0">
                  <a:solidFill>
                    <a:srgbClr val="2A2F3A"/>
                  </a:solidFill>
                  <a:latin typeface="Arial"/>
                </a:rPr>
                <a:t>Tổ dân phố chú ý dấu hiệu lạ</a:t>
              </a:r>
            </a:p>
          </p:txBody>
        </p:sp>
      </p:grpSp>
      <p:grpSp>
        <p:nvGrpSpPr>
          <p:cNvPr id="23" name="Nhóm giải pháp 4"/>
          <p:cNvGrpSpPr/>
          <p:nvPr/>
        </p:nvGrpSpPr>
        <p:grpSpPr>
          <a:xfrm>
            <a:off x="8997696" y="3520440"/>
            <a:ext cx="2651760" cy="2743200"/>
            <a:chOff x="8997696" y="3520440"/>
            <a:chExt cx="2651760" cy="2743200"/>
          </a:xfrm>
        </p:grpSpPr>
        <p:sp>
          <p:nvSpPr>
            <p:cNvPr id="24" name="Rectangle 23"/>
            <p:cNvSpPr/>
            <p:nvPr/>
          </p:nvSpPr>
          <p:spPr>
            <a:xfrm>
              <a:off x="8997696" y="3520440"/>
              <a:ext cx="2651760" cy="2743200"/>
            </a:xfrm>
            <a:prstGeom prst="rect">
              <a:avLst/>
            </a:prstGeom>
            <a:solidFill>
              <a:srgbClr val="EAE4D8"/>
            </a:solidFill>
            <a:ln>
              <a:noFill/>
            </a:ln>
          </p:spPr>
          <p:txBody>
            <a:bodyPr rtlCol="0" anchor="ctr"/>
            <a:lstStyle/>
            <a:p>
              <a:pPr algn="ctr"/>
            </a:p>
          </p:txBody>
        </p:sp>
        <p:sp>
          <p:nvSpPr>
            <p:cNvPr id="25" name="TextBox 24"/>
            <p:cNvSpPr txBox="1"/>
            <p:nvPr/>
          </p:nvSpPr>
          <p:spPr>
            <a:xfrm>
              <a:off x="9180576" y="3611880"/>
              <a:ext cx="2286000" cy="457200"/>
            </a:xfrm>
            <a:prstGeom prst="rect">
              <a:avLst/>
            </a:prstGeom>
            <a:noFill/>
          </p:spPr>
          <p:txBody>
            <a:bodyPr wrap="square" anchor="t" lIns="0" rIns="0" tIns="0" bIns="0">
              <a:spAutoFit/>
            </a:bodyPr>
            <a:lstStyle/>
            <a:p>
              <a:pPr algn="l"/>
              <a:r>
                <a:rPr sz="2400" b="0" i="0">
                  <a:solidFill>
                    <a:srgbClr val="C83B45"/>
                  </a:solidFill>
                  <a:latin typeface="Be Vietnam Pro ExtraBold"/>
                </a:rPr>
                <a:t>04</a:t>
              </a:r>
            </a:p>
          </p:txBody>
        </p:sp>
        <p:sp>
          <p:nvSpPr>
            <p:cNvPr id="26" name="TextBox 25"/>
            <p:cNvSpPr txBox="1"/>
            <p:nvPr/>
          </p:nvSpPr>
          <p:spPr>
            <a:xfrm>
              <a:off x="9180576" y="4114800"/>
              <a:ext cx="2377440" cy="365760"/>
            </a:xfrm>
            <a:prstGeom prst="rect">
              <a:avLst/>
            </a:prstGeom>
            <a:noFill/>
          </p:spPr>
          <p:txBody>
            <a:bodyPr wrap="square" anchor="t" lIns="0" rIns="0" tIns="0" bIns="0">
              <a:spAutoFit/>
            </a:bodyPr>
            <a:lstStyle/>
            <a:p>
              <a:pPr algn="l"/>
              <a:r>
                <a:rPr sz="1500" b="1" i="0">
                  <a:solidFill>
                    <a:srgbClr val="0B1020"/>
                  </a:solidFill>
                  <a:latin typeface="Be Vietnam Pro"/>
                </a:rPr>
                <a:t>Cơ quan chức năng</a:t>
              </a:r>
            </a:p>
          </p:txBody>
        </p:sp>
        <p:sp>
          <p:nvSpPr>
            <p:cNvPr id="27" name="TextBox 26"/>
            <p:cNvSpPr txBox="1"/>
            <p:nvPr/>
          </p:nvSpPr>
          <p:spPr>
            <a:xfrm>
              <a:off x="9180576" y="4526280"/>
              <a:ext cx="2377440" cy="1691640"/>
            </a:xfrm>
            <a:prstGeom prst="rect">
              <a:avLst/>
            </a:prstGeom>
            <a:noFill/>
          </p:spPr>
          <p:txBody>
            <a:bodyPr wrap="square" anchor="t" lIns="0" rIns="0" tIns="0" bIns="0">
              <a:spAutoFit/>
            </a:bodyPr>
            <a:lstStyle/>
            <a:p>
              <a:pPr algn="l" marL="195580" indent="-195580">
                <a:lnSpc>
                  <a:spcPct val="100000"/>
                </a:lnSpc>
                <a:spcAft>
                  <a:spcPts val="400"/>
                </a:spcAft>
                <a:buClr>
                  <a:srgbClr val="C83B45"/>
                </a:buClr>
                <a:buFont typeface="Arial"/>
                <a:buChar char="•"/>
              </a:pPr>
              <a:r>
                <a:rPr sz="1400" b="0" i="0">
                  <a:solidFill>
                    <a:srgbClr val="2A2F3A"/>
                  </a:solidFill>
                  <a:latin typeface="Arial"/>
                </a:rPr>
                <a:t>Kiểm soát dịch vụ việc làm, tin tuyển dụng</a:t>
              </a:r>
            </a:p>
            <a:p>
              <a:pPr algn="l" marL="195580" indent="-195580">
                <a:lnSpc>
                  <a:spcPct val="100000"/>
                </a:lnSpc>
                <a:spcAft>
                  <a:spcPts val="400"/>
                </a:spcAft>
                <a:buClr>
                  <a:srgbClr val="C83B45"/>
                </a:buClr>
                <a:buFont typeface="Arial"/>
                <a:buChar char="•"/>
              </a:pPr>
              <a:r>
                <a:rPr sz="1400" b="0" i="0">
                  <a:solidFill>
                    <a:srgbClr val="2A2F3A"/>
                  </a:solidFill>
                  <a:latin typeface="Arial"/>
                </a:rPr>
                <a:t>Điều tra, xử lý nghiêm các đường dây</a:t>
              </a:r>
            </a:p>
            <a:p>
              <a:pPr algn="l" marL="195580" indent="-195580">
                <a:lnSpc>
                  <a:spcPct val="100000"/>
                </a:lnSpc>
                <a:spcAft>
                  <a:spcPts val="400"/>
                </a:spcAft>
                <a:buClr>
                  <a:srgbClr val="C83B45"/>
                </a:buClr>
                <a:buFont typeface="Arial"/>
                <a:buChar char="•"/>
              </a:pPr>
              <a:r>
                <a:rPr sz="1400" b="0" i="0">
                  <a:solidFill>
                    <a:srgbClr val="2A2F3A"/>
                  </a:solidFill>
                  <a:latin typeface="Arial"/>
                </a:rPr>
                <a:t>Tiếp nhận, bảo vệ, hỗ trợ nạn nhân</a:t>
              </a:r>
            </a:p>
          </p:txBody>
        </p:sp>
      </p:grpSp>
      <p:sp>
        <p:nvSpPr>
          <p:cNvPr id="28" name="Ghi công ảnh"/>
          <p:cNvSpPr txBox="1"/>
          <p:nvPr/>
        </p:nvSpPr>
        <p:spPr>
          <a:xfrm>
            <a:off x="6766560" y="3273552"/>
            <a:ext cx="5029200" cy="274320"/>
          </a:xfrm>
          <a:prstGeom prst="rect">
            <a:avLst/>
          </a:prstGeom>
          <a:noFill/>
        </p:spPr>
        <p:txBody>
          <a:bodyPr wrap="square" anchor="t" lIns="0" rIns="0" tIns="0" bIns="0">
            <a:spAutoFit/>
          </a:bodyPr>
          <a:lstStyle/>
          <a:p>
            <a:pPr algn="r"/>
            <a:r>
              <a:rPr sz="1000" b="0" i="0">
                <a:solidFill>
                  <a:srgbClr val="5B6475"/>
                </a:solidFill>
                <a:latin typeface="Arial"/>
              </a:rPr>
              <a:t>Ảnh minh họa: Hong Phuc FOSSASIA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800">
        <p:push dir="u"/>
      </p:transition>
    </mc:Choice>
    <mc:Fallback>
      <p:transition spd="med">
        <p:push dir="u"/>
      </p:transition>
    </mc:Fallback>
  </mc:AlternateContent>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13"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6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6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600"/>
                                        <p:tgtEl>
                                          <p:spTgt spid="2"/>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childTnLst>
                    </p:cTn>
                  </p:par>
                  <p:par>
                    <p:cTn id="22" fill="hold">
                      <p:stCondLst>
                        <p:cond delay="indefinite"/>
                      </p:stCondLst>
                      <p:childTnLst>
                        <p:par>
                          <p:cTn id="23"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childTnLst>
                          </p:cTn>
                        </p:par>
                      </p:childTnLst>
                    </p:cTn>
                  </p:par>
                  <p:par>
                    <p:cTn id="27" fill="hold">
                      <p:stCondLst>
                        <p:cond delay="indefinite"/>
                      </p:stCondLst>
                      <p:childTnLst>
                        <p:par>
                          <p:cTn id="2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600"/>
                                        <p:tgtEl>
                                          <p:spTgt spid="13"/>
                                        </p:tgtEl>
                                      </p:cBhvr>
                                    </p:animEffect>
                                  </p:childTnLst>
                                </p:cTn>
                              </p:par>
                            </p:childTnLst>
                          </p:cTn>
                        </p:par>
                      </p:childTnLst>
                    </p:cTn>
                  </p:par>
                  <p:par>
                    <p:cTn id="32" fill="hold">
                      <p:stCondLst>
                        <p:cond delay="indefinite"/>
                      </p:stCondLst>
                      <p:childTnLst>
                        <p:par>
                          <p:cTn id="3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6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pic>
        <p:nvPicPr>
          <p:cNvPr id="2" name="Ảnh – On the phone" descr="1ad0685eda78ec4d.jpg"/>
          <p:cNvPicPr>
            <a:picLocks noChangeAspect="1"/>
          </p:cNvPicPr>
          <p:nvPr/>
        </p:nvPicPr>
        <p:blipFill>
          <a:blip r:embed="rId2"/>
          <a:stretch>
            <a:fillRect/>
          </a:stretch>
        </p:blipFill>
        <p:spPr>
          <a:xfrm>
            <a:off x="0" y="0"/>
            <a:ext cx="3657600" cy="6858000"/>
          </a:xfrm>
          <a:prstGeom prst="rect">
            <a:avLst/>
          </a:prstGeom>
        </p:spPr>
      </p:pic>
      <p:sp>
        <p:nvSpPr>
          <p:cNvPr id="3" name="!!kicker"/>
          <p:cNvSpPr txBox="1"/>
          <p:nvPr/>
        </p:nvSpPr>
        <p:spPr>
          <a:xfrm>
            <a:off x="42062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12</a:t>
            </a:r>
            <a:r>
              <a:rPr sz="1100" b="1" i="0" spc="300">
                <a:solidFill>
                  <a:srgbClr val="5B6475"/>
                </a:solidFill>
                <a:latin typeface="Arial"/>
              </a:rPr>
              <a:t>  —  KHI NGHI NGỜ</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5B6475"/>
                </a:solidFill>
                <a:latin typeface="Arial"/>
              </a:rPr>
              <a:t>12 / 15</a:t>
            </a:r>
          </a:p>
        </p:txBody>
      </p:sp>
      <p:sp>
        <p:nvSpPr>
          <p:cNvPr id="5" name="!!title"/>
          <p:cNvSpPr txBox="1"/>
          <p:nvPr/>
        </p:nvSpPr>
        <p:spPr>
          <a:xfrm>
            <a:off x="4206240" y="777240"/>
            <a:ext cx="7406640" cy="731520"/>
          </a:xfrm>
          <a:prstGeom prst="rect">
            <a:avLst/>
          </a:prstGeom>
          <a:noFill/>
        </p:spPr>
        <p:txBody>
          <a:bodyPr wrap="square" anchor="t" lIns="0" rIns="0" tIns="0" bIns="0">
            <a:spAutoFit/>
          </a:bodyPr>
          <a:lstStyle/>
          <a:p>
            <a:pPr algn="l">
              <a:lnSpc>
                <a:spcPct val="105000"/>
              </a:lnSpc>
            </a:pPr>
            <a:r>
              <a:rPr sz="3400" b="0" i="0">
                <a:solidFill>
                  <a:srgbClr val="0B1020"/>
                </a:solidFill>
                <a:latin typeface="Be Vietnam Pro ExtraBold"/>
              </a:rPr>
              <a:t>Nghi ngờ? Làm ngay 5 bước</a:t>
            </a:r>
          </a:p>
        </p:txBody>
      </p:sp>
      <p:cxnSp>
        <p:nvCxnSpPr>
          <p:cNvPr id="6" name="Connector 5"/>
          <p:cNvCxnSpPr/>
          <p:nvPr/>
        </p:nvCxnSpPr>
        <p:spPr>
          <a:xfrm>
            <a:off x="4434840" y="2011680"/>
            <a:ext cx="0" cy="3520440"/>
          </a:xfrm>
          <a:prstGeom prst="line">
            <a:avLst/>
          </a:prstGeom>
          <a:ln w="19050">
            <a:solidFill>
              <a:srgbClr val="C9C2B4"/>
            </a:solidFill>
          </a:ln>
        </p:spPr>
        <p:style>
          <a:lnRef idx="2">
            <a:schemeClr val="accent1"/>
          </a:lnRef>
          <a:fillRef idx="0">
            <a:schemeClr val="accent1"/>
          </a:fillRef>
          <a:effectRef idx="1">
            <a:schemeClr val="accent1"/>
          </a:effectRef>
          <a:fontRef idx="minor">
            <a:schemeClr val="tx1"/>
          </a:fontRef>
        </p:style>
      </p:cxnSp>
      <p:grpSp>
        <p:nvGrpSpPr>
          <p:cNvPr id="7" name="Bước 1"/>
          <p:cNvGrpSpPr/>
          <p:nvPr/>
        </p:nvGrpSpPr>
        <p:grpSpPr>
          <a:xfrm>
            <a:off x="4206240" y="1764792"/>
            <a:ext cx="4617719" cy="868680"/>
            <a:chOff x="4206240" y="1764792"/>
            <a:chExt cx="4617719" cy="868680"/>
          </a:xfrm>
        </p:grpSpPr>
        <p:sp>
          <p:nvSpPr>
            <p:cNvPr id="8" name="Oval 7"/>
            <p:cNvSpPr/>
            <p:nvPr/>
          </p:nvSpPr>
          <p:spPr>
            <a:xfrm>
              <a:off x="4206240" y="1783080"/>
              <a:ext cx="457200" cy="457200"/>
            </a:xfrm>
            <a:prstGeom prst="ellipse">
              <a:avLst/>
            </a:prstGeom>
            <a:solidFill>
              <a:srgbClr val="C83B45"/>
            </a:solidFill>
            <a:ln>
              <a:noFill/>
            </a:ln>
          </p:spPr>
          <p:txBody>
            <a:bodyPr rtlCol="0" anchor="ctr"/>
            <a:lstStyle/>
            <a:p>
              <a:pPr algn="ctr"/>
            </a:p>
          </p:txBody>
        </p:sp>
        <p:sp>
          <p:nvSpPr>
            <p:cNvPr id="9" name="TextBox 8"/>
            <p:cNvSpPr txBox="1"/>
            <p:nvPr/>
          </p:nvSpPr>
          <p:spPr>
            <a:xfrm>
              <a:off x="4206240" y="1783080"/>
              <a:ext cx="457200" cy="457200"/>
            </a:xfrm>
            <a:prstGeom prst="rect">
              <a:avLst/>
            </a:prstGeom>
            <a:noFill/>
          </p:spPr>
          <p:txBody>
            <a:bodyPr wrap="square" anchor="ctr" lIns="0" rIns="0" tIns="0" bIns="0">
              <a:spAutoFit/>
            </a:bodyPr>
            <a:lstStyle/>
            <a:p>
              <a:pPr algn="ctr"/>
              <a:r>
                <a:rPr sz="1600" b="0" i="0">
                  <a:solidFill>
                    <a:srgbClr val="F4F0E8"/>
                  </a:solidFill>
                  <a:latin typeface="Be Vietnam Pro ExtraBold"/>
                </a:rPr>
                <a:t>1</a:t>
              </a:r>
            </a:p>
          </p:txBody>
        </p:sp>
        <p:sp>
          <p:nvSpPr>
            <p:cNvPr id="10" name="TextBox 9"/>
            <p:cNvSpPr txBox="1"/>
            <p:nvPr/>
          </p:nvSpPr>
          <p:spPr>
            <a:xfrm>
              <a:off x="4846320" y="1764792"/>
              <a:ext cx="3977639" cy="868680"/>
            </a:xfrm>
            <a:prstGeom prst="rect">
              <a:avLst/>
            </a:prstGeom>
            <a:noFill/>
          </p:spPr>
          <p:txBody>
            <a:bodyPr wrap="square" anchor="t" lIns="0" rIns="0" tIns="0" bIns="0">
              <a:spAutoFit/>
            </a:bodyPr>
            <a:lstStyle/>
            <a:p>
              <a:pPr algn="l">
                <a:lnSpc>
                  <a:spcPct val="105000"/>
                </a:lnSpc>
              </a:pPr>
              <a:r>
                <a:rPr sz="1600" b="1" i="0">
                  <a:solidFill>
                    <a:srgbClr val="0B1020"/>
                  </a:solidFill>
                  <a:latin typeface="Be Vietnam Pro"/>
                </a:rPr>
                <a:t>Dừng lại</a:t>
              </a:r>
            </a:p>
            <a:p>
              <a:pPr algn="l">
                <a:lnSpc>
                  <a:spcPct val="105000"/>
                </a:lnSpc>
              </a:pPr>
              <a:r>
                <a:rPr sz="1400" b="0" i="0">
                  <a:solidFill>
                    <a:srgbClr val="2A2F3A"/>
                  </a:solidFill>
                  <a:latin typeface="Arial"/>
                </a:rPr>
                <a:t>Không vội làm theo yêu cầu; không chuyển tiền, không gửi giấy tờ.</a:t>
              </a:r>
            </a:p>
          </p:txBody>
        </p:sp>
      </p:grpSp>
      <p:grpSp>
        <p:nvGrpSpPr>
          <p:cNvPr id="11" name="Bước 2"/>
          <p:cNvGrpSpPr/>
          <p:nvPr/>
        </p:nvGrpSpPr>
        <p:grpSpPr>
          <a:xfrm>
            <a:off x="4206240" y="2651760"/>
            <a:ext cx="4617719" cy="868680"/>
            <a:chOff x="4206240" y="2651760"/>
            <a:chExt cx="4617719" cy="868680"/>
          </a:xfrm>
        </p:grpSpPr>
        <p:sp>
          <p:nvSpPr>
            <p:cNvPr id="12" name="Oval 11"/>
            <p:cNvSpPr/>
            <p:nvPr/>
          </p:nvSpPr>
          <p:spPr>
            <a:xfrm>
              <a:off x="4206240" y="2670048"/>
              <a:ext cx="457200" cy="457200"/>
            </a:xfrm>
            <a:prstGeom prst="ellipse">
              <a:avLst/>
            </a:prstGeom>
            <a:solidFill>
              <a:srgbClr val="C83B45"/>
            </a:solidFill>
            <a:ln>
              <a:noFill/>
            </a:ln>
          </p:spPr>
          <p:txBody>
            <a:bodyPr rtlCol="0" anchor="ctr"/>
            <a:lstStyle/>
            <a:p>
              <a:pPr algn="ctr"/>
            </a:p>
          </p:txBody>
        </p:sp>
        <p:sp>
          <p:nvSpPr>
            <p:cNvPr id="13" name="TextBox 12"/>
            <p:cNvSpPr txBox="1"/>
            <p:nvPr/>
          </p:nvSpPr>
          <p:spPr>
            <a:xfrm>
              <a:off x="4206240" y="2670048"/>
              <a:ext cx="457200" cy="457200"/>
            </a:xfrm>
            <a:prstGeom prst="rect">
              <a:avLst/>
            </a:prstGeom>
            <a:noFill/>
          </p:spPr>
          <p:txBody>
            <a:bodyPr wrap="square" anchor="ctr" lIns="0" rIns="0" tIns="0" bIns="0">
              <a:spAutoFit/>
            </a:bodyPr>
            <a:lstStyle/>
            <a:p>
              <a:pPr algn="ctr"/>
              <a:r>
                <a:rPr sz="1600" b="0" i="0">
                  <a:solidFill>
                    <a:srgbClr val="F4F0E8"/>
                  </a:solidFill>
                  <a:latin typeface="Be Vietnam Pro ExtraBold"/>
                </a:rPr>
                <a:t>2</a:t>
              </a:r>
            </a:p>
          </p:txBody>
        </p:sp>
        <p:sp>
          <p:nvSpPr>
            <p:cNvPr id="14" name="TextBox 13"/>
            <p:cNvSpPr txBox="1"/>
            <p:nvPr/>
          </p:nvSpPr>
          <p:spPr>
            <a:xfrm>
              <a:off x="4846320" y="2651760"/>
              <a:ext cx="3977639" cy="868680"/>
            </a:xfrm>
            <a:prstGeom prst="rect">
              <a:avLst/>
            </a:prstGeom>
            <a:noFill/>
          </p:spPr>
          <p:txBody>
            <a:bodyPr wrap="square" anchor="t" lIns="0" rIns="0" tIns="0" bIns="0">
              <a:spAutoFit/>
            </a:bodyPr>
            <a:lstStyle/>
            <a:p>
              <a:pPr algn="l">
                <a:lnSpc>
                  <a:spcPct val="105000"/>
                </a:lnSpc>
              </a:pPr>
              <a:r>
                <a:rPr sz="1600" b="1" i="0">
                  <a:solidFill>
                    <a:srgbClr val="0B1020"/>
                  </a:solidFill>
                  <a:latin typeface="Be Vietnam Pro"/>
                </a:rPr>
                <a:t>Chia sẻ</a:t>
              </a:r>
            </a:p>
            <a:p>
              <a:pPr algn="l">
                <a:lnSpc>
                  <a:spcPct val="105000"/>
                </a:lnSpc>
              </a:pPr>
              <a:r>
                <a:rPr sz="1400" b="0" i="0">
                  <a:solidFill>
                    <a:srgbClr val="2A2F3A"/>
                  </a:solidFill>
                  <a:latin typeface="Arial"/>
                </a:rPr>
                <a:t>Kể ngay với bố mẹ, thầy cô hoặc người lớn mà bạn tin tưởng.</a:t>
              </a:r>
            </a:p>
          </p:txBody>
        </p:sp>
      </p:grpSp>
      <p:grpSp>
        <p:nvGrpSpPr>
          <p:cNvPr id="15" name="Bước 3"/>
          <p:cNvGrpSpPr/>
          <p:nvPr/>
        </p:nvGrpSpPr>
        <p:grpSpPr>
          <a:xfrm>
            <a:off x="4206240" y="3538727"/>
            <a:ext cx="4617719" cy="868680"/>
            <a:chOff x="4206240" y="3538727"/>
            <a:chExt cx="4617719" cy="868680"/>
          </a:xfrm>
        </p:grpSpPr>
        <p:sp>
          <p:nvSpPr>
            <p:cNvPr id="16" name="Oval 15"/>
            <p:cNvSpPr/>
            <p:nvPr/>
          </p:nvSpPr>
          <p:spPr>
            <a:xfrm>
              <a:off x="4206240" y="3557015"/>
              <a:ext cx="457200" cy="457200"/>
            </a:xfrm>
            <a:prstGeom prst="ellipse">
              <a:avLst/>
            </a:prstGeom>
            <a:solidFill>
              <a:srgbClr val="C83B45"/>
            </a:solidFill>
            <a:ln>
              <a:noFill/>
            </a:ln>
          </p:spPr>
          <p:txBody>
            <a:bodyPr rtlCol="0" anchor="ctr"/>
            <a:lstStyle/>
            <a:p>
              <a:pPr algn="ctr"/>
            </a:p>
          </p:txBody>
        </p:sp>
        <p:sp>
          <p:nvSpPr>
            <p:cNvPr id="17" name="TextBox 16"/>
            <p:cNvSpPr txBox="1"/>
            <p:nvPr/>
          </p:nvSpPr>
          <p:spPr>
            <a:xfrm>
              <a:off x="4206240" y="3557015"/>
              <a:ext cx="457200" cy="457200"/>
            </a:xfrm>
            <a:prstGeom prst="rect">
              <a:avLst/>
            </a:prstGeom>
            <a:noFill/>
          </p:spPr>
          <p:txBody>
            <a:bodyPr wrap="square" anchor="ctr" lIns="0" rIns="0" tIns="0" bIns="0">
              <a:spAutoFit/>
            </a:bodyPr>
            <a:lstStyle/>
            <a:p>
              <a:pPr algn="ctr"/>
              <a:r>
                <a:rPr sz="1600" b="0" i="0">
                  <a:solidFill>
                    <a:srgbClr val="F4F0E8"/>
                  </a:solidFill>
                  <a:latin typeface="Be Vietnam Pro ExtraBold"/>
                </a:rPr>
                <a:t>3</a:t>
              </a:r>
            </a:p>
          </p:txBody>
        </p:sp>
        <p:sp>
          <p:nvSpPr>
            <p:cNvPr id="18" name="TextBox 17"/>
            <p:cNvSpPr txBox="1"/>
            <p:nvPr/>
          </p:nvSpPr>
          <p:spPr>
            <a:xfrm>
              <a:off x="4846320" y="3538727"/>
              <a:ext cx="3977639" cy="868680"/>
            </a:xfrm>
            <a:prstGeom prst="rect">
              <a:avLst/>
            </a:prstGeom>
            <a:noFill/>
          </p:spPr>
          <p:txBody>
            <a:bodyPr wrap="square" anchor="t" lIns="0" rIns="0" tIns="0" bIns="0">
              <a:spAutoFit/>
            </a:bodyPr>
            <a:lstStyle/>
            <a:p>
              <a:pPr algn="l">
                <a:lnSpc>
                  <a:spcPct val="105000"/>
                </a:lnSpc>
              </a:pPr>
              <a:r>
                <a:rPr sz="1600" b="1" i="0">
                  <a:solidFill>
                    <a:srgbClr val="0B1020"/>
                  </a:solidFill>
                  <a:latin typeface="Be Vietnam Pro"/>
                </a:rPr>
                <a:t>Lưu bằng chứng</a:t>
              </a:r>
            </a:p>
            <a:p>
              <a:pPr algn="l">
                <a:lnSpc>
                  <a:spcPct val="105000"/>
                </a:lnSpc>
              </a:pPr>
              <a:r>
                <a:rPr sz="1400" b="0" i="0">
                  <a:solidFill>
                    <a:srgbClr val="2A2F3A"/>
                  </a:solidFill>
                  <a:latin typeface="Arial"/>
                </a:rPr>
                <a:t>Chụp lại tin nhắn, tài khoản, số điện thoại — nếu việc đó an toàn.</a:t>
              </a:r>
            </a:p>
          </p:txBody>
        </p:sp>
      </p:grpSp>
      <p:grpSp>
        <p:nvGrpSpPr>
          <p:cNvPr id="19" name="Bước 4"/>
          <p:cNvGrpSpPr/>
          <p:nvPr/>
        </p:nvGrpSpPr>
        <p:grpSpPr>
          <a:xfrm>
            <a:off x="4206240" y="4425696"/>
            <a:ext cx="4617719" cy="868680"/>
            <a:chOff x="4206240" y="4425696"/>
            <a:chExt cx="4617719" cy="868680"/>
          </a:xfrm>
        </p:grpSpPr>
        <p:sp>
          <p:nvSpPr>
            <p:cNvPr id="20" name="Oval 19"/>
            <p:cNvSpPr/>
            <p:nvPr/>
          </p:nvSpPr>
          <p:spPr>
            <a:xfrm>
              <a:off x="4206240" y="4443984"/>
              <a:ext cx="457200" cy="457200"/>
            </a:xfrm>
            <a:prstGeom prst="ellipse">
              <a:avLst/>
            </a:prstGeom>
            <a:solidFill>
              <a:srgbClr val="C83B45"/>
            </a:solidFill>
            <a:ln>
              <a:noFill/>
            </a:ln>
          </p:spPr>
          <p:txBody>
            <a:bodyPr rtlCol="0" anchor="ctr"/>
            <a:lstStyle/>
            <a:p>
              <a:pPr algn="ctr"/>
            </a:p>
          </p:txBody>
        </p:sp>
        <p:sp>
          <p:nvSpPr>
            <p:cNvPr id="21" name="TextBox 20"/>
            <p:cNvSpPr txBox="1"/>
            <p:nvPr/>
          </p:nvSpPr>
          <p:spPr>
            <a:xfrm>
              <a:off x="4206240" y="4443984"/>
              <a:ext cx="457200" cy="457200"/>
            </a:xfrm>
            <a:prstGeom prst="rect">
              <a:avLst/>
            </a:prstGeom>
            <a:noFill/>
          </p:spPr>
          <p:txBody>
            <a:bodyPr wrap="square" anchor="ctr" lIns="0" rIns="0" tIns="0" bIns="0">
              <a:spAutoFit/>
            </a:bodyPr>
            <a:lstStyle/>
            <a:p>
              <a:pPr algn="ctr"/>
              <a:r>
                <a:rPr sz="1600" b="0" i="0">
                  <a:solidFill>
                    <a:srgbClr val="F4F0E8"/>
                  </a:solidFill>
                  <a:latin typeface="Be Vietnam Pro ExtraBold"/>
                </a:rPr>
                <a:t>4</a:t>
              </a:r>
            </a:p>
          </p:txBody>
        </p:sp>
        <p:sp>
          <p:nvSpPr>
            <p:cNvPr id="22" name="TextBox 21"/>
            <p:cNvSpPr txBox="1"/>
            <p:nvPr/>
          </p:nvSpPr>
          <p:spPr>
            <a:xfrm>
              <a:off x="4846320" y="4425696"/>
              <a:ext cx="3977639" cy="868680"/>
            </a:xfrm>
            <a:prstGeom prst="rect">
              <a:avLst/>
            </a:prstGeom>
            <a:noFill/>
          </p:spPr>
          <p:txBody>
            <a:bodyPr wrap="square" anchor="t" lIns="0" rIns="0" tIns="0" bIns="0">
              <a:spAutoFit/>
            </a:bodyPr>
            <a:lstStyle/>
            <a:p>
              <a:pPr algn="l">
                <a:lnSpc>
                  <a:spcPct val="105000"/>
                </a:lnSpc>
              </a:pPr>
              <a:r>
                <a:rPr sz="1600" b="1" i="0">
                  <a:solidFill>
                    <a:srgbClr val="0B1020"/>
                  </a:solidFill>
                  <a:latin typeface="Be Vietnam Pro"/>
                </a:rPr>
                <a:t>Báo cơ quan chức năng</a:t>
              </a:r>
            </a:p>
            <a:p>
              <a:pPr algn="l">
                <a:lnSpc>
                  <a:spcPct val="105000"/>
                </a:lnSpc>
              </a:pPr>
              <a:r>
                <a:rPr sz="1400" b="0" i="0">
                  <a:solidFill>
                    <a:srgbClr val="2A2F3A"/>
                  </a:solidFill>
                  <a:latin typeface="Arial"/>
                </a:rPr>
                <a:t>Công an phường/xã gần nhất, hoặc gọi Tổng đài 111.</a:t>
              </a:r>
            </a:p>
          </p:txBody>
        </p:sp>
      </p:grpSp>
      <p:grpSp>
        <p:nvGrpSpPr>
          <p:cNvPr id="23" name="Bước 5"/>
          <p:cNvGrpSpPr/>
          <p:nvPr/>
        </p:nvGrpSpPr>
        <p:grpSpPr>
          <a:xfrm>
            <a:off x="4206240" y="5312664"/>
            <a:ext cx="4617719" cy="868680"/>
            <a:chOff x="4206240" y="5312664"/>
            <a:chExt cx="4617719" cy="868680"/>
          </a:xfrm>
        </p:grpSpPr>
        <p:sp>
          <p:nvSpPr>
            <p:cNvPr id="24" name="Oval 23"/>
            <p:cNvSpPr/>
            <p:nvPr/>
          </p:nvSpPr>
          <p:spPr>
            <a:xfrm>
              <a:off x="4206240" y="5330952"/>
              <a:ext cx="457200" cy="457200"/>
            </a:xfrm>
            <a:prstGeom prst="ellipse">
              <a:avLst/>
            </a:prstGeom>
            <a:solidFill>
              <a:srgbClr val="C83B45"/>
            </a:solidFill>
            <a:ln>
              <a:noFill/>
            </a:ln>
          </p:spPr>
          <p:txBody>
            <a:bodyPr rtlCol="0" anchor="ctr"/>
            <a:lstStyle/>
            <a:p>
              <a:pPr algn="ctr"/>
            </a:p>
          </p:txBody>
        </p:sp>
        <p:sp>
          <p:nvSpPr>
            <p:cNvPr id="25" name="TextBox 24"/>
            <p:cNvSpPr txBox="1"/>
            <p:nvPr/>
          </p:nvSpPr>
          <p:spPr>
            <a:xfrm>
              <a:off x="4206240" y="5330952"/>
              <a:ext cx="457200" cy="457200"/>
            </a:xfrm>
            <a:prstGeom prst="rect">
              <a:avLst/>
            </a:prstGeom>
            <a:noFill/>
          </p:spPr>
          <p:txBody>
            <a:bodyPr wrap="square" anchor="ctr" lIns="0" rIns="0" tIns="0" bIns="0">
              <a:spAutoFit/>
            </a:bodyPr>
            <a:lstStyle/>
            <a:p>
              <a:pPr algn="ctr"/>
              <a:r>
                <a:rPr sz="1600" b="0" i="0">
                  <a:solidFill>
                    <a:srgbClr val="F4F0E8"/>
                  </a:solidFill>
                  <a:latin typeface="Be Vietnam Pro ExtraBold"/>
                </a:rPr>
                <a:t>5</a:t>
              </a:r>
            </a:p>
          </p:txBody>
        </p:sp>
        <p:sp>
          <p:nvSpPr>
            <p:cNvPr id="26" name="TextBox 25"/>
            <p:cNvSpPr txBox="1"/>
            <p:nvPr/>
          </p:nvSpPr>
          <p:spPr>
            <a:xfrm>
              <a:off x="4846320" y="5312664"/>
              <a:ext cx="3977639" cy="868680"/>
            </a:xfrm>
            <a:prstGeom prst="rect">
              <a:avLst/>
            </a:prstGeom>
            <a:noFill/>
          </p:spPr>
          <p:txBody>
            <a:bodyPr wrap="square" anchor="t" lIns="0" rIns="0" tIns="0" bIns="0">
              <a:spAutoFit/>
            </a:bodyPr>
            <a:lstStyle/>
            <a:p>
              <a:pPr algn="l">
                <a:lnSpc>
                  <a:spcPct val="105000"/>
                </a:lnSpc>
              </a:pPr>
              <a:r>
                <a:rPr sz="1600" b="1" i="0">
                  <a:solidFill>
                    <a:srgbClr val="0B1020"/>
                  </a:solidFill>
                  <a:latin typeface="Be Vietnam Pro"/>
                </a:rPr>
                <a:t>Ưu tiên an toàn</a:t>
              </a:r>
            </a:p>
            <a:p>
              <a:pPr algn="l">
                <a:lnSpc>
                  <a:spcPct val="105000"/>
                </a:lnSpc>
              </a:pPr>
              <a:r>
                <a:rPr sz="1400" b="0" i="0">
                  <a:solidFill>
                    <a:srgbClr val="2A2F3A"/>
                  </a:solidFill>
                  <a:latin typeface="Arial"/>
                </a:rPr>
                <a:t>Đang gặp nguy hiểm: đến nơi đông người và gọi ngay 113.</a:t>
              </a:r>
            </a:p>
          </p:txBody>
        </p:sp>
      </p:grpSp>
      <p:grpSp>
        <p:nvGrpSpPr>
          <p:cNvPr id="27" name="Số điện thoại hỗ trợ"/>
          <p:cNvGrpSpPr/>
          <p:nvPr/>
        </p:nvGrpSpPr>
        <p:grpSpPr>
          <a:xfrm>
            <a:off x="9052560" y="1783080"/>
            <a:ext cx="2606040" cy="4023360"/>
            <a:chOff x="9052560" y="1783080"/>
            <a:chExt cx="2606040" cy="4023360"/>
          </a:xfrm>
        </p:grpSpPr>
        <p:sp>
          <p:nvSpPr>
            <p:cNvPr id="28" name="Rectangle 27"/>
            <p:cNvSpPr/>
            <p:nvPr/>
          </p:nvSpPr>
          <p:spPr>
            <a:xfrm>
              <a:off x="9052560" y="1783080"/>
              <a:ext cx="2606040" cy="2148840"/>
            </a:xfrm>
            <a:prstGeom prst="rect">
              <a:avLst/>
            </a:prstGeom>
            <a:solidFill>
              <a:srgbClr val="0B1020"/>
            </a:solidFill>
            <a:ln>
              <a:noFill/>
            </a:ln>
          </p:spPr>
          <p:txBody>
            <a:bodyPr rtlCol="0" anchor="ctr"/>
            <a:lstStyle/>
            <a:p>
              <a:pPr algn="ctr"/>
            </a:p>
          </p:txBody>
        </p:sp>
        <p:sp>
          <p:nvSpPr>
            <p:cNvPr id="29" name="TextBox 28"/>
            <p:cNvSpPr txBox="1"/>
            <p:nvPr/>
          </p:nvSpPr>
          <p:spPr>
            <a:xfrm>
              <a:off x="9235440" y="1874519"/>
              <a:ext cx="2286000" cy="822960"/>
            </a:xfrm>
            <a:prstGeom prst="rect">
              <a:avLst/>
            </a:prstGeom>
            <a:noFill/>
          </p:spPr>
          <p:txBody>
            <a:bodyPr wrap="square" anchor="t" lIns="0" rIns="0" tIns="0" bIns="0">
              <a:spAutoFit/>
            </a:bodyPr>
            <a:lstStyle/>
            <a:p>
              <a:pPr algn="l"/>
              <a:r>
                <a:rPr sz="5400" b="0" i="0">
                  <a:solidFill>
                    <a:srgbClr val="F4F0E8"/>
                  </a:solidFill>
                  <a:latin typeface="Be Vietnam Pro ExtraBold"/>
                </a:rPr>
                <a:t>111</a:t>
              </a:r>
            </a:p>
          </p:txBody>
        </p:sp>
        <p:sp>
          <p:nvSpPr>
            <p:cNvPr id="30" name="TextBox 29"/>
            <p:cNvSpPr txBox="1"/>
            <p:nvPr/>
          </p:nvSpPr>
          <p:spPr>
            <a:xfrm>
              <a:off x="9235440" y="2697480"/>
              <a:ext cx="2286000" cy="73152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Tổng đài quốc gia về phòng, chống mua bán người</a:t>
              </a:r>
            </a:p>
          </p:txBody>
        </p:sp>
        <p:sp>
          <p:nvSpPr>
            <p:cNvPr id="31" name="TextBox 30"/>
            <p:cNvSpPr txBox="1"/>
            <p:nvPr/>
          </p:nvSpPr>
          <p:spPr>
            <a:xfrm>
              <a:off x="9235440" y="3493008"/>
              <a:ext cx="2286000" cy="274320"/>
            </a:xfrm>
            <a:prstGeom prst="rect">
              <a:avLst/>
            </a:prstGeom>
            <a:noFill/>
          </p:spPr>
          <p:txBody>
            <a:bodyPr wrap="square" anchor="t" lIns="0" rIns="0" tIns="0" bIns="0">
              <a:spAutoFit/>
            </a:bodyPr>
            <a:lstStyle/>
            <a:p>
              <a:pPr algn="l"/>
              <a:r>
                <a:rPr sz="1100" b="1" i="0" spc="150">
                  <a:solidFill>
                    <a:srgbClr val="C6A56B"/>
                  </a:solidFill>
                  <a:latin typeface="Arial"/>
                </a:rPr>
                <a:t>MIỄN PHÍ · 24/7</a:t>
              </a:r>
            </a:p>
          </p:txBody>
        </p:sp>
        <p:sp>
          <p:nvSpPr>
            <p:cNvPr id="32" name="Rectangle 31"/>
            <p:cNvSpPr/>
            <p:nvPr/>
          </p:nvSpPr>
          <p:spPr>
            <a:xfrm>
              <a:off x="9052560" y="4069080"/>
              <a:ext cx="2606040" cy="1737360"/>
            </a:xfrm>
            <a:prstGeom prst="rect">
              <a:avLst/>
            </a:prstGeom>
            <a:solidFill>
              <a:srgbClr val="C83B45"/>
            </a:solidFill>
            <a:ln>
              <a:noFill/>
            </a:ln>
          </p:spPr>
          <p:txBody>
            <a:bodyPr rtlCol="0" anchor="ctr"/>
            <a:lstStyle/>
            <a:p>
              <a:pPr algn="ctr"/>
            </a:p>
          </p:txBody>
        </p:sp>
        <p:sp>
          <p:nvSpPr>
            <p:cNvPr id="33" name="TextBox 32"/>
            <p:cNvSpPr txBox="1"/>
            <p:nvPr/>
          </p:nvSpPr>
          <p:spPr>
            <a:xfrm>
              <a:off x="9235440" y="4160520"/>
              <a:ext cx="2286000" cy="822960"/>
            </a:xfrm>
            <a:prstGeom prst="rect">
              <a:avLst/>
            </a:prstGeom>
            <a:noFill/>
          </p:spPr>
          <p:txBody>
            <a:bodyPr wrap="square" anchor="t" lIns="0" rIns="0" tIns="0" bIns="0">
              <a:spAutoFit/>
            </a:bodyPr>
            <a:lstStyle/>
            <a:p>
              <a:pPr algn="l"/>
              <a:r>
                <a:rPr sz="5400" b="0" i="0">
                  <a:solidFill>
                    <a:srgbClr val="F4F0E8"/>
                  </a:solidFill>
                  <a:latin typeface="Be Vietnam Pro ExtraBold"/>
                </a:rPr>
                <a:t>113</a:t>
              </a:r>
            </a:p>
          </p:txBody>
        </p:sp>
        <p:sp>
          <p:nvSpPr>
            <p:cNvPr id="34" name="TextBox 33"/>
            <p:cNvSpPr txBox="1"/>
            <p:nvPr/>
          </p:nvSpPr>
          <p:spPr>
            <a:xfrm>
              <a:off x="9235440" y="4983480"/>
              <a:ext cx="2286000" cy="731520"/>
            </a:xfrm>
            <a:prstGeom prst="rect">
              <a:avLst/>
            </a:prstGeom>
            <a:noFill/>
          </p:spPr>
          <p:txBody>
            <a:bodyPr wrap="square" anchor="t" lIns="0" rIns="0" tIns="0" bIns="0">
              <a:spAutoFit/>
            </a:bodyPr>
            <a:lstStyle/>
            <a:p>
              <a:pPr algn="l">
                <a:lnSpc>
                  <a:spcPct val="105000"/>
                </a:lnSpc>
              </a:pPr>
              <a:r>
                <a:rPr sz="1300" b="0" i="0">
                  <a:solidFill>
                    <a:srgbClr val="F4F0E8"/>
                  </a:solidFill>
                  <a:latin typeface="Arial"/>
                </a:rPr>
                <a:t>Cảnh sát khẩn cấp — khi có nguy hiểm trực tiếp</a:t>
              </a:r>
            </a:p>
          </p:txBody>
        </p:sp>
      </p:grpSp>
      <p:sp>
        <p:nvSpPr>
          <p:cNvPr id="35" name="TextBox 34"/>
          <p:cNvSpPr txBox="1"/>
          <p:nvPr/>
        </p:nvSpPr>
        <p:spPr>
          <a:xfrm>
            <a:off x="4206240" y="6263640"/>
            <a:ext cx="6492240" cy="411480"/>
          </a:xfrm>
          <a:prstGeom prst="rect">
            <a:avLst/>
          </a:prstGeom>
          <a:noFill/>
        </p:spPr>
        <p:txBody>
          <a:bodyPr wrap="square" anchor="t" lIns="0" rIns="0" tIns="0" bIns="0">
            <a:spAutoFit/>
          </a:bodyPr>
          <a:lstStyle/>
          <a:p>
            <a:pPr algn="l"/>
            <a:r>
              <a:rPr sz="1000" b="0" i="0">
                <a:solidFill>
                  <a:srgbClr val="5B6475"/>
                </a:solidFill>
                <a:latin typeface="Arial"/>
              </a:rPr>
              <a:t>Nguồn: Tổng đài 111 theo Nghị định 162/2025/NĐ-CP, khai trương 19/9/2025 (VnEconomy, 2025); 113 là số gọi khẩn cấp của lực lượng Công an.</a:t>
            </a:r>
          </a:p>
        </p:txBody>
      </p:sp>
      <p:sp>
        <p:nvSpPr>
          <p:cNvPr id="36" name="Ghi công ảnh"/>
          <p:cNvSpPr txBox="1"/>
          <p:nvPr/>
        </p:nvSpPr>
        <p:spPr>
          <a:xfrm>
            <a:off x="228600" y="6419088"/>
            <a:ext cx="3291840" cy="274320"/>
          </a:xfrm>
          <a:prstGeom prst="rect">
            <a:avLst/>
          </a:prstGeom>
          <a:noFill/>
        </p:spPr>
        <p:txBody>
          <a:bodyPr wrap="square" anchor="t" lIns="0" rIns="0" tIns="0" bIns="0">
            <a:spAutoFit/>
          </a:bodyPr>
          <a:lstStyle/>
          <a:p>
            <a:pPr algn="l"/>
            <a:r>
              <a:rPr sz="1000" b="0" i="0">
                <a:solidFill>
                  <a:srgbClr val="F4F0E8"/>
                </a:solidFill>
                <a:latin typeface="Arial"/>
              </a:rPr>
              <a:t>Ảnh minh họa: Linus Andersson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0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6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600"/>
                                        <p:tgtEl>
                                          <p:spTgt spid="15"/>
                                        </p:tgtEl>
                                      </p:cBhvr>
                                    </p:animEffect>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6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600"/>
                                        <p:tgtEl>
                                          <p:spTgt spid="23"/>
                                        </p:tgtEl>
                                      </p:cBhvr>
                                    </p:animEffect>
                                  </p:childTnLst>
                                </p:cTn>
                              </p:par>
                            </p:childTnLst>
                          </p:cTn>
                        </p:par>
                      </p:childTnLst>
                    </p:cTn>
                  </p:par>
                  <p:par>
                    <p:cTn id="39" fill="hold">
                      <p:stCondLst>
                        <p:cond delay="indefinite"/>
                      </p:stCondLst>
                      <p:childTnLst>
                        <p:par>
                          <p:cTn id="40"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Hanoi" descr="869e098ffd768989.jpg"/>
          <p:cNvPicPr>
            <a:picLocks noChangeAspect="1"/>
          </p:cNvPicPr>
          <p:nvPr/>
        </p:nvPicPr>
        <p:blipFill>
          <a:blip r:embed="rId2"/>
          <a:stretch>
            <a:fillRect/>
          </a:stretch>
        </p:blipFill>
        <p:spPr>
          <a:xfrm>
            <a:off x="0" y="0"/>
            <a:ext cx="4754880" cy="6858000"/>
          </a:xfrm>
          <a:prstGeom prst="rect">
            <a:avLst/>
          </a:prstGeom>
        </p:spPr>
      </p:pic>
      <p:sp>
        <p:nvSpPr>
          <p:cNvPr id="3" name="!!kicker"/>
          <p:cNvSpPr txBox="1"/>
          <p:nvPr/>
        </p:nvSpPr>
        <p:spPr>
          <a:xfrm>
            <a:off x="530352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13</a:t>
            </a:r>
            <a:r>
              <a:rPr sz="1100" b="1" i="0" spc="300">
                <a:solidFill>
                  <a:srgbClr val="8993A4"/>
                </a:solidFill>
                <a:latin typeface="Arial"/>
              </a:rPr>
              <a:t>  —  PHÁP LUẬT</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13 / 15</a:t>
            </a:r>
          </a:p>
        </p:txBody>
      </p:sp>
      <p:sp>
        <p:nvSpPr>
          <p:cNvPr id="5" name="!!title"/>
          <p:cNvSpPr txBox="1"/>
          <p:nvPr/>
        </p:nvSpPr>
        <p:spPr>
          <a:xfrm>
            <a:off x="5303520" y="777240"/>
            <a:ext cx="6355080" cy="1188720"/>
          </a:xfrm>
          <a:prstGeom prst="rect">
            <a:avLst/>
          </a:prstGeom>
          <a:noFill/>
        </p:spPr>
        <p:txBody>
          <a:bodyPr wrap="square" anchor="t" lIns="0" rIns="0" tIns="0" bIns="0">
            <a:spAutoFit/>
          </a:bodyPr>
          <a:lstStyle/>
          <a:p>
            <a:pPr algn="l">
              <a:lnSpc>
                <a:spcPct val="105000"/>
              </a:lnSpc>
            </a:pPr>
            <a:r>
              <a:rPr sz="3400" b="0" i="0">
                <a:solidFill>
                  <a:srgbClr val="F4F0E8"/>
                </a:solidFill>
                <a:latin typeface="Be Vietnam Pro ExtraBold"/>
              </a:rPr>
              <a:t>Pháp luật bảo vệ nạn nhân</a:t>
            </a:r>
          </a:p>
        </p:txBody>
      </p:sp>
      <p:grpSp>
        <p:nvGrpSpPr>
          <p:cNvPr id="6" name="Mốc 28/11/2024"/>
          <p:cNvGrpSpPr/>
          <p:nvPr/>
        </p:nvGrpSpPr>
        <p:grpSpPr>
          <a:xfrm>
            <a:off x="5303520" y="2103120"/>
            <a:ext cx="6355080" cy="640080"/>
            <a:chOff x="5303520" y="2103120"/>
            <a:chExt cx="6355080" cy="640080"/>
          </a:xfrm>
        </p:grpSpPr>
        <p:sp>
          <p:nvSpPr>
            <p:cNvPr id="7" name="TextBox 6"/>
            <p:cNvSpPr txBox="1"/>
            <p:nvPr/>
          </p:nvSpPr>
          <p:spPr>
            <a:xfrm>
              <a:off x="5303520" y="2103120"/>
              <a:ext cx="1280160" cy="320040"/>
            </a:xfrm>
            <a:prstGeom prst="rect">
              <a:avLst/>
            </a:prstGeom>
            <a:noFill/>
          </p:spPr>
          <p:txBody>
            <a:bodyPr wrap="square" anchor="t" lIns="0" rIns="0" tIns="0" bIns="0">
              <a:spAutoFit/>
            </a:bodyPr>
            <a:lstStyle/>
            <a:p>
              <a:pPr algn="l"/>
              <a:r>
                <a:rPr sz="1400" b="1" i="0">
                  <a:solidFill>
                    <a:srgbClr val="C6A56B"/>
                  </a:solidFill>
                  <a:latin typeface="Arial"/>
                </a:rPr>
                <a:t>28/11/2024</a:t>
              </a:r>
            </a:p>
          </p:txBody>
        </p:sp>
        <p:sp>
          <p:nvSpPr>
            <p:cNvPr id="8" name="TextBox 7"/>
            <p:cNvSpPr txBox="1"/>
            <p:nvPr/>
          </p:nvSpPr>
          <p:spPr>
            <a:xfrm>
              <a:off x="6629400" y="2103120"/>
              <a:ext cx="5029200" cy="640080"/>
            </a:xfrm>
            <a:prstGeom prst="rect">
              <a:avLst/>
            </a:prstGeom>
            <a:noFill/>
          </p:spPr>
          <p:txBody>
            <a:bodyPr wrap="square" anchor="t" lIns="0" rIns="0" tIns="0" bIns="0">
              <a:spAutoFit/>
            </a:bodyPr>
            <a:lstStyle/>
            <a:p>
              <a:pPr algn="l">
                <a:lnSpc>
                  <a:spcPct val="105000"/>
                </a:lnSpc>
              </a:pPr>
              <a:r>
                <a:rPr sz="1400" b="0" i="0">
                  <a:solidFill>
                    <a:srgbClr val="F4F0E8"/>
                  </a:solidFill>
                  <a:latin typeface="Arial"/>
                </a:rPr>
                <a:t>Quốc hội thông qua Luật Phòng, chống mua bán người số 53/2024/QH15 (8 chương, 63 điều).</a:t>
              </a:r>
            </a:p>
          </p:txBody>
        </p:sp>
      </p:grpSp>
      <p:grpSp>
        <p:nvGrpSpPr>
          <p:cNvPr id="9" name="Mốc 29/6/2025"/>
          <p:cNvGrpSpPr/>
          <p:nvPr/>
        </p:nvGrpSpPr>
        <p:grpSpPr>
          <a:xfrm>
            <a:off x="5303520" y="2788920"/>
            <a:ext cx="6355080" cy="640080"/>
            <a:chOff x="5303520" y="2788920"/>
            <a:chExt cx="6355080" cy="640080"/>
          </a:xfrm>
        </p:grpSpPr>
        <p:sp>
          <p:nvSpPr>
            <p:cNvPr id="10" name="TextBox 9"/>
            <p:cNvSpPr txBox="1"/>
            <p:nvPr/>
          </p:nvSpPr>
          <p:spPr>
            <a:xfrm>
              <a:off x="5303520" y="2788920"/>
              <a:ext cx="1280160" cy="320040"/>
            </a:xfrm>
            <a:prstGeom prst="rect">
              <a:avLst/>
            </a:prstGeom>
            <a:noFill/>
          </p:spPr>
          <p:txBody>
            <a:bodyPr wrap="square" anchor="t" lIns="0" rIns="0" tIns="0" bIns="0">
              <a:spAutoFit/>
            </a:bodyPr>
            <a:lstStyle/>
            <a:p>
              <a:pPr algn="l"/>
              <a:r>
                <a:rPr sz="1400" b="1" i="0">
                  <a:solidFill>
                    <a:srgbClr val="C6A56B"/>
                  </a:solidFill>
                  <a:latin typeface="Arial"/>
                </a:rPr>
                <a:t>29/6/2025</a:t>
              </a:r>
            </a:p>
          </p:txBody>
        </p:sp>
        <p:sp>
          <p:nvSpPr>
            <p:cNvPr id="11" name="TextBox 10"/>
            <p:cNvSpPr txBox="1"/>
            <p:nvPr/>
          </p:nvSpPr>
          <p:spPr>
            <a:xfrm>
              <a:off x="6629400" y="2788920"/>
              <a:ext cx="5029200" cy="640080"/>
            </a:xfrm>
            <a:prstGeom prst="rect">
              <a:avLst/>
            </a:prstGeom>
            <a:noFill/>
          </p:spPr>
          <p:txBody>
            <a:bodyPr wrap="square" anchor="t" lIns="0" rIns="0" tIns="0" bIns="0">
              <a:spAutoFit/>
            </a:bodyPr>
            <a:lstStyle/>
            <a:p>
              <a:pPr algn="l">
                <a:lnSpc>
                  <a:spcPct val="105000"/>
                </a:lnSpc>
              </a:pPr>
              <a:r>
                <a:rPr sz="1400" b="0" i="0">
                  <a:solidFill>
                    <a:srgbClr val="F4F0E8"/>
                  </a:solidFill>
                  <a:latin typeface="Arial"/>
                </a:rPr>
                <a:t>Nghị định 162/2025/NĐ-CP hướng dẫn thi hành; Tổng đài 111 tiếp nhận tin báo, tố giác.</a:t>
              </a:r>
            </a:p>
          </p:txBody>
        </p:sp>
      </p:grpSp>
      <p:grpSp>
        <p:nvGrpSpPr>
          <p:cNvPr id="12" name="Mốc 01/7/2025"/>
          <p:cNvGrpSpPr/>
          <p:nvPr/>
        </p:nvGrpSpPr>
        <p:grpSpPr>
          <a:xfrm>
            <a:off x="5303520" y="3474720"/>
            <a:ext cx="6355080" cy="640080"/>
            <a:chOff x="5303520" y="3474720"/>
            <a:chExt cx="6355080" cy="640080"/>
          </a:xfrm>
        </p:grpSpPr>
        <p:sp>
          <p:nvSpPr>
            <p:cNvPr id="13" name="TextBox 12"/>
            <p:cNvSpPr txBox="1"/>
            <p:nvPr/>
          </p:nvSpPr>
          <p:spPr>
            <a:xfrm>
              <a:off x="5303520" y="3474720"/>
              <a:ext cx="1280160" cy="320040"/>
            </a:xfrm>
            <a:prstGeom prst="rect">
              <a:avLst/>
            </a:prstGeom>
            <a:noFill/>
          </p:spPr>
          <p:txBody>
            <a:bodyPr wrap="square" anchor="t" lIns="0" rIns="0" tIns="0" bIns="0">
              <a:spAutoFit/>
            </a:bodyPr>
            <a:lstStyle/>
            <a:p>
              <a:pPr algn="l"/>
              <a:r>
                <a:rPr sz="1400" b="1" i="0">
                  <a:solidFill>
                    <a:srgbClr val="C6A56B"/>
                  </a:solidFill>
                  <a:latin typeface="Arial"/>
                </a:rPr>
                <a:t>01/7/2025</a:t>
              </a:r>
            </a:p>
          </p:txBody>
        </p:sp>
        <p:sp>
          <p:nvSpPr>
            <p:cNvPr id="14" name="TextBox 13"/>
            <p:cNvSpPr txBox="1"/>
            <p:nvPr/>
          </p:nvSpPr>
          <p:spPr>
            <a:xfrm>
              <a:off x="6629400" y="3474720"/>
              <a:ext cx="5029200" cy="640080"/>
            </a:xfrm>
            <a:prstGeom prst="rect">
              <a:avLst/>
            </a:prstGeom>
            <a:noFill/>
          </p:spPr>
          <p:txBody>
            <a:bodyPr wrap="square" anchor="t" lIns="0" rIns="0" tIns="0" bIns="0">
              <a:spAutoFit/>
            </a:bodyPr>
            <a:lstStyle/>
            <a:p>
              <a:pPr algn="l">
                <a:lnSpc>
                  <a:spcPct val="105000"/>
                </a:lnSpc>
              </a:pPr>
              <a:r>
                <a:rPr sz="1400" b="0" i="0">
                  <a:solidFill>
                    <a:srgbClr val="F4F0E8"/>
                  </a:solidFill>
                  <a:latin typeface="Arial"/>
                </a:rPr>
                <a:t>Luật có hiệu lực, thay thế Luật Phòng, chống mua bán người năm 2011.</a:t>
              </a:r>
            </a:p>
          </p:txBody>
        </p:sp>
      </p:grpSp>
      <p:grpSp>
        <p:nvGrpSpPr>
          <p:cNvPr id="15" name="Mốc 07/01/2026"/>
          <p:cNvGrpSpPr/>
          <p:nvPr/>
        </p:nvGrpSpPr>
        <p:grpSpPr>
          <a:xfrm>
            <a:off x="5303520" y="4160520"/>
            <a:ext cx="6355080" cy="640080"/>
            <a:chOff x="5303520" y="4160520"/>
            <a:chExt cx="6355080" cy="640080"/>
          </a:xfrm>
        </p:grpSpPr>
        <p:sp>
          <p:nvSpPr>
            <p:cNvPr id="16" name="TextBox 15"/>
            <p:cNvSpPr txBox="1"/>
            <p:nvPr/>
          </p:nvSpPr>
          <p:spPr>
            <a:xfrm>
              <a:off x="5303520" y="4160520"/>
              <a:ext cx="1280160" cy="320040"/>
            </a:xfrm>
            <a:prstGeom prst="rect">
              <a:avLst/>
            </a:prstGeom>
            <a:noFill/>
          </p:spPr>
          <p:txBody>
            <a:bodyPr wrap="square" anchor="t" lIns="0" rIns="0" tIns="0" bIns="0">
              <a:spAutoFit/>
            </a:bodyPr>
            <a:lstStyle/>
            <a:p>
              <a:pPr algn="l"/>
              <a:r>
                <a:rPr sz="1400" b="1" i="0">
                  <a:solidFill>
                    <a:srgbClr val="C6A56B"/>
                  </a:solidFill>
                  <a:latin typeface="Arial"/>
                </a:rPr>
                <a:t>07/01/2026</a:t>
              </a:r>
            </a:p>
          </p:txBody>
        </p:sp>
        <p:sp>
          <p:nvSpPr>
            <p:cNvPr id="17" name="TextBox 16"/>
            <p:cNvSpPr txBox="1"/>
            <p:nvPr/>
          </p:nvSpPr>
          <p:spPr>
            <a:xfrm>
              <a:off x="6629400" y="4160520"/>
              <a:ext cx="5029200" cy="640080"/>
            </a:xfrm>
            <a:prstGeom prst="rect">
              <a:avLst/>
            </a:prstGeom>
            <a:noFill/>
          </p:spPr>
          <p:txBody>
            <a:bodyPr wrap="square" anchor="t" lIns="0" rIns="0" tIns="0" bIns="0">
              <a:spAutoFit/>
            </a:bodyPr>
            <a:lstStyle/>
            <a:p>
              <a:pPr algn="l">
                <a:lnSpc>
                  <a:spcPct val="105000"/>
                </a:lnSpc>
              </a:pPr>
              <a:r>
                <a:rPr sz="1400" b="0" i="0">
                  <a:solidFill>
                    <a:srgbClr val="F4F0E8"/>
                  </a:solidFill>
                  <a:latin typeface="Arial"/>
                </a:rPr>
                <a:t>Quyết định 33/QĐ-TTg: Chương trình phòng, chống mua bán người 2026–2030.</a:t>
              </a:r>
            </a:p>
          </p:txBody>
        </p:sp>
      </p:grpSp>
      <p:grpSp>
        <p:nvGrpSpPr>
          <p:cNvPr id="18" name="Điểm cốt lõi"/>
          <p:cNvGrpSpPr/>
          <p:nvPr/>
        </p:nvGrpSpPr>
        <p:grpSpPr>
          <a:xfrm>
            <a:off x="5303520" y="4937760"/>
            <a:ext cx="6355080" cy="1280160"/>
            <a:chOff x="5303520" y="4937760"/>
            <a:chExt cx="6355080" cy="1280160"/>
          </a:xfrm>
        </p:grpSpPr>
        <p:sp>
          <p:nvSpPr>
            <p:cNvPr id="19" name="Rectangle 18"/>
            <p:cNvSpPr/>
            <p:nvPr/>
          </p:nvSpPr>
          <p:spPr>
            <a:xfrm>
              <a:off x="5303520" y="4937760"/>
              <a:ext cx="6355080" cy="1280160"/>
            </a:xfrm>
            <a:prstGeom prst="rect">
              <a:avLst/>
            </a:prstGeom>
            <a:solidFill>
              <a:srgbClr val="15171D"/>
            </a:solidFill>
            <a:ln>
              <a:noFill/>
            </a:ln>
          </p:spPr>
          <p:txBody>
            <a:bodyPr rtlCol="0" anchor="ctr"/>
            <a:lstStyle/>
            <a:p>
              <a:pPr algn="ctr"/>
            </a:p>
          </p:txBody>
        </p:sp>
        <p:sp>
          <p:nvSpPr>
            <p:cNvPr id="20" name="TextBox 19"/>
            <p:cNvSpPr txBox="1"/>
            <p:nvPr/>
          </p:nvSpPr>
          <p:spPr>
            <a:xfrm>
              <a:off x="5486400" y="5010912"/>
              <a:ext cx="6035040" cy="274320"/>
            </a:xfrm>
            <a:prstGeom prst="rect">
              <a:avLst/>
            </a:prstGeom>
            <a:noFill/>
          </p:spPr>
          <p:txBody>
            <a:bodyPr wrap="square" anchor="t" lIns="0" rIns="0" tIns="0" bIns="0">
              <a:spAutoFit/>
            </a:bodyPr>
            <a:lstStyle/>
            <a:p>
              <a:pPr algn="l"/>
              <a:r>
                <a:rPr sz="1100" b="1" i="0" spc="150">
                  <a:solidFill>
                    <a:srgbClr val="C83B45"/>
                  </a:solidFill>
                  <a:latin typeface="Arial"/>
                </a:rPr>
                <a:t>ĐIỂM CỐT LÕI</a:t>
              </a:r>
            </a:p>
          </p:txBody>
        </p:sp>
        <p:sp>
          <p:nvSpPr>
            <p:cNvPr id="21" name="TextBox 20"/>
            <p:cNvSpPr txBox="1"/>
            <p:nvPr/>
          </p:nvSpPr>
          <p:spPr>
            <a:xfrm>
              <a:off x="5486400" y="5285232"/>
              <a:ext cx="6035040" cy="914400"/>
            </a:xfrm>
            <a:prstGeom prst="rect">
              <a:avLst/>
            </a:prstGeom>
            <a:noFill/>
          </p:spPr>
          <p:txBody>
            <a:bodyPr wrap="square" anchor="t" lIns="0" rIns="0" tIns="0" bIns="0">
              <a:spAutoFit/>
            </a:bodyPr>
            <a:lstStyle/>
            <a:p>
              <a:pPr algn="l" marL="181610" indent="-181610">
                <a:lnSpc>
                  <a:spcPct val="100000"/>
                </a:lnSpc>
                <a:spcAft>
                  <a:spcPts val="200"/>
                </a:spcAft>
                <a:buClr>
                  <a:srgbClr val="C83B45"/>
                </a:buClr>
                <a:buFont typeface="Arial"/>
                <a:buChar char="•"/>
              </a:pPr>
              <a:r>
                <a:rPr sz="1300" b="0" i="0">
                  <a:solidFill>
                    <a:srgbClr val="F4F0E8"/>
                  </a:solidFill>
                  <a:latin typeface="Arial"/>
                </a:rPr>
                <a:t>Lấy nạn nhân làm trung tâm; mở rộng những người được bảo vệ, hỗ trợ.</a:t>
              </a:r>
            </a:p>
            <a:p>
              <a:pPr algn="l" marL="181610" indent="-181610">
                <a:lnSpc>
                  <a:spcPct val="100000"/>
                </a:lnSpc>
                <a:spcAft>
                  <a:spcPts val="200"/>
                </a:spcAft>
                <a:buClr>
                  <a:srgbClr val="C83B45"/>
                </a:buClr>
                <a:buFont typeface="Arial"/>
                <a:buChar char="•"/>
              </a:pPr>
              <a:r>
                <a:rPr sz="1300" b="0" i="0">
                  <a:solidFill>
                    <a:srgbClr val="F4F0E8"/>
                  </a:solidFill>
                  <a:latin typeface="Arial"/>
                </a:rPr>
                <a:t>Nghiêm cấm cản trở giải cứu, hỗ trợ nạn nhân; cấm bao che tội phạm.</a:t>
              </a:r>
            </a:p>
            <a:p>
              <a:pPr algn="l" marL="181610" indent="-181610">
                <a:lnSpc>
                  <a:spcPct val="100000"/>
                </a:lnSpc>
                <a:spcAft>
                  <a:spcPts val="200"/>
                </a:spcAft>
                <a:buClr>
                  <a:srgbClr val="C83B45"/>
                </a:buClr>
                <a:buFont typeface="Arial"/>
                <a:buChar char="•"/>
              </a:pPr>
              <a:r>
                <a:rPr sz="1300" b="0" i="0">
                  <a:solidFill>
                    <a:srgbClr val="F4F0E8"/>
                  </a:solidFill>
                  <a:latin typeface="Arial"/>
                </a:rPr>
                <a:t>Hành vi mua bán người bị xử lý hình sự theo Điều 150, 151 Bộ luật Hình sự.</a:t>
              </a:r>
            </a:p>
          </p:txBody>
        </p:sp>
      </p:grpSp>
      <p:sp>
        <p:nvSpPr>
          <p:cNvPr id="22" name="TextBox 21"/>
          <p:cNvSpPr txBox="1"/>
          <p:nvPr/>
        </p:nvSpPr>
        <p:spPr>
          <a:xfrm>
            <a:off x="5303520" y="6309360"/>
            <a:ext cx="5486400" cy="411480"/>
          </a:xfrm>
          <a:prstGeom prst="rect">
            <a:avLst/>
          </a:prstGeom>
          <a:noFill/>
        </p:spPr>
        <p:txBody>
          <a:bodyPr wrap="square" anchor="t" lIns="0" rIns="0" tIns="0" bIns="0">
            <a:spAutoFit/>
          </a:bodyPr>
          <a:lstStyle/>
          <a:p>
            <a:pPr algn="l"/>
            <a:r>
              <a:rPr sz="1000" b="0" i="0">
                <a:solidFill>
                  <a:srgbClr val="8993A4"/>
                </a:solidFill>
                <a:latin typeface="Arial"/>
              </a:rPr>
              <a:t>Nguồn: Luật 53/2024/QH15 (VBHN 138/VBHN-VPQH, 2025); NĐ 162/2025/NĐ-CP; QĐ 33/QĐ-TTg (2026).</a:t>
            </a:r>
          </a:p>
        </p:txBody>
      </p:sp>
      <p:sp>
        <p:nvSpPr>
          <p:cNvPr id="23" name="Ghi công ảnh"/>
          <p:cNvSpPr txBox="1"/>
          <p:nvPr/>
        </p:nvSpPr>
        <p:spPr>
          <a:xfrm>
            <a:off x="274320" y="6419088"/>
            <a:ext cx="4206240" cy="274320"/>
          </a:xfrm>
          <a:prstGeom prst="rect">
            <a:avLst/>
          </a:prstGeom>
          <a:noFill/>
        </p:spPr>
        <p:txBody>
          <a:bodyPr wrap="square" anchor="t" lIns="0" rIns="0" tIns="0" bIns="0">
            <a:spAutoFit/>
          </a:bodyPr>
          <a:lstStyle/>
          <a:p>
            <a:pPr algn="l"/>
            <a:r>
              <a:rPr sz="1000" b="0" i="0">
                <a:solidFill>
                  <a:srgbClr val="F4F0E8"/>
                </a:solidFill>
                <a:latin typeface="Arial"/>
              </a:rPr>
              <a:t>Ảnh minh họa: Nam-ho Park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600"/>
                                        <p:tgtEl>
                                          <p:spTgt spid="12"/>
                                        </p:tgtEl>
                                      </p:cBhvr>
                                    </p:animEffect>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6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pic>
        <p:nvPicPr>
          <p:cNvPr id="2" name="Ảnh – Sunrise Photo walk at Celestial Gardens" descr="af8683a47a215a63.jpg"/>
          <p:cNvPicPr>
            <a:picLocks noChangeAspect="1"/>
          </p:cNvPicPr>
          <p:nvPr/>
        </p:nvPicPr>
        <p:blipFill>
          <a:blip r:embed="rId2"/>
          <a:stretch>
            <a:fillRect/>
          </a:stretch>
        </p:blipFill>
        <p:spPr>
          <a:xfrm>
            <a:off x="0" y="0"/>
            <a:ext cx="12191695" cy="6858000"/>
          </a:xfrm>
          <a:prstGeom prst="rect">
            <a:avLst/>
          </a:prstGeom>
        </p:spPr>
      </p:pic>
      <p:sp>
        <p:nvSpPr>
          <p:cNvPr id="3" name="!!kicker"/>
          <p:cNvSpPr txBox="1"/>
          <p:nvPr/>
        </p:nvSpPr>
        <p:spPr>
          <a:xfrm>
            <a:off x="548640" y="457200"/>
            <a:ext cx="5943600" cy="274320"/>
          </a:xfrm>
          <a:prstGeom prst="rect">
            <a:avLst/>
          </a:prstGeom>
          <a:noFill/>
        </p:spPr>
        <p:txBody>
          <a:bodyPr wrap="square" anchor="t" lIns="0" rIns="0" tIns="0" bIns="0">
            <a:spAutoFit/>
          </a:bodyPr>
          <a:lstStyle/>
          <a:p>
            <a:pPr algn="l"/>
            <a:r>
              <a:rPr sz="1100" b="1" i="0" spc="300">
                <a:solidFill>
                  <a:srgbClr val="C6A56B"/>
                </a:solidFill>
                <a:latin typeface="Arial"/>
              </a:rPr>
              <a:t>14</a:t>
            </a:r>
            <a:r>
              <a:rPr sz="1100" b="1" i="0" spc="300">
                <a:solidFill>
                  <a:srgbClr val="8993A4"/>
                </a:solidFill>
                <a:latin typeface="Arial"/>
              </a:rPr>
              <a:t>  —  THÔNG ĐIỆP</a:t>
            </a:r>
          </a:p>
        </p:txBody>
      </p:sp>
      <p:sp>
        <p:nvSpPr>
          <p:cNvPr id="4"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14 / 15</a:t>
            </a:r>
          </a:p>
        </p:txBody>
      </p:sp>
      <p:sp>
        <p:nvSpPr>
          <p:cNvPr id="5" name="!!title"/>
          <p:cNvSpPr txBox="1"/>
          <p:nvPr/>
        </p:nvSpPr>
        <p:spPr>
          <a:xfrm>
            <a:off x="548640" y="1051560"/>
            <a:ext cx="7772400" cy="2011680"/>
          </a:xfrm>
          <a:prstGeom prst="rect">
            <a:avLst/>
          </a:prstGeom>
          <a:noFill/>
        </p:spPr>
        <p:txBody>
          <a:bodyPr wrap="square" anchor="t" lIns="0" rIns="0" tIns="0" bIns="0">
            <a:spAutoFit/>
          </a:bodyPr>
          <a:lstStyle/>
          <a:p>
            <a:pPr algn="l">
              <a:lnSpc>
                <a:spcPct val="95000"/>
              </a:lnSpc>
            </a:pPr>
            <a:r>
              <a:rPr sz="6000" b="0" i="0">
                <a:solidFill>
                  <a:srgbClr val="F4F0E8"/>
                </a:solidFill>
                <a:latin typeface="Be Vietnam Pro ExtraBold"/>
              </a:rPr>
              <a:t>Không ai là</a:t>
            </a:r>
          </a:p>
          <a:p>
            <a:pPr algn="l">
              <a:lnSpc>
                <a:spcPct val="95000"/>
              </a:lnSpc>
            </a:pPr>
            <a:r>
              <a:rPr sz="6000" b="0" i="0">
                <a:solidFill>
                  <a:srgbClr val="C6A56B"/>
                </a:solidFill>
                <a:latin typeface="Be Vietnam Pro ExtraBold"/>
              </a:rPr>
              <a:t>món hàng.</a:t>
            </a:r>
          </a:p>
        </p:txBody>
      </p:sp>
      <p:sp>
        <p:nvSpPr>
          <p:cNvPr id="6" name="TextBox 5"/>
          <p:cNvSpPr txBox="1"/>
          <p:nvPr/>
        </p:nvSpPr>
        <p:spPr>
          <a:xfrm>
            <a:off x="548640" y="3108960"/>
            <a:ext cx="8686800" cy="457200"/>
          </a:xfrm>
          <a:prstGeom prst="rect">
            <a:avLst/>
          </a:prstGeom>
          <a:noFill/>
        </p:spPr>
        <p:txBody>
          <a:bodyPr wrap="square" anchor="t" lIns="0" rIns="0" tIns="0" bIns="0">
            <a:spAutoFit/>
          </a:bodyPr>
          <a:lstStyle/>
          <a:p>
            <a:pPr algn="l"/>
            <a:r>
              <a:rPr sz="1900" b="0" i="0">
                <a:solidFill>
                  <a:srgbClr val="F4F0E8"/>
                </a:solidFill>
                <a:latin typeface="Be Vietnam Pro"/>
              </a:rPr>
              <a:t>Tỉnh táo trước mỗi lời mời — và lên tiếng khi thấy điều bất thường.</a:t>
            </a:r>
          </a:p>
        </p:txBody>
      </p:sp>
      <p:grpSp>
        <p:nvGrpSpPr>
          <p:cNvPr id="7" name="Hành động 1"/>
          <p:cNvGrpSpPr/>
          <p:nvPr/>
        </p:nvGrpSpPr>
        <p:grpSpPr>
          <a:xfrm>
            <a:off x="548640" y="4206240"/>
            <a:ext cx="3474720" cy="1188720"/>
            <a:chOff x="548640" y="4206240"/>
            <a:chExt cx="3474720" cy="1188720"/>
          </a:xfrm>
        </p:grpSpPr>
        <p:sp>
          <p:nvSpPr>
            <p:cNvPr id="8" name="Rectangle 7"/>
            <p:cNvSpPr/>
            <p:nvPr/>
          </p:nvSpPr>
          <p:spPr>
            <a:xfrm>
              <a:off x="548640" y="4206240"/>
              <a:ext cx="3474720" cy="1188720"/>
            </a:xfrm>
            <a:prstGeom prst="rect">
              <a:avLst/>
            </a:prstGeom>
            <a:solidFill>
              <a:srgbClr val="0B1020">
                <a:alpha val="62000"/>
              </a:srgbClr>
            </a:solidFill>
            <a:ln>
              <a:noFill/>
            </a:ln>
          </p:spPr>
          <p:txBody>
            <a:bodyPr rtlCol="0" anchor="ctr"/>
            <a:lstStyle/>
            <a:p>
              <a:pPr algn="ctr"/>
            </a:p>
          </p:txBody>
        </p:sp>
        <p:sp>
          <p:nvSpPr>
            <p:cNvPr id="9" name="TextBox 8"/>
            <p:cNvSpPr txBox="1"/>
            <p:nvPr/>
          </p:nvSpPr>
          <p:spPr>
            <a:xfrm>
              <a:off x="777240" y="4315968"/>
              <a:ext cx="548640" cy="548640"/>
            </a:xfrm>
            <a:prstGeom prst="rect">
              <a:avLst/>
            </a:prstGeom>
            <a:noFill/>
          </p:spPr>
          <p:txBody>
            <a:bodyPr wrap="square" anchor="t" lIns="0" rIns="0" tIns="0" bIns="0">
              <a:spAutoFit/>
            </a:bodyPr>
            <a:lstStyle/>
            <a:p>
              <a:pPr algn="l"/>
              <a:r>
                <a:rPr sz="2800" b="0" i="0">
                  <a:solidFill>
                    <a:srgbClr val="C6A56B"/>
                  </a:solidFill>
                  <a:latin typeface="Be Vietnam Pro ExtraBold"/>
                </a:rPr>
                <a:t>1</a:t>
              </a:r>
            </a:p>
          </p:txBody>
        </p:sp>
        <p:sp>
          <p:nvSpPr>
            <p:cNvPr id="10" name="TextBox 9"/>
            <p:cNvSpPr txBox="1"/>
            <p:nvPr/>
          </p:nvSpPr>
          <p:spPr>
            <a:xfrm>
              <a:off x="1325880" y="4407408"/>
              <a:ext cx="2560320" cy="914400"/>
            </a:xfrm>
            <a:prstGeom prst="rect">
              <a:avLst/>
            </a:prstGeom>
            <a:noFill/>
          </p:spPr>
          <p:txBody>
            <a:bodyPr wrap="square" anchor="t" lIns="0" rIns="0" tIns="0" bIns="0">
              <a:spAutoFit/>
            </a:bodyPr>
            <a:lstStyle/>
            <a:p>
              <a:pPr algn="l">
                <a:lnSpc>
                  <a:spcPct val="108000"/>
                </a:lnSpc>
              </a:pPr>
              <a:r>
                <a:rPr sz="1600" b="0" i="0">
                  <a:solidFill>
                    <a:srgbClr val="F4F0E8"/>
                  </a:solidFill>
                  <a:latin typeface="Arial"/>
                </a:rPr>
                <a:t>Kiểm chứng mọi lời mời việc làm trước khi trả lời</a:t>
              </a:r>
            </a:p>
          </p:txBody>
        </p:sp>
      </p:grpSp>
      <p:grpSp>
        <p:nvGrpSpPr>
          <p:cNvPr id="11" name="Hành động 2"/>
          <p:cNvGrpSpPr/>
          <p:nvPr/>
        </p:nvGrpSpPr>
        <p:grpSpPr>
          <a:xfrm>
            <a:off x="4297679" y="4206240"/>
            <a:ext cx="3474720" cy="1188720"/>
            <a:chOff x="4297679" y="4206240"/>
            <a:chExt cx="3474720" cy="1188720"/>
          </a:xfrm>
        </p:grpSpPr>
        <p:sp>
          <p:nvSpPr>
            <p:cNvPr id="12" name="Rectangle 11"/>
            <p:cNvSpPr/>
            <p:nvPr/>
          </p:nvSpPr>
          <p:spPr>
            <a:xfrm>
              <a:off x="4297679" y="4206240"/>
              <a:ext cx="3474720" cy="1188720"/>
            </a:xfrm>
            <a:prstGeom prst="rect">
              <a:avLst/>
            </a:prstGeom>
            <a:solidFill>
              <a:srgbClr val="0B1020">
                <a:alpha val="62000"/>
              </a:srgbClr>
            </a:solidFill>
            <a:ln>
              <a:noFill/>
            </a:ln>
          </p:spPr>
          <p:txBody>
            <a:bodyPr rtlCol="0" anchor="ctr"/>
            <a:lstStyle/>
            <a:p>
              <a:pPr algn="ctr"/>
            </a:p>
          </p:txBody>
        </p:sp>
        <p:sp>
          <p:nvSpPr>
            <p:cNvPr id="13" name="TextBox 12"/>
            <p:cNvSpPr txBox="1"/>
            <p:nvPr/>
          </p:nvSpPr>
          <p:spPr>
            <a:xfrm>
              <a:off x="4526279" y="4315968"/>
              <a:ext cx="548640" cy="548640"/>
            </a:xfrm>
            <a:prstGeom prst="rect">
              <a:avLst/>
            </a:prstGeom>
            <a:noFill/>
          </p:spPr>
          <p:txBody>
            <a:bodyPr wrap="square" anchor="t" lIns="0" rIns="0" tIns="0" bIns="0">
              <a:spAutoFit/>
            </a:bodyPr>
            <a:lstStyle/>
            <a:p>
              <a:pPr algn="l"/>
              <a:r>
                <a:rPr sz="2800" b="0" i="0">
                  <a:solidFill>
                    <a:srgbClr val="C6A56B"/>
                  </a:solidFill>
                  <a:latin typeface="Be Vietnam Pro ExtraBold"/>
                </a:rPr>
                <a:t>2</a:t>
              </a:r>
            </a:p>
          </p:txBody>
        </p:sp>
        <p:sp>
          <p:nvSpPr>
            <p:cNvPr id="14" name="TextBox 13"/>
            <p:cNvSpPr txBox="1"/>
            <p:nvPr/>
          </p:nvSpPr>
          <p:spPr>
            <a:xfrm>
              <a:off x="5074919" y="4407408"/>
              <a:ext cx="2560320" cy="914400"/>
            </a:xfrm>
            <a:prstGeom prst="rect">
              <a:avLst/>
            </a:prstGeom>
            <a:noFill/>
          </p:spPr>
          <p:txBody>
            <a:bodyPr wrap="square" anchor="t" lIns="0" rIns="0" tIns="0" bIns="0">
              <a:spAutoFit/>
            </a:bodyPr>
            <a:lstStyle/>
            <a:p>
              <a:pPr algn="l">
                <a:lnSpc>
                  <a:spcPct val="108000"/>
                </a:lnSpc>
              </a:pPr>
              <a:r>
                <a:rPr sz="1600" b="0" i="0">
                  <a:solidFill>
                    <a:srgbClr val="F4F0E8"/>
                  </a:solidFill>
                  <a:latin typeface="Arial"/>
                </a:rPr>
                <a:t>Kể với người lớn tin cậy khi thấy điều bất thường</a:t>
              </a:r>
            </a:p>
          </p:txBody>
        </p:sp>
      </p:grpSp>
      <p:grpSp>
        <p:nvGrpSpPr>
          <p:cNvPr id="15" name="Hành động 3"/>
          <p:cNvGrpSpPr/>
          <p:nvPr/>
        </p:nvGrpSpPr>
        <p:grpSpPr>
          <a:xfrm>
            <a:off x="8046719" y="4206240"/>
            <a:ext cx="3474720" cy="1188720"/>
            <a:chOff x="8046719" y="4206240"/>
            <a:chExt cx="3474720" cy="1188720"/>
          </a:xfrm>
        </p:grpSpPr>
        <p:sp>
          <p:nvSpPr>
            <p:cNvPr id="16" name="Rectangle 15"/>
            <p:cNvSpPr/>
            <p:nvPr/>
          </p:nvSpPr>
          <p:spPr>
            <a:xfrm>
              <a:off x="8046719" y="4206240"/>
              <a:ext cx="3474720" cy="1188720"/>
            </a:xfrm>
            <a:prstGeom prst="rect">
              <a:avLst/>
            </a:prstGeom>
            <a:solidFill>
              <a:srgbClr val="0B1020">
                <a:alpha val="62000"/>
              </a:srgbClr>
            </a:solidFill>
            <a:ln>
              <a:noFill/>
            </a:ln>
          </p:spPr>
          <p:txBody>
            <a:bodyPr rtlCol="0" anchor="ctr"/>
            <a:lstStyle/>
            <a:p>
              <a:pPr algn="ctr"/>
            </a:p>
          </p:txBody>
        </p:sp>
        <p:sp>
          <p:nvSpPr>
            <p:cNvPr id="17" name="TextBox 16"/>
            <p:cNvSpPr txBox="1"/>
            <p:nvPr/>
          </p:nvSpPr>
          <p:spPr>
            <a:xfrm>
              <a:off x="8275319" y="4315968"/>
              <a:ext cx="548640" cy="548640"/>
            </a:xfrm>
            <a:prstGeom prst="rect">
              <a:avLst/>
            </a:prstGeom>
            <a:noFill/>
          </p:spPr>
          <p:txBody>
            <a:bodyPr wrap="square" anchor="t" lIns="0" rIns="0" tIns="0" bIns="0">
              <a:spAutoFit/>
            </a:bodyPr>
            <a:lstStyle/>
            <a:p>
              <a:pPr algn="l"/>
              <a:r>
                <a:rPr sz="2800" b="0" i="0">
                  <a:solidFill>
                    <a:srgbClr val="C6A56B"/>
                  </a:solidFill>
                  <a:latin typeface="Be Vietnam Pro ExtraBold"/>
                </a:rPr>
                <a:t>3</a:t>
              </a:r>
            </a:p>
          </p:txBody>
        </p:sp>
        <p:sp>
          <p:nvSpPr>
            <p:cNvPr id="18" name="TextBox 17"/>
            <p:cNvSpPr txBox="1"/>
            <p:nvPr/>
          </p:nvSpPr>
          <p:spPr>
            <a:xfrm>
              <a:off x="8823959" y="4407408"/>
              <a:ext cx="2560320" cy="914400"/>
            </a:xfrm>
            <a:prstGeom prst="rect">
              <a:avLst/>
            </a:prstGeom>
            <a:noFill/>
          </p:spPr>
          <p:txBody>
            <a:bodyPr wrap="square" anchor="t" lIns="0" rIns="0" tIns="0" bIns="0">
              <a:spAutoFit/>
            </a:bodyPr>
            <a:lstStyle/>
            <a:p>
              <a:pPr algn="l">
                <a:lnSpc>
                  <a:spcPct val="108000"/>
                </a:lnSpc>
              </a:pPr>
              <a:r>
                <a:rPr sz="1600" b="0" i="0">
                  <a:solidFill>
                    <a:srgbClr val="F4F0E8"/>
                  </a:solidFill>
                  <a:latin typeface="Arial"/>
                </a:rPr>
                <a:t>Lưu số 111 và chia sẻ bài học này với bạn bè</a:t>
              </a:r>
            </a:p>
          </p:txBody>
        </p:sp>
      </p:grpSp>
      <p:sp>
        <p:nvSpPr>
          <p:cNvPr id="19" name="TextBox 18"/>
          <p:cNvSpPr txBox="1"/>
          <p:nvPr/>
        </p:nvSpPr>
        <p:spPr>
          <a:xfrm>
            <a:off x="548640" y="5989320"/>
            <a:ext cx="6400800" cy="365760"/>
          </a:xfrm>
          <a:prstGeom prst="rect">
            <a:avLst/>
          </a:prstGeom>
          <a:noFill/>
        </p:spPr>
        <p:txBody>
          <a:bodyPr wrap="square" anchor="t" lIns="0" rIns="0" tIns="0" bIns="0">
            <a:spAutoFit/>
          </a:bodyPr>
          <a:lstStyle/>
          <a:p>
            <a:pPr algn="l"/>
            <a:r>
              <a:rPr sz="1400" b="0" i="0">
                <a:solidFill>
                  <a:srgbClr val="8993A4"/>
                </a:solidFill>
                <a:latin typeface="Arial"/>
              </a:rPr>
              <a:t>Cảm ơn thầy cô và các bạn đã lắng nghe.</a:t>
            </a:r>
          </a:p>
        </p:txBody>
      </p:sp>
      <p:sp>
        <p:nvSpPr>
          <p:cNvPr id="20" name="Ghi công ảnh"/>
          <p:cNvSpPr txBox="1"/>
          <p:nvPr/>
        </p:nvSpPr>
        <p:spPr>
          <a:xfrm>
            <a:off x="5486400" y="6419088"/>
            <a:ext cx="5120640" cy="274320"/>
          </a:xfrm>
          <a:prstGeom prst="rect">
            <a:avLst/>
          </a:prstGeom>
          <a:noFill/>
        </p:spPr>
        <p:txBody>
          <a:bodyPr wrap="square" anchor="t" lIns="0" rIns="0" tIns="0" bIns="0">
            <a:spAutoFit/>
          </a:bodyPr>
          <a:lstStyle/>
          <a:p>
            <a:pPr algn="r"/>
            <a:r>
              <a:rPr sz="1000" b="0" i="0">
                <a:solidFill>
                  <a:srgbClr val="8993A4"/>
                </a:solidFill>
                <a:latin typeface="Arial"/>
              </a:rPr>
              <a:t>Ảnh minh họa: dbgg1979 (Flickr) · CC BY 2.0</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800">
        <p:push dir="u"/>
      </p:transition>
    </mc:Choice>
    <mc:Fallback>
      <p:transition spd="med">
        <p:push dir="u"/>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0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6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19"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71D"/>
        </a:solidFill>
        <a:effectLst/>
      </p:bgPr>
    </p:bg>
    <p:spTree>
      <p:nvGrpSpPr>
        <p:cNvPr id="1" name=""/>
        <p:cNvGrpSpPr/>
        <p:nvPr/>
      </p:nvGrpSpPr>
      <p:grpSpPr/>
      <p:sp>
        <p:nvSpPr>
          <p:cNvPr id="2" name="!!kicker"/>
          <p:cNvSpPr txBox="1"/>
          <p:nvPr/>
        </p:nvSpPr>
        <p:spPr>
          <a:xfrm>
            <a:off x="548640" y="457200"/>
            <a:ext cx="5943600" cy="274320"/>
          </a:xfrm>
          <a:prstGeom prst="rect">
            <a:avLst/>
          </a:prstGeom>
          <a:noFill/>
        </p:spPr>
        <p:txBody>
          <a:bodyPr wrap="square" anchor="t" lIns="0" rIns="0" tIns="0" bIns="0">
            <a:spAutoFit/>
          </a:bodyPr>
          <a:lstStyle/>
          <a:p>
            <a:pPr algn="l"/>
            <a:r>
              <a:rPr sz="1100" b="1" i="0" spc="300">
                <a:solidFill>
                  <a:srgbClr val="C83B45"/>
                </a:solidFill>
                <a:latin typeface="Arial"/>
              </a:rPr>
              <a:t>15</a:t>
            </a:r>
            <a:r>
              <a:rPr sz="1100" b="1" i="0" spc="300">
                <a:solidFill>
                  <a:srgbClr val="8993A4"/>
                </a:solidFill>
                <a:latin typeface="Arial"/>
              </a:rPr>
              <a:t>  —  TÀI LIỆU THAM KHẢO</a:t>
            </a:r>
          </a:p>
        </p:txBody>
      </p:sp>
      <p:sp>
        <p:nvSpPr>
          <p:cNvPr id="3" name="!!pagenum"/>
          <p:cNvSpPr txBox="1"/>
          <p:nvPr/>
        </p:nvSpPr>
        <p:spPr>
          <a:xfrm>
            <a:off x="10774375" y="6419088"/>
            <a:ext cx="868680" cy="274320"/>
          </a:xfrm>
          <a:prstGeom prst="rect">
            <a:avLst/>
          </a:prstGeom>
          <a:noFill/>
        </p:spPr>
        <p:txBody>
          <a:bodyPr wrap="square" anchor="t" lIns="0" rIns="0" tIns="0" bIns="0">
            <a:spAutoFit/>
          </a:bodyPr>
          <a:lstStyle/>
          <a:p>
            <a:pPr algn="r"/>
            <a:r>
              <a:rPr sz="1000" b="0" i="0">
                <a:solidFill>
                  <a:srgbClr val="8993A4"/>
                </a:solidFill>
                <a:latin typeface="Arial"/>
              </a:rPr>
              <a:t>15 / 15</a:t>
            </a:r>
          </a:p>
        </p:txBody>
      </p:sp>
      <p:sp>
        <p:nvSpPr>
          <p:cNvPr id="4" name="!!title"/>
          <p:cNvSpPr txBox="1"/>
          <p:nvPr/>
        </p:nvSpPr>
        <p:spPr>
          <a:xfrm>
            <a:off x="548640" y="777240"/>
            <a:ext cx="7315200" cy="640080"/>
          </a:xfrm>
          <a:prstGeom prst="rect">
            <a:avLst/>
          </a:prstGeom>
          <a:noFill/>
        </p:spPr>
        <p:txBody>
          <a:bodyPr wrap="square" anchor="t" lIns="0" rIns="0" tIns="0" bIns="0">
            <a:spAutoFit/>
          </a:bodyPr>
          <a:lstStyle/>
          <a:p>
            <a:pPr algn="l">
              <a:lnSpc>
                <a:spcPct val="105000"/>
              </a:lnSpc>
            </a:pPr>
            <a:r>
              <a:rPr sz="3000" b="0" i="0">
                <a:solidFill>
                  <a:srgbClr val="F4F0E8"/>
                </a:solidFill>
                <a:latin typeface="Be Vietnam Pro ExtraBold"/>
              </a:rPr>
              <a:t>Tài liệu tham khảo</a:t>
            </a:r>
          </a:p>
        </p:txBody>
      </p:sp>
      <p:sp>
        <p:nvSpPr>
          <p:cNvPr id="5" name="TextBox 4"/>
          <p:cNvSpPr txBox="1"/>
          <p:nvPr/>
        </p:nvSpPr>
        <p:spPr>
          <a:xfrm>
            <a:off x="548640" y="1554480"/>
            <a:ext cx="5394960" cy="4206240"/>
          </a:xfrm>
          <a:prstGeom prst="rect">
            <a:avLst/>
          </a:prstGeom>
          <a:noFill/>
        </p:spPr>
        <p:txBody>
          <a:bodyPr wrap="square" anchor="t" lIns="0" rIns="0" tIns="0" bIns="0">
            <a:spAutoFit/>
          </a:bodyPr>
          <a:lstStyle/>
          <a:p>
            <a:pPr algn="l">
              <a:lnSpc>
                <a:spcPct val="105000"/>
              </a:lnSpc>
              <a:spcAft>
                <a:spcPts val="600"/>
              </a:spcAft>
            </a:pPr>
            <a:r>
              <a:rPr sz="1100" b="1" i="0" spc="150">
                <a:solidFill>
                  <a:srgbClr val="C6A56B"/>
                </a:solidFill>
                <a:latin typeface="Arial"/>
              </a:rPr>
              <a:t>PHÁP LUẬT, CHÍNH SÁCH &amp; TỔ CHỨC QUỐC TẾ</a:t>
            </a:r>
          </a:p>
          <a:p>
            <a:pPr algn="l">
              <a:lnSpc>
                <a:spcPct val="105000"/>
              </a:lnSpc>
              <a:spcAft>
                <a:spcPts val="500"/>
              </a:spcAft>
            </a:pPr>
            <a:r>
              <a:rPr sz="1000" b="1" i="0">
                <a:solidFill>
                  <a:srgbClr val="C83B45"/>
                </a:solidFill>
                <a:latin typeface="Arial"/>
              </a:rPr>
              <a:t>[1] </a:t>
            </a:r>
            <a:r>
              <a:rPr sz="1000" b="0" i="0">
                <a:solidFill>
                  <a:srgbClr val="D9D4CA"/>
                </a:solidFill>
                <a:latin typeface="Arial"/>
              </a:rPr>
              <a:t>Văn phòng Quốc hội (2025). Văn bản hợp nhất 138/VBHN-VPQH: Luật Phòng, chống mua bán người (Luật 53/2024/QH15). </a:t>
            </a:r>
            <a:r>
              <a:rPr sz="1000" b="0" i="0">
                <a:solidFill>
                  <a:srgbClr val="8993A4"/>
                </a:solidFill>
                <a:latin typeface="Arial"/>
              </a:rPr>
              <a:t>https://datafiles.chinhphu.vn/cpp/files/vbpq/2025/9/138-vbhn-vpqh.pdf</a:t>
            </a:r>
          </a:p>
          <a:p>
            <a:pPr algn="l">
              <a:lnSpc>
                <a:spcPct val="105000"/>
              </a:lnSpc>
              <a:spcAft>
                <a:spcPts val="500"/>
              </a:spcAft>
            </a:pPr>
            <a:r>
              <a:rPr sz="1000" b="1" i="0">
                <a:solidFill>
                  <a:srgbClr val="C83B45"/>
                </a:solidFill>
                <a:latin typeface="Arial"/>
              </a:rPr>
              <a:t>[2] </a:t>
            </a:r>
            <a:r>
              <a:rPr sz="1000" b="0" i="0">
                <a:solidFill>
                  <a:srgbClr val="D9D4CA"/>
                </a:solidFill>
                <a:latin typeface="Arial"/>
              </a:rPr>
              <a:t>Chính phủ (2025). Nghị định 162/2025/NĐ-CP quy định chi tiết Luật Phòng, chống mua bán người. </a:t>
            </a:r>
            <a:r>
              <a:rPr sz="1000" b="0" i="0">
                <a:solidFill>
                  <a:srgbClr val="8993A4"/>
                </a:solidFill>
                <a:latin typeface="Arial"/>
              </a:rPr>
              <a:t>https://vbpl.vn/TW/Lists/vbpq/Attachments/179697/162_2025_ND-CP_663357.doc</a:t>
            </a:r>
          </a:p>
          <a:p>
            <a:pPr algn="l">
              <a:lnSpc>
                <a:spcPct val="105000"/>
              </a:lnSpc>
              <a:spcAft>
                <a:spcPts val="500"/>
              </a:spcAft>
            </a:pPr>
            <a:r>
              <a:rPr sz="1000" b="1" i="0">
                <a:solidFill>
                  <a:srgbClr val="C83B45"/>
                </a:solidFill>
                <a:latin typeface="Arial"/>
              </a:rPr>
              <a:t>[3] </a:t>
            </a:r>
            <a:r>
              <a:rPr sz="1000" b="0" i="0">
                <a:solidFill>
                  <a:srgbClr val="D9D4CA"/>
                </a:solidFill>
                <a:latin typeface="Arial"/>
              </a:rPr>
              <a:t>Báo Văn hóa (2026). 9 mục tiêu, 8 nhiệm vụ phòng, chống mua bán người (QĐ 33/QĐ-TTg). </a:t>
            </a:r>
            <a:r>
              <a:rPr sz="1000" b="0" i="0">
                <a:solidFill>
                  <a:srgbClr val="8993A4"/>
                </a:solidFill>
                <a:latin typeface="Arial"/>
              </a:rPr>
              <a:t>https://baovanhoa.vn/doi-song/9-muc-tieu-8-nhiem-vu-phong-chong-mua-ban-nguoi-195997.html</a:t>
            </a:r>
          </a:p>
          <a:p>
            <a:pPr algn="l">
              <a:lnSpc>
                <a:spcPct val="105000"/>
              </a:lnSpc>
              <a:spcAft>
                <a:spcPts val="500"/>
              </a:spcAft>
            </a:pPr>
            <a:r>
              <a:rPr sz="1000" b="1" i="0">
                <a:solidFill>
                  <a:srgbClr val="C83B45"/>
                </a:solidFill>
                <a:latin typeface="Arial"/>
              </a:rPr>
              <a:t>[4] </a:t>
            </a:r>
            <a:r>
              <a:rPr sz="1000" b="0" i="0">
                <a:solidFill>
                  <a:srgbClr val="D9D4CA"/>
                </a:solidFill>
                <a:latin typeface="Arial"/>
              </a:rPr>
              <a:t>UNODC. Human trafficking: act, means, purpose (Nghị định thư Palermo, Điều 3). </a:t>
            </a:r>
            <a:r>
              <a:rPr sz="1000" b="0" i="0">
                <a:solidFill>
                  <a:srgbClr val="8993A4"/>
                </a:solidFill>
                <a:latin typeface="Arial"/>
              </a:rPr>
              <a:t>https://unodc.org/conig/en/stories/human-trafficking.html</a:t>
            </a:r>
          </a:p>
          <a:p>
            <a:pPr algn="l">
              <a:lnSpc>
                <a:spcPct val="105000"/>
              </a:lnSpc>
              <a:spcAft>
                <a:spcPts val="500"/>
              </a:spcAft>
            </a:pPr>
            <a:r>
              <a:rPr sz="1000" b="1" i="0">
                <a:solidFill>
                  <a:srgbClr val="C83B45"/>
                </a:solidFill>
                <a:latin typeface="Arial"/>
              </a:rPr>
              <a:t>[5] </a:t>
            </a:r>
            <a:r>
              <a:rPr sz="1000" b="0" i="0">
                <a:solidFill>
                  <a:srgbClr val="D9D4CA"/>
                </a:solidFill>
                <a:latin typeface="Arial"/>
              </a:rPr>
              <a:t>Vietnamnet. 30/7 là Ngày toàn dân phòng, chống mua bán người (QĐ 793/QĐ-TTg). </a:t>
            </a:r>
            <a:r>
              <a:rPr sz="1000" b="0" i="0">
                <a:solidFill>
                  <a:srgbClr val="8993A4"/>
                </a:solidFill>
                <a:latin typeface="Arial"/>
              </a:rPr>
              <a:t>https://vietnamnet.vn/307-la-ngay-toan-dan-phong-chong-mua-ban-nguoi-315614.html</a:t>
            </a:r>
          </a:p>
          <a:p>
            <a:pPr algn="l">
              <a:lnSpc>
                <a:spcPct val="105000"/>
              </a:lnSpc>
              <a:spcAft>
                <a:spcPts val="500"/>
              </a:spcAft>
            </a:pPr>
            <a:r>
              <a:rPr sz="1000" b="1" i="0">
                <a:solidFill>
                  <a:srgbClr val="C83B45"/>
                </a:solidFill>
                <a:latin typeface="Arial"/>
              </a:rPr>
              <a:t>[6] </a:t>
            </a:r>
            <a:r>
              <a:rPr sz="1000" b="0" i="0">
                <a:solidFill>
                  <a:srgbClr val="D9D4CA"/>
                </a:solidFill>
                <a:latin typeface="Arial"/>
              </a:rPr>
              <a:t>VnEconomy (2025). A national telephone hotline for human trafficking prevention launched. </a:t>
            </a:r>
            <a:r>
              <a:rPr sz="1000" b="0" i="0">
                <a:solidFill>
                  <a:srgbClr val="8993A4"/>
                </a:solidFill>
                <a:latin typeface="Arial"/>
              </a:rPr>
              <a:t>https://en.vneconomy.vn/a-national-telephone-hotline-for-human-trafficking-prevention-launched.htm</a:t>
            </a:r>
          </a:p>
        </p:txBody>
      </p:sp>
      <p:sp>
        <p:nvSpPr>
          <p:cNvPr id="6" name="TextBox 5"/>
          <p:cNvSpPr txBox="1"/>
          <p:nvPr/>
        </p:nvSpPr>
        <p:spPr>
          <a:xfrm>
            <a:off x="6263640" y="1554480"/>
            <a:ext cx="5394960" cy="4206240"/>
          </a:xfrm>
          <a:prstGeom prst="rect">
            <a:avLst/>
          </a:prstGeom>
          <a:noFill/>
        </p:spPr>
        <p:txBody>
          <a:bodyPr wrap="square" anchor="t" lIns="0" rIns="0" tIns="0" bIns="0">
            <a:spAutoFit/>
          </a:bodyPr>
          <a:lstStyle/>
          <a:p>
            <a:pPr algn="l">
              <a:lnSpc>
                <a:spcPct val="105000"/>
              </a:lnSpc>
              <a:spcAft>
                <a:spcPts val="600"/>
              </a:spcAft>
            </a:pPr>
            <a:r>
              <a:rPr sz="1100" b="1" i="0" spc="150">
                <a:solidFill>
                  <a:srgbClr val="C6A56B"/>
                </a:solidFill>
                <a:latin typeface="Arial"/>
              </a:rPr>
              <a:t>SỐ LIỆU &amp; BÁO CHÍ</a:t>
            </a:r>
          </a:p>
          <a:p>
            <a:pPr algn="l">
              <a:lnSpc>
                <a:spcPct val="105000"/>
              </a:lnSpc>
              <a:spcAft>
                <a:spcPts val="500"/>
              </a:spcAft>
            </a:pPr>
            <a:r>
              <a:rPr sz="1000" b="1" i="0">
                <a:solidFill>
                  <a:srgbClr val="C83B45"/>
                </a:solidFill>
                <a:latin typeface="Arial"/>
              </a:rPr>
              <a:t>[7] </a:t>
            </a:r>
            <a:r>
              <a:rPr sz="1000" b="0" i="0">
                <a:solidFill>
                  <a:srgbClr val="D9D4CA"/>
                </a:solidFill>
                <a:latin typeface="Arial"/>
              </a:rPr>
              <a:t>Vietnamnet (2025). Phòng ngừa nạn mua bán người ngay từ tuyến đầu (số liệu 2024 của Bộ Công an). </a:t>
            </a:r>
            <a:r>
              <a:rPr sz="1000" b="0" i="0">
                <a:solidFill>
                  <a:srgbClr val="8993A4"/>
                </a:solidFill>
                <a:latin typeface="Arial"/>
              </a:rPr>
              <a:t>https://vietnamnet.vn/phong-ngua-nan-mua-ban-nguoi-ngay-tu-tuyen-dau-2479028.html</a:t>
            </a:r>
          </a:p>
          <a:p>
            <a:pPr algn="l">
              <a:lnSpc>
                <a:spcPct val="105000"/>
              </a:lnSpc>
              <a:spcAft>
                <a:spcPts val="500"/>
              </a:spcAft>
            </a:pPr>
            <a:r>
              <a:rPr sz="1000" b="1" i="0">
                <a:solidFill>
                  <a:srgbClr val="C83B45"/>
                </a:solidFill>
                <a:latin typeface="Arial"/>
              </a:rPr>
              <a:t>[8] </a:t>
            </a:r>
            <a:r>
              <a:rPr sz="1000" b="0" i="0">
                <a:solidFill>
                  <a:srgbClr val="D9D4CA"/>
                </a:solidFill>
                <a:latin typeface="Arial"/>
              </a:rPr>
              <a:t>An ninh Thủ đô (2025). Bộ Công an điều tra, xử lý 163 vụ mua bán người. </a:t>
            </a:r>
            <a:r>
              <a:rPr sz="1000" b="0" i="0">
                <a:solidFill>
                  <a:srgbClr val="8993A4"/>
                </a:solidFill>
                <a:latin typeface="Arial"/>
              </a:rPr>
              <a:t>https://anninhthudo.vn/bo-cong-an-dieu-tra-xu-ly-163-vu-mua-ban-nguoi-post603866.antd</a:t>
            </a:r>
          </a:p>
          <a:p>
            <a:pPr algn="l">
              <a:lnSpc>
                <a:spcPct val="105000"/>
              </a:lnSpc>
              <a:spcAft>
                <a:spcPts val="500"/>
              </a:spcAft>
            </a:pPr>
            <a:r>
              <a:rPr sz="1000" b="1" i="0">
                <a:solidFill>
                  <a:srgbClr val="C83B45"/>
                </a:solidFill>
                <a:latin typeface="Arial"/>
              </a:rPr>
              <a:t>[9] </a:t>
            </a:r>
            <a:r>
              <a:rPr sz="1000" b="0" i="0">
                <a:solidFill>
                  <a:srgbClr val="D9D4CA"/>
                </a:solidFill>
                <a:latin typeface="Arial"/>
              </a:rPr>
              <a:t>Báo Lào Cai (2025). Việt Nam siết chặt trận tuyến phòng chống tội phạm mua bán người. </a:t>
            </a:r>
            <a:r>
              <a:rPr sz="1000" b="0" i="0">
                <a:solidFill>
                  <a:srgbClr val="8993A4"/>
                </a:solidFill>
                <a:latin typeface="Arial"/>
              </a:rPr>
              <a:t>https://baolaocai.vn/viet-nam-siet-chat-tran-tuyen-phong-chong-toi-pham-mua-ban-nguoi-post649993.html</a:t>
            </a:r>
          </a:p>
          <a:p>
            <a:pPr algn="l">
              <a:lnSpc>
                <a:spcPct val="105000"/>
              </a:lnSpc>
              <a:spcAft>
                <a:spcPts val="500"/>
              </a:spcAft>
            </a:pPr>
            <a:r>
              <a:rPr sz="1000" b="1" i="0">
                <a:solidFill>
                  <a:srgbClr val="C83B45"/>
                </a:solidFill>
                <a:latin typeface="Arial"/>
              </a:rPr>
              <a:t>[10] </a:t>
            </a:r>
            <a:r>
              <a:rPr sz="1000" b="0" i="0">
                <a:solidFill>
                  <a:srgbClr val="D9D4CA"/>
                </a:solidFill>
                <a:latin typeface="Arial"/>
              </a:rPr>
              <a:t>PLO (2024). Quý III-2024, có hơn 100 nam giới là nạn nhân của tội phạm mua bán người. </a:t>
            </a:r>
            <a:r>
              <a:rPr sz="1000" b="0" i="0">
                <a:solidFill>
                  <a:srgbClr val="8993A4"/>
                </a:solidFill>
                <a:latin typeface="Arial"/>
              </a:rPr>
              <a:t>https://plo.vn/quy-iii-2024-co-hon-100-nam-gioi-la-nan-nhan-cua-toi-pham-mua-ban-nguoi-post816519.html</a:t>
            </a:r>
          </a:p>
          <a:p>
            <a:pPr algn="l">
              <a:lnSpc>
                <a:spcPct val="105000"/>
              </a:lnSpc>
              <a:spcAft>
                <a:spcPts val="500"/>
              </a:spcAft>
            </a:pPr>
            <a:r>
              <a:rPr sz="1000" b="1" i="0">
                <a:solidFill>
                  <a:srgbClr val="C83B45"/>
                </a:solidFill>
                <a:latin typeface="Arial"/>
              </a:rPr>
              <a:t>[11] </a:t>
            </a:r>
            <a:r>
              <a:rPr sz="1000" b="0" i="0">
                <a:solidFill>
                  <a:srgbClr val="D9D4CA"/>
                </a:solidFill>
                <a:latin typeface="Arial"/>
              </a:rPr>
              <a:t>Bộ Công an (2025). Phát hiện, điều tra 50 vụ mua bán người trong đợt cao điểm. </a:t>
            </a:r>
            <a:r>
              <a:rPr sz="1000" b="0" i="0">
                <a:solidFill>
                  <a:srgbClr val="8993A4"/>
                </a:solidFill>
                <a:latin typeface="Arial"/>
              </a:rPr>
              <a:t>https://www.mps.gov.vn/bai-viet/luc-luong-cong-an-phat-hien-dieu-tra-50-vu-mua-ban-nguoi-trong-dot-cao-diem-tan-cong-tran-ap-toi-pham-mua-ban-nguoi-tren-pham-vi-toan-quoc-1762498361</a:t>
            </a:r>
          </a:p>
          <a:p>
            <a:pPr algn="l">
              <a:lnSpc>
                <a:spcPct val="105000"/>
              </a:lnSpc>
              <a:spcAft>
                <a:spcPts val="500"/>
              </a:spcAft>
            </a:pPr>
            <a:r>
              <a:rPr sz="1000" b="1" i="0">
                <a:solidFill>
                  <a:srgbClr val="C83B45"/>
                </a:solidFill>
                <a:latin typeface="Arial"/>
              </a:rPr>
              <a:t>[12] </a:t>
            </a:r>
            <a:r>
              <a:rPr sz="1000" b="0" i="0">
                <a:solidFill>
                  <a:srgbClr val="D9D4CA"/>
                </a:solidFill>
                <a:latin typeface="Arial"/>
              </a:rPr>
              <a:t>Tuổi Trẻ (2025). Công an TP.HCM triệt phá đường dây bán người cho “trung tâm lừa đảo trực tuyến” ở Campuchia. </a:t>
            </a:r>
            <a:r>
              <a:rPr sz="1000" b="0" i="0">
                <a:solidFill>
                  <a:srgbClr val="8993A4"/>
                </a:solidFill>
                <a:latin typeface="Arial"/>
              </a:rPr>
              <a:t>https://tuoitre.vn/cong-an-tp-hcm-triet-pha-duong-day-ban-nguoi-cho-trung-tam-lua-dao-truc-tuyen-o-campuchia-20250107115109926.htm</a:t>
            </a:r>
          </a:p>
          <a:p>
            <a:pPr algn="l">
              <a:lnSpc>
                <a:spcPct val="105000"/>
              </a:lnSpc>
              <a:spcAft>
                <a:spcPts val="500"/>
              </a:spcAft>
            </a:pPr>
            <a:r>
              <a:rPr sz="1000" b="1" i="0">
                <a:solidFill>
                  <a:srgbClr val="C83B45"/>
                </a:solidFill>
                <a:latin typeface="Arial"/>
              </a:rPr>
              <a:t>[13] </a:t>
            </a:r>
            <a:r>
              <a:rPr sz="1000" b="0" i="0">
                <a:solidFill>
                  <a:srgbClr val="D9D4CA"/>
                </a:solidFill>
                <a:latin typeface="Arial"/>
              </a:rPr>
              <a:t>SGGP. Nhiều người bị lừa “việc nhẹ, lương cao”, Bộ Công an phát cảnh báo. </a:t>
            </a:r>
            <a:r>
              <a:rPr sz="1000" b="0" i="0">
                <a:solidFill>
                  <a:srgbClr val="8993A4"/>
                </a:solidFill>
                <a:latin typeface="Arial"/>
              </a:rPr>
              <a:t>https://www.sggp.org.vn/nhieu-nguoi-bi-lua-viec-nhe-luong-cao-bo-cong-an-phat-canh-bao-post642677.html</a:t>
            </a:r>
          </a:p>
        </p:txBody>
      </p:sp>
      <p:sp>
        <p:nvSpPr>
          <p:cNvPr id="7" name="TextBox 6"/>
          <p:cNvSpPr txBox="1"/>
          <p:nvPr/>
        </p:nvSpPr>
        <p:spPr>
          <a:xfrm>
            <a:off x="548640" y="4892040"/>
            <a:ext cx="5394960" cy="1371600"/>
          </a:xfrm>
          <a:prstGeom prst="rect">
            <a:avLst/>
          </a:prstGeom>
          <a:noFill/>
        </p:spPr>
        <p:txBody>
          <a:bodyPr wrap="square" anchor="t" lIns="0" rIns="0" tIns="0" bIns="0">
            <a:spAutoFit/>
          </a:bodyPr>
          <a:lstStyle/>
          <a:p>
            <a:pPr algn="l">
              <a:lnSpc>
                <a:spcPct val="105000"/>
              </a:lnSpc>
            </a:pPr>
            <a:r>
              <a:rPr sz="1000" b="1" i="0">
                <a:solidFill>
                  <a:srgbClr val="C6A56B"/>
                </a:solidFill>
                <a:latin typeface="Arial"/>
              </a:rPr>
              <a:t>ẢNH: </a:t>
            </a:r>
            <a:r>
              <a:rPr sz="1000" b="0" i="0">
                <a:solidFill>
                  <a:srgbClr val="D9D4CA"/>
                </a:solidFill>
                <a:latin typeface="Arial"/>
              </a:rPr>
              <a:t>Open Images Dataset V4 (Google), ảnh gốc trên Flickr, giấy phép CC BY 2.0 — Andrea Schaffer, Brandon Giesbrecht, Colin Mutchler, Daniel Ramirez, David McKelvey, Ethan McCandless, Hong Phuc FOSSASIA, Joey deVilla, Jorge Láscar, Leo Chuối, Linus Andersson, Nam-ho Park, Ryo FUKAsawa, Smitha Murthy, Tristan Schmurr, dbgg1979. Chi tiết từng ảnh: Nguon_anh.txt. Font: Be Vietnam Pro (SIL OFL).</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4">
      <p:transition spd="slow"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60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Nạn buôn người ở Hà Nội — Thực trạng, nguyên nhân, hậu quả và giải pháp</dc:title>
  <dc:subject>Bài thuyết trình cho học sinh THPT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